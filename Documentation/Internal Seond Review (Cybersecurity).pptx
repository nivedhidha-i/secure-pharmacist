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5" r:id="rId4"/>
  </p:sldMasterIdLst>
  <p:notesMasterIdLst>
    <p:notesMasterId r:id="rId15"/>
  </p:notesMasterIdLst>
  <p:handoutMasterIdLst>
    <p:handoutMasterId r:id="rId16"/>
  </p:handoutMasterIdLst>
  <p:sldIdLst>
    <p:sldId id="906" r:id="rId5"/>
    <p:sldId id="920" r:id="rId6"/>
    <p:sldId id="926" r:id="rId7"/>
    <p:sldId id="933" r:id="rId8"/>
    <p:sldId id="929" r:id="rId9"/>
    <p:sldId id="947" r:id="rId10"/>
    <p:sldId id="935" r:id="rId11"/>
    <p:sldId id="939" r:id="rId12"/>
    <p:sldId id="912" r:id="rId13"/>
    <p:sldId id="948"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38">
          <p15:clr>
            <a:srgbClr val="A4A3A4"/>
          </p15:clr>
        </p15:guide>
        <p15:guide id="2" orient="horz" pos="3120">
          <p15:clr>
            <a:srgbClr val="A4A3A4"/>
          </p15:clr>
        </p15:guide>
        <p15:guide id="3" orient="horz" pos="1026">
          <p15:clr>
            <a:srgbClr val="A4A3A4"/>
          </p15:clr>
        </p15:guide>
        <p15:guide id="4" orient="horz" pos="3256">
          <p15:clr>
            <a:srgbClr val="A4A3A4"/>
          </p15:clr>
        </p15:guide>
        <p15:guide id="5" orient="horz" pos="2122">
          <p15:clr>
            <a:srgbClr val="A4A3A4"/>
          </p15:clr>
        </p15:guide>
        <p15:guide id="6" pos="3839">
          <p15:clr>
            <a:srgbClr val="A4A3A4"/>
          </p15:clr>
        </p15:guide>
        <p15:guide id="7" pos="609">
          <p15:clr>
            <a:srgbClr val="A4A3A4"/>
          </p15:clr>
        </p15:guide>
        <p15:guide id="8" pos="7080">
          <p15:clr>
            <a:srgbClr val="A4A3A4"/>
          </p15:clr>
        </p15:guide>
        <p15:guide id="9" pos="7425">
          <p15:clr>
            <a:srgbClr val="A4A3A4"/>
          </p15:clr>
        </p15:guide>
        <p15:guide id="10" pos="374">
          <p15:clr>
            <a:srgbClr val="A4A3A4"/>
          </p15:clr>
        </p15:guide>
        <p15:guide id="11" pos="1990">
          <p15:clr>
            <a:srgbClr val="A4A3A4"/>
          </p15:clr>
        </p15:guide>
        <p15:guide id="12" pos="5710">
          <p15:clr>
            <a:srgbClr val="A4A3A4"/>
          </p15:clr>
        </p15:guide>
        <p15:guide id="13" pos="4384">
          <p15:clr>
            <a:srgbClr val="A4A3A4"/>
          </p15:clr>
        </p15:guide>
      </p15:sldGuideLst>
    </p:ext>
    <p:ext uri="{2D200454-40CA-4A62-9FC3-DE9A4176ACB9}">
      <p15:notesGuideLst xmlns:p15="http://schemas.microsoft.com/office/powerpoint/2012/main">
        <p15:guide id="1" orient="horz" pos="2829">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33"/>
    <a:srgbClr val="FDBF91"/>
    <a:srgbClr val="000066"/>
    <a:srgbClr val="E6F698"/>
    <a:srgbClr val="9A92FC"/>
    <a:srgbClr val="FAD194"/>
    <a:srgbClr val="000099"/>
    <a:srgbClr val="F5FFCF"/>
    <a:srgbClr val="0000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97" autoAdjust="0"/>
    <p:restoredTop sz="96975" autoAdjust="0"/>
  </p:normalViewPr>
  <p:slideViewPr>
    <p:cSldViewPr>
      <p:cViewPr varScale="1">
        <p:scale>
          <a:sx n="81" d="100"/>
          <a:sy n="81" d="100"/>
        </p:scale>
        <p:origin x="686" y="62"/>
      </p:cViewPr>
      <p:guideLst>
        <p:guide orient="horz" pos="2338"/>
        <p:guide orient="horz" pos="3120"/>
        <p:guide orient="horz" pos="1026"/>
        <p:guide orient="horz" pos="3256"/>
        <p:guide orient="horz" pos="2122"/>
        <p:guide pos="3839"/>
        <p:guide pos="609"/>
        <p:guide pos="7080"/>
        <p:guide pos="7425"/>
        <p:guide pos="374"/>
        <p:guide pos="1990"/>
        <p:guide pos="5710"/>
        <p:guide pos="4384"/>
      </p:guideLst>
    </p:cSldViewPr>
  </p:slideViewPr>
  <p:outlineViewPr>
    <p:cViewPr>
      <p:scale>
        <a:sx n="33" d="100"/>
        <a:sy n="33" d="100"/>
      </p:scale>
      <p:origin x="0" y="3324"/>
    </p:cViewPr>
  </p:outlineViewPr>
  <p:notesTextViewPr>
    <p:cViewPr>
      <p:scale>
        <a:sx n="150" d="100"/>
        <a:sy n="150" d="100"/>
      </p:scale>
      <p:origin x="0" y="0"/>
    </p:cViewPr>
  </p:notesTextViewPr>
  <p:notesViewPr>
    <p:cSldViewPr>
      <p:cViewPr varScale="1">
        <p:scale>
          <a:sx n="86" d="100"/>
          <a:sy n="86" d="100"/>
        </p:scale>
        <p:origin x="2928" y="78"/>
      </p:cViewPr>
      <p:guideLst>
        <p:guide orient="horz" pos="2829"/>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A33B4B9-AFB0-43EB-82AF-ED70AC262E4F}" type="datetimeFigureOut">
              <a:rPr lang="en-US" smtClean="0"/>
              <a:t>2/27/2022</a:t>
            </a:fld>
            <a:endParaRPr lang="en-US"/>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6472C8F-9949-4688-BFEB-F813D79CFC0A}"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31E77A-DD07-4A76-801D-B4BF4990C412}" type="datetimeFigureOut">
              <a:rPr lang="en-US" smtClean="0"/>
              <a:t>2/27/2022</a:t>
            </a:fld>
            <a:endParaRPr lang="en-US"/>
          </a:p>
        </p:txBody>
      </p:sp>
      <p:sp>
        <p:nvSpPr>
          <p:cNvPr id="4" name="Espace réservé de l'image des diapositives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A3AB2B-189A-4C92-A457-C6A3833631A7}" type="slidenum">
              <a:rPr lang="en-US" smtClean="0"/>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ww.showeet.com/" TargetMode="External"/><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www.showeet.com/" TargetMode="External"/><Relationship Id="rId1" Type="http://schemas.openxmlformats.org/officeDocument/2006/relationships/slideMaster" Target="../slideMasters/slideMaster4.xml"/><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a:fillRect/>
          </a:stretch>
        </p:blipFill>
        <p:spPr>
          <a:xfrm>
            <a:off x="11096512" y="5774480"/>
            <a:ext cx="1095488" cy="108352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grpSp>
        <p:nvGrpSpPr>
          <p:cNvPr id="5" name="Group 4"/>
          <p:cNvGrpSpPr/>
          <p:nvPr userDrawn="1"/>
        </p:nvGrpSpPr>
        <p:grpSpPr>
          <a:xfrm>
            <a:off x="328169" y="6237312"/>
            <a:ext cx="439241" cy="439240"/>
            <a:chOff x="186858" y="6096003"/>
            <a:chExt cx="580550" cy="580549"/>
          </a:xfrm>
          <a:solidFill>
            <a:schemeClr val="bg1">
              <a:lumMod val="95000"/>
            </a:schemeClr>
          </a:solidFill>
        </p:grpSpPr>
        <p:sp>
          <p:nvSpPr>
            <p:cNvPr id="14" name="Rectangle 13"/>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GeosansLight" panose="02000603020000020003"/>
              </a:endParaRPr>
            </a:p>
          </p:txBody>
        </p:sp>
        <p:sp>
          <p:nvSpPr>
            <p:cNvPr id="15" name="Rectangle 14"/>
            <p:cNvSpPr/>
            <p:nvPr userDrawn="1"/>
          </p:nvSpPr>
          <p:spPr>
            <a:xfrm>
              <a:off x="186858" y="6612049"/>
              <a:ext cx="580549" cy="645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0"/>
            </a:p>
          </p:txBody>
        </p:sp>
      </p:grpSp>
      <p:sp>
        <p:nvSpPr>
          <p:cNvPr id="3" name="Sous-titre 2"/>
          <p:cNvSpPr>
            <a:spLocks noGrp="1"/>
          </p:cNvSpPr>
          <p:nvPr>
            <p:ph type="subTitle" idx="1" hasCustomPrompt="1"/>
          </p:nvPr>
        </p:nvSpPr>
        <p:spPr>
          <a:xfrm>
            <a:off x="3887756" y="620688"/>
            <a:ext cx="7694645" cy="288032"/>
          </a:xfrm>
        </p:spPr>
        <p:txBody>
          <a:bodyPr anchor="ctr">
            <a:noAutofit/>
          </a:bodyPr>
          <a:lstStyle>
            <a:lvl1pPr marL="0" indent="0" algn="r">
              <a:buNone/>
              <a:defRPr sz="1600" cap="small" baseline="0">
                <a:solidFill>
                  <a:srgbClr val="2F3A4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sp>
        <p:nvSpPr>
          <p:cNvPr id="7" name="Espace réservé du titre 1"/>
          <p:cNvSpPr>
            <a:spLocks noGrp="1"/>
          </p:cNvSpPr>
          <p:nvPr>
            <p:ph type="title"/>
          </p:nvPr>
        </p:nvSpPr>
        <p:spPr>
          <a:xfrm>
            <a:off x="3887756" y="3078"/>
            <a:ext cx="7694645" cy="617612"/>
          </a:xfrm>
          <a:prstGeom prst="rect">
            <a:avLst/>
          </a:prstGeom>
        </p:spPr>
        <p:txBody>
          <a:bodyPr vert="horz" lIns="91440" tIns="45720" rIns="91440" bIns="45720" rtlCol="0" anchor="ctr">
            <a:normAutofit/>
          </a:bodyPr>
          <a:lstStyle>
            <a:lvl1pPr>
              <a:defRPr>
                <a:solidFill>
                  <a:srgbClr val="2F3A46"/>
                </a:solidFill>
              </a:defRPr>
            </a:lvl1pPr>
          </a:lstStyle>
          <a:p>
            <a:r>
              <a:rPr lang="fr-FR" dirty="0"/>
              <a:t>Modifiez le style du titre</a:t>
            </a:r>
            <a:endParaRPr lang="en-US" dirty="0"/>
          </a:p>
        </p:txBody>
      </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a:fillRect/>
          </a:stretch>
        </p:blipFill>
        <p:spPr>
          <a:xfrm>
            <a:off x="11096512" y="5774480"/>
            <a:ext cx="1095488" cy="1083520"/>
          </a:xfrm>
          <a:prstGeom prst="rect">
            <a:avLst/>
          </a:prstGeom>
        </p:spPr>
      </p:pic>
      <p:pic>
        <p:nvPicPr>
          <p:cNvPr id="13" name="Picture 12"/>
          <p:cNvPicPr>
            <a:picLocks noChangeAspect="1"/>
          </p:cNvPicPr>
          <p:nvPr userDrawn="1"/>
        </p:nvPicPr>
        <p:blipFill>
          <a:blip r:embed="rId3"/>
          <a:stretch>
            <a:fillRect/>
          </a:stretch>
        </p:blipFill>
        <p:spPr>
          <a:xfrm>
            <a:off x="156796" y="100099"/>
            <a:ext cx="1627773" cy="451143"/>
          </a:xfrm>
          <a:prstGeom prst="rect">
            <a:avLst/>
          </a:prstGeom>
        </p:spPr>
      </p:pic>
      <p:sp>
        <p:nvSpPr>
          <p:cNvPr id="16"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grpSp>
        <p:nvGrpSpPr>
          <p:cNvPr id="5" name="Group 4"/>
          <p:cNvGrpSpPr/>
          <p:nvPr userDrawn="1"/>
        </p:nvGrpSpPr>
        <p:grpSpPr>
          <a:xfrm>
            <a:off x="328169" y="6237312"/>
            <a:ext cx="439241" cy="439240"/>
            <a:chOff x="186858" y="6096003"/>
            <a:chExt cx="580550" cy="580549"/>
          </a:xfrm>
          <a:solidFill>
            <a:schemeClr val="bg1">
              <a:lumMod val="95000"/>
            </a:schemeClr>
          </a:solidFill>
        </p:grpSpPr>
        <p:sp>
          <p:nvSpPr>
            <p:cNvPr id="14" name="Rectangle 13"/>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GeosansLight" panose="02000603020000020003"/>
              </a:endParaRPr>
            </a:p>
          </p:txBody>
        </p:sp>
        <p:sp>
          <p:nvSpPr>
            <p:cNvPr id="15" name="Rectangle 14"/>
            <p:cNvSpPr/>
            <p:nvPr userDrawn="1"/>
          </p:nvSpPr>
          <p:spPr>
            <a:xfrm>
              <a:off x="186858" y="6612049"/>
              <a:ext cx="580549" cy="645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0"/>
            </a:p>
          </p:txBody>
        </p:sp>
      </p:grpSp>
      <p:pic>
        <p:nvPicPr>
          <p:cNvPr id="9" name="Picture 8"/>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a:fillRect/>
          </a:stretch>
        </p:blipFill>
        <p:spPr>
          <a:xfrm>
            <a:off x="11096512" y="5774480"/>
            <a:ext cx="1095488" cy="1083520"/>
          </a:xfrm>
          <a:prstGeom prst="rect">
            <a:avLst/>
          </a:prstGeom>
        </p:spPr>
      </p:pic>
      <p:sp>
        <p:nvSpPr>
          <p:cNvPr id="16"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t>‹#›</a:t>
            </a:fld>
            <a:endParaRPr lang="en-US" dirty="0"/>
          </a:p>
        </p:txBody>
      </p:sp>
      <p:sp>
        <p:nvSpPr>
          <p:cNvPr id="10" name="Sous-titre 2"/>
          <p:cNvSpPr>
            <a:spLocks noGrp="1"/>
          </p:cNvSpPr>
          <p:nvPr>
            <p:ph type="subTitle" idx="1" hasCustomPrompt="1"/>
          </p:nvPr>
        </p:nvSpPr>
        <p:spPr>
          <a:xfrm>
            <a:off x="623888" y="620688"/>
            <a:ext cx="7694645" cy="288032"/>
          </a:xfrm>
        </p:spPr>
        <p:txBody>
          <a:bodyPr anchor="ctr">
            <a:noAutofit/>
          </a:bodyPr>
          <a:lstStyle>
            <a:lvl1pPr marL="0" indent="0" algn="l">
              <a:buNone/>
              <a:defRPr sz="1600" cap="small" baseline="0">
                <a:solidFill>
                  <a:srgbClr val="2F3A4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en-US" dirty="0"/>
          </a:p>
        </p:txBody>
      </p:sp>
      <p:sp>
        <p:nvSpPr>
          <p:cNvPr id="11" name="Espace réservé du titre 1"/>
          <p:cNvSpPr>
            <a:spLocks noGrp="1"/>
          </p:cNvSpPr>
          <p:nvPr>
            <p:ph type="title"/>
          </p:nvPr>
        </p:nvSpPr>
        <p:spPr>
          <a:xfrm>
            <a:off x="623888" y="3078"/>
            <a:ext cx="7694645" cy="617612"/>
          </a:xfrm>
          <a:prstGeom prst="rect">
            <a:avLst/>
          </a:prstGeom>
        </p:spPr>
        <p:txBody>
          <a:bodyPr vert="horz" lIns="91440" tIns="45720" rIns="91440" bIns="45720" rtlCol="0" anchor="ctr">
            <a:normAutofit/>
          </a:bodyPr>
          <a:lstStyle>
            <a:lvl1pPr algn="l">
              <a:defRPr>
                <a:solidFill>
                  <a:srgbClr val="2F3A46"/>
                </a:solidFill>
              </a:defRPr>
            </a:lvl1pPr>
          </a:lstStyle>
          <a:p>
            <a:r>
              <a:rPr lang="fr-FR" dirty="0"/>
              <a:t>Modifiez le style du titre</a:t>
            </a:r>
            <a:endParaRPr lang="en-US" dirty="0"/>
          </a:p>
        </p:txBody>
      </p:sp>
      <p:pic>
        <p:nvPicPr>
          <p:cNvPr id="12" name="Picture 11"/>
          <p:cNvPicPr>
            <a:picLocks noChangeAspect="1"/>
          </p:cNvPicPr>
          <p:nvPr userDrawn="1"/>
        </p:nvPicPr>
        <p:blipFill>
          <a:blip r:embed="rId3"/>
          <a:stretch>
            <a:fillRect/>
          </a:stretch>
        </p:blipFill>
        <p:spPr>
          <a:xfrm>
            <a:off x="10344472" y="100099"/>
            <a:ext cx="1627773" cy="45114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Slide">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sp>
        <p:nvSpPr>
          <p:cNvPr id="14" name="Freeform 13"/>
          <p:cNvSpPr/>
          <p:nvPr userDrawn="1"/>
        </p:nvSpPr>
        <p:spPr>
          <a:xfrm>
            <a:off x="5087888" y="1426467"/>
            <a:ext cx="2379576" cy="3789040"/>
          </a:xfrm>
          <a:custGeom>
            <a:avLst/>
            <a:gdLst>
              <a:gd name="connsiteX0" fmla="*/ 0 w 2379576"/>
              <a:gd name="connsiteY0" fmla="*/ 0 h 3789040"/>
              <a:gd name="connsiteX1" fmla="*/ 2214084 w 2379576"/>
              <a:gd name="connsiteY1" fmla="*/ 0 h 3789040"/>
              <a:gd name="connsiteX2" fmla="*/ 2379576 w 2379576"/>
              <a:gd name="connsiteY2" fmla="*/ 165492 h 3789040"/>
              <a:gd name="connsiteX3" fmla="*/ 2379576 w 2379576"/>
              <a:gd name="connsiteY3" fmla="*/ 3709249 h 3789040"/>
              <a:gd name="connsiteX4" fmla="*/ 2366571 w 2379576"/>
              <a:gd name="connsiteY4" fmla="*/ 3773666 h 3789040"/>
              <a:gd name="connsiteX5" fmla="*/ 2356205 w 2379576"/>
              <a:gd name="connsiteY5" fmla="*/ 3789040 h 3789040"/>
              <a:gd name="connsiteX6" fmla="*/ 1654973 w 2379576"/>
              <a:gd name="connsiteY6" fmla="*/ 3789040 h 378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9576" h="3789040">
                <a:moveTo>
                  <a:pt x="0" y="0"/>
                </a:moveTo>
                <a:lnTo>
                  <a:pt x="2214084" y="0"/>
                </a:lnTo>
                <a:cubicBezTo>
                  <a:pt x="2305483" y="0"/>
                  <a:pt x="2379576" y="74093"/>
                  <a:pt x="2379576" y="165492"/>
                </a:cubicBezTo>
                <a:lnTo>
                  <a:pt x="2379576" y="3709249"/>
                </a:lnTo>
                <a:cubicBezTo>
                  <a:pt x="2379576" y="3732099"/>
                  <a:pt x="2374945" y="3753867"/>
                  <a:pt x="2366571" y="3773666"/>
                </a:cubicBezTo>
                <a:lnTo>
                  <a:pt x="2356205" y="3789040"/>
                </a:lnTo>
                <a:lnTo>
                  <a:pt x="1654973" y="3789040"/>
                </a:lnTo>
                <a:close/>
              </a:path>
            </a:pathLst>
          </a:custGeom>
          <a:gradFill flip="none" rotWithShape="1">
            <a:gsLst>
              <a:gs pos="0">
                <a:schemeClr val="bg1">
                  <a:alpha val="0"/>
                </a:schemeClr>
              </a:gs>
              <a:gs pos="100000">
                <a:schemeClr val="bg1">
                  <a:alpha val="34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sz="135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hyperlink" Target="http://pinterest.com/showeet" TargetMode="External"/><Relationship Id="rId13" Type="http://schemas.openxmlformats.org/officeDocument/2006/relationships/image" Target="../media/image6.png"/><Relationship Id="rId3" Type="http://schemas.openxmlformats.org/officeDocument/2006/relationships/hyperlink" Target="https://www.facebook.com/pages/Neetwork/240707325947259" TargetMode="External"/><Relationship Id="rId7" Type="http://schemas.openxmlformats.org/officeDocument/2006/relationships/image" Target="../media/image3.png"/><Relationship Id="rId12" Type="http://schemas.openxmlformats.org/officeDocument/2006/relationships/hyperlink" Target="http://linhpham.me/"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hyperlink" Target="http://feeds.feedburner.com/showeet" TargetMode="External"/><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hyperlink" Target="https://twitter.com/showeet" TargetMode="External"/><Relationship Id="rId4" Type="http://schemas.openxmlformats.org/officeDocument/2006/relationships/image" Target="../media/image1.png"/><Relationship Id="rId9" Type="http://schemas.openxmlformats.org/officeDocument/2006/relationships/image" Target="../media/image4.png"/><Relationship Id="rId14" Type="http://schemas.openxmlformats.org/officeDocument/2006/relationships/image" Target="../media/image7.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0"/>
            <a:ext cx="5087888" cy="6858000"/>
          </a:xfrm>
          <a:prstGeom prst="rect">
            <a:avLst/>
          </a:prstGeom>
          <a:solidFill>
            <a:srgbClr val="1E2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5" name="Rectangle 4"/>
          <p:cNvSpPr/>
          <p:nvPr userDrawn="1"/>
        </p:nvSpPr>
        <p:spPr>
          <a:xfrm>
            <a:off x="5868144" y="821050"/>
            <a:ext cx="5772472" cy="3170099"/>
          </a:xfrm>
          <a:prstGeom prst="rect">
            <a:avLst/>
          </a:prstGeom>
        </p:spPr>
        <p:txBody>
          <a:bodyPr wrap="square">
            <a:spAutoFit/>
          </a:bodyPr>
          <a:lstStyle/>
          <a:p>
            <a:pPr lvl="0"/>
            <a:r>
              <a:rPr lang="en-US" sz="4000" dirty="0">
                <a:solidFill>
                  <a:srgbClr val="909DB3"/>
                </a:solidFill>
                <a:latin typeface="Calibri Light" panose="020F0302020204030204" pitchFamily="34" charset="0"/>
              </a:rPr>
              <a:t>Free creative </a:t>
            </a:r>
            <a:r>
              <a:rPr lang="en-US" sz="4000">
                <a:solidFill>
                  <a:srgbClr val="909DB3"/>
                </a:solidFill>
                <a:latin typeface="Calibri Light" panose="020F0302020204030204" pitchFamily="34" charset="0"/>
              </a:rPr>
              <a:t>PowerPoint templates</a:t>
            </a:r>
            <a:r>
              <a:rPr lang="en-US" sz="4000" dirty="0">
                <a:solidFill>
                  <a:srgbClr val="909DB3"/>
                </a:solidFill>
                <a:latin typeface="Calibri Light" panose="020F0302020204030204" pitchFamily="34" charset="0"/>
              </a:rPr>
              <a:t>, charts, diagrams and maps for your outstanding presentations</a:t>
            </a:r>
          </a:p>
        </p:txBody>
      </p:sp>
      <p:grpSp>
        <p:nvGrpSpPr>
          <p:cNvPr id="6" name="Group 5"/>
          <p:cNvGrpSpPr/>
          <p:nvPr userDrawn="1"/>
        </p:nvGrpSpPr>
        <p:grpSpPr>
          <a:xfrm>
            <a:off x="326747" y="2952729"/>
            <a:ext cx="475488" cy="3067687"/>
            <a:chOff x="4820005" y="2954735"/>
            <a:chExt cx="475488" cy="3067687"/>
          </a:xfrm>
        </p:grpSpPr>
        <p:pic>
          <p:nvPicPr>
            <p:cNvPr id="7" name="Picture 6">
              <a:hlinkClick r:id="rId3"/>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20005" y="3602785"/>
              <a:ext cx="470610" cy="470610"/>
            </a:xfrm>
            <a:prstGeom prst="rect">
              <a:avLst/>
            </a:prstGeom>
          </p:spPr>
        </p:pic>
        <p:pic>
          <p:nvPicPr>
            <p:cNvPr id="8" name="Picture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20005" y="2954735"/>
              <a:ext cx="470610" cy="470610"/>
            </a:xfrm>
            <a:prstGeom prst="rect">
              <a:avLst/>
            </a:prstGeom>
          </p:spPr>
        </p:pic>
        <p:pic>
          <p:nvPicPr>
            <p:cNvPr id="9" name="Picture 8">
              <a:hlinkClick r:id="rId6"/>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20005" y="5551812"/>
              <a:ext cx="470610" cy="470610"/>
            </a:xfrm>
            <a:prstGeom prst="rect">
              <a:avLst/>
            </a:prstGeom>
          </p:spPr>
        </p:pic>
        <p:pic>
          <p:nvPicPr>
            <p:cNvPr id="10" name="Picture 9">
              <a:hlinkClick r:id="rId8"/>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20005" y="4903763"/>
              <a:ext cx="470610" cy="470610"/>
            </a:xfrm>
            <a:prstGeom prst="rect">
              <a:avLst/>
            </a:prstGeom>
          </p:spPr>
        </p:pic>
        <p:pic>
          <p:nvPicPr>
            <p:cNvPr id="11" name="Picture 10">
              <a:hlinkClick r:id="rId10"/>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4820005" y="4250835"/>
              <a:ext cx="475488" cy="475488"/>
            </a:xfrm>
            <a:prstGeom prst="rect">
              <a:avLst/>
            </a:prstGeom>
          </p:spPr>
        </p:pic>
      </p:grpSp>
      <p:pic>
        <p:nvPicPr>
          <p:cNvPr id="12" name="Picture 11">
            <a:hlinkClick r:id="rId12"/>
          </p:cNvPr>
          <p:cNvPicPr>
            <a:picLocks noChangeAspect="1"/>
          </p:cNvPicPr>
          <p:nvPr userDrawn="1"/>
        </p:nvPicPr>
        <p:blipFill>
          <a:blip r:embed="rId13"/>
          <a:stretch>
            <a:fillRect/>
          </a:stretch>
        </p:blipFill>
        <p:spPr>
          <a:xfrm>
            <a:off x="0" y="6898040"/>
            <a:ext cx="2493480" cy="262151"/>
          </a:xfrm>
          <a:prstGeom prst="rect">
            <a:avLst/>
          </a:prstGeom>
        </p:spPr>
      </p:pic>
      <p:sp>
        <p:nvSpPr>
          <p:cNvPr id="13" name="TextBox 12"/>
          <p:cNvSpPr txBox="1"/>
          <p:nvPr userDrawn="1"/>
        </p:nvSpPr>
        <p:spPr>
          <a:xfrm>
            <a:off x="907582" y="3034146"/>
            <a:ext cx="1720407" cy="307777"/>
          </a:xfrm>
          <a:prstGeom prst="rect">
            <a:avLst/>
          </a:prstGeom>
          <a:noFill/>
        </p:spPr>
        <p:txBody>
          <a:bodyPr wrap="none" rtlCol="0" anchor="ctr">
            <a:spAutoFit/>
          </a:bodyPr>
          <a:lstStyle/>
          <a:p>
            <a:r>
              <a:rPr lang="en-US" sz="1400" dirty="0">
                <a:solidFill>
                  <a:schemeClr val="bg1">
                    <a:lumMod val="85000"/>
                  </a:schemeClr>
                </a:solidFill>
              </a:rPr>
              <a:t>showeet@ymail.com</a:t>
            </a:r>
          </a:p>
        </p:txBody>
      </p:sp>
      <p:pic>
        <p:nvPicPr>
          <p:cNvPr id="16" name="Picture 15"/>
          <p:cNvPicPr>
            <a:picLocks noChangeAspect="1"/>
          </p:cNvPicPr>
          <p:nvPr userDrawn="1"/>
        </p:nvPicPr>
        <p:blipFill>
          <a:blip r:embed="rId14"/>
          <a:stretch>
            <a:fillRect/>
          </a:stretch>
        </p:blipFill>
        <p:spPr>
          <a:xfrm>
            <a:off x="118884" y="102906"/>
            <a:ext cx="2914141" cy="80474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887756" y="3078"/>
            <a:ext cx="7694645" cy="617612"/>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cSld>
  <p:clrMap bg1="lt1" tx1="dk1" bg2="lt2" tx2="dk2" accent1="accent1" accent2="accent2" accent3="accent3" accent4="accent4" accent5="accent5" accent6="accent6" hlink="hlink" folHlink="folHlink"/>
  <p:sldLayoutIdLst>
    <p:sldLayoutId id="2147483651" r:id="rId1"/>
  </p:sldLayoutIdLst>
  <p:hf hdr="0"/>
  <p:txStyles>
    <p:titleStyle>
      <a:lvl1pPr algn="r" defTabSz="914400" rtl="0" eaLnBrk="1" latinLnBrk="0" hangingPunct="1">
        <a:spcBef>
          <a:spcPct val="0"/>
        </a:spcBef>
        <a:buNone/>
        <a:defRPr sz="3200" b="1" kern="1200" cap="small" normalizeH="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887756" y="3078"/>
            <a:ext cx="7694645" cy="617612"/>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Lst>
  <p:hf hdr="0"/>
  <p:txStyles>
    <p:titleStyle>
      <a:lvl1pPr algn="r" defTabSz="914400" rtl="0" eaLnBrk="1" latinLnBrk="0" hangingPunct="1">
        <a:spcBef>
          <a:spcPct val="0"/>
        </a:spcBef>
        <a:buNone/>
        <a:defRPr sz="3200" b="1" kern="1200" cap="small" normalizeH="0" baseline="0">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A90C67-EEC8-40CC-A54E-6D1B54451552}" type="datetime3">
              <a:rPr lang="en-US" smtClean="0"/>
              <a:t>27 February 2022</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INT 300 Internship II : First Review</a:t>
            </a: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327C5-B821-4FE9-A59A-A60D9EB59A9A}"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Lst>
  <p:hf hdr="0"/>
  <p:txStyles>
    <p:titleStyle>
      <a:lvl1pPr algn="l" defTabSz="914400" rtl="0" eaLnBrk="1" latinLnBrk="0" hangingPunct="1">
        <a:lnSpc>
          <a:spcPct val="90000"/>
        </a:lnSpc>
        <a:spcBef>
          <a:spcPct val="0"/>
        </a:spcBef>
        <a:buNone/>
        <a:defRPr sz="4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s://scikit-learn.org/stable/modules/ensemble.html#voting-classifier" TargetMode="External"/><Relationship Id="rId2" Type="http://schemas.openxmlformats.org/officeDocument/2006/relationships/hyperlink" Target="https://scikit-learn.org/stable/auto_examples/model_selection/plot_roc.html" TargetMode="External"/><Relationship Id="rId1" Type="http://schemas.openxmlformats.org/officeDocument/2006/relationships/slideLayout" Target="../slideLayouts/slideLayout4.xml"/><Relationship Id="rId6" Type="http://schemas.openxmlformats.org/officeDocument/2006/relationships/hyperlink" Target="https://archive.ics.uci.edu/ml/datasets/Drug+Review+Dataset+%28Drugs.com%29" TargetMode="External"/><Relationship Id="rId5" Type="http://schemas.openxmlformats.org/officeDocument/2006/relationships/hyperlink" Target="https://www.fda.gov/drugs/drug-approvals-and-databases/drugsfda-data-files" TargetMode="External"/><Relationship Id="rId4" Type="http://schemas.openxmlformats.org/officeDocument/2006/relationships/hyperlink" Target="https://www.mongodb.com/databases/blockchain-databas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9734" y="2781443"/>
            <a:ext cx="11665295" cy="829945"/>
          </a:xfrm>
          <a:prstGeom prst="rect">
            <a:avLst/>
          </a:prstGeom>
          <a:noFill/>
        </p:spPr>
        <p:txBody>
          <a:bodyPr wrap="square" rtlCol="0">
            <a:spAutoFit/>
          </a:bodyPr>
          <a:lstStyle/>
          <a:p>
            <a:pPr algn="ctr"/>
            <a:r>
              <a:rPr lang="en-US" sz="2400" b="1" dirty="0">
                <a:solidFill>
                  <a:srgbClr val="000066"/>
                </a:solidFill>
                <a:latin typeface="Arial" panose="020B0604020202020204" pitchFamily="34" charset="0"/>
                <a:cs typeface="Arial" panose="020B0604020202020204" pitchFamily="34" charset="0"/>
              </a:rPr>
              <a:t>D</a:t>
            </a:r>
            <a:r>
              <a:rPr lang="en-IN" altLang="en-US" sz="2400" b="1" dirty="0">
                <a:solidFill>
                  <a:srgbClr val="000066"/>
                </a:solidFill>
                <a:latin typeface="Arial" panose="020B0604020202020204" pitchFamily="34" charset="0"/>
                <a:cs typeface="Arial" panose="020B0604020202020204" pitchFamily="34" charset="0"/>
              </a:rPr>
              <a:t>RUG</a:t>
            </a:r>
            <a:r>
              <a:rPr lang="en-US" sz="2400" b="1" dirty="0">
                <a:solidFill>
                  <a:srgbClr val="000066"/>
                </a:solidFill>
                <a:latin typeface="Arial" panose="020B0604020202020204" pitchFamily="34" charset="0"/>
                <a:cs typeface="Arial" panose="020B0604020202020204" pitchFamily="34" charset="0"/>
              </a:rPr>
              <a:t> R</a:t>
            </a:r>
            <a:r>
              <a:rPr lang="en-IN" altLang="en-US" sz="2400" b="1" dirty="0">
                <a:solidFill>
                  <a:srgbClr val="000066"/>
                </a:solidFill>
                <a:latin typeface="Arial" panose="020B0604020202020204" pitchFamily="34" charset="0"/>
                <a:cs typeface="Arial" panose="020B0604020202020204" pitchFamily="34" charset="0"/>
              </a:rPr>
              <a:t>ECOMMENDATION, AUTHENTIC USAGE AND TRACKING WITH BLOCK CHAIN VALIDATION</a:t>
            </a:r>
            <a:endParaRPr lang="en-US" sz="2400" b="1" dirty="0">
              <a:solidFill>
                <a:srgbClr val="000066"/>
              </a:solidFill>
              <a:latin typeface="Arial" panose="020B0604020202020204" pitchFamily="34" charset="0"/>
              <a:cs typeface="Arial" panose="020B0604020202020204" pitchFamily="34" charset="0"/>
            </a:endParaRPr>
          </a:p>
        </p:txBody>
      </p:sp>
      <p:graphicFrame>
        <p:nvGraphicFramePr>
          <p:cNvPr id="5" name="Table 4"/>
          <p:cNvGraphicFramePr>
            <a:graphicFrameLocks noGrp="1"/>
          </p:cNvGraphicFramePr>
          <p:nvPr/>
        </p:nvGraphicFramePr>
        <p:xfrm>
          <a:off x="631900" y="4148887"/>
          <a:ext cx="10962290" cy="1464818"/>
        </p:xfrm>
        <a:graphic>
          <a:graphicData uri="http://schemas.openxmlformats.org/drawingml/2006/table">
            <a:tbl>
              <a:tblPr firstRow="1" bandRow="1">
                <a:tableStyleId>{5C22544A-7EE6-4342-B048-85BDC9FD1C3A}</a:tableStyleId>
              </a:tblPr>
              <a:tblGrid>
                <a:gridCol w="5481145">
                  <a:extLst>
                    <a:ext uri="{9D8B030D-6E8A-4147-A177-3AD203B41FA5}">
                      <a16:colId xmlns:a16="http://schemas.microsoft.com/office/drawing/2014/main" val="20000"/>
                    </a:ext>
                  </a:extLst>
                </a:gridCol>
                <a:gridCol w="5481145">
                  <a:extLst>
                    <a:ext uri="{9D8B030D-6E8A-4147-A177-3AD203B41FA5}">
                      <a16:colId xmlns:a16="http://schemas.microsoft.com/office/drawing/2014/main" val="20001"/>
                    </a:ext>
                  </a:extLst>
                </a:gridCol>
              </a:tblGrid>
              <a:tr h="457200">
                <a:tc>
                  <a:txBody>
                    <a:bodyPr/>
                    <a:lstStyle/>
                    <a:p>
                      <a:pPr algn="ctr"/>
                      <a:r>
                        <a:rPr lang="en-US" sz="2400" dirty="0">
                          <a:solidFill>
                            <a:srgbClr val="000066"/>
                          </a:solidFill>
                          <a:latin typeface="Arial" panose="020B0604020202020204" pitchFamily="34" charset="0"/>
                          <a:cs typeface="Arial" panose="020B0604020202020204" pitchFamily="34" charset="0"/>
                        </a:rPr>
                        <a:t>Project Mentor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400" dirty="0">
                          <a:solidFill>
                            <a:srgbClr val="000066"/>
                          </a:solidFill>
                          <a:latin typeface="Arial" panose="020B0604020202020204" pitchFamily="34" charset="0"/>
                          <a:cs typeface="Arial" panose="020B0604020202020204" pitchFamily="34" charset="0"/>
                        </a:rPr>
                        <a:t>Student Team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70840">
                <a:tc>
                  <a:txBody>
                    <a:bodyPr/>
                    <a:lstStyle/>
                    <a:p>
                      <a:pPr marL="0" indent="0">
                        <a:lnSpc>
                          <a:spcPct val="180000"/>
                        </a:lnSpc>
                        <a:buNone/>
                      </a:pPr>
                      <a:r>
                        <a:rPr lang="en-US" b="1" dirty="0">
                          <a:solidFill>
                            <a:schemeClr val="tx2"/>
                          </a:solidFill>
                          <a:latin typeface="Arial" panose="020B0604020202020204" pitchFamily="34" charset="0"/>
                          <a:cs typeface="Arial" panose="020B0604020202020204" pitchFamily="34" charset="0"/>
                        </a:rPr>
                        <a:t>G. </a:t>
                      </a:r>
                      <a:r>
                        <a:rPr lang="en-US" b="1" dirty="0" err="1">
                          <a:solidFill>
                            <a:schemeClr val="tx2"/>
                          </a:solidFill>
                          <a:latin typeface="Arial" panose="020B0604020202020204" pitchFamily="34" charset="0"/>
                          <a:cs typeface="Arial" panose="020B0604020202020204" pitchFamily="34" charset="0"/>
                        </a:rPr>
                        <a:t>Jayanthi</a:t>
                      </a:r>
                      <a:r>
                        <a:rPr lang="en-US" b="1" dirty="0">
                          <a:solidFill>
                            <a:schemeClr val="tx2"/>
                          </a:solidFill>
                          <a:latin typeface="Arial" panose="020B0604020202020204" pitchFamily="34" charset="0"/>
                          <a:cs typeface="Arial" panose="020B0604020202020204" pitchFamily="34" charset="0"/>
                        </a:rPr>
                        <a:t> Ph. D.,</a:t>
                      </a:r>
                    </a:p>
                    <a:p>
                      <a:pPr marL="0" indent="0" algn="l">
                        <a:lnSpc>
                          <a:spcPct val="180000"/>
                        </a:lnSpc>
                        <a:buNone/>
                      </a:pPr>
                      <a:r>
                        <a:rPr lang="en-US" dirty="0">
                          <a:solidFill>
                            <a:srgbClr val="000066"/>
                          </a:solidFill>
                          <a:latin typeface="Arial" panose="020B0604020202020204" pitchFamily="34" charset="0"/>
                          <a:cs typeface="Arial" panose="020B0604020202020204" pitchFamily="34" charset="0"/>
                        </a:rPr>
                        <a:t>jayanthig@sret.edu.in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342900">
                        <a:lnSpc>
                          <a:spcPct val="180000"/>
                        </a:lnSpc>
                        <a:buAutoNum type="arabicPeriod"/>
                      </a:pPr>
                      <a:r>
                        <a:rPr lang="en-US" dirty="0">
                          <a:solidFill>
                            <a:srgbClr val="000066"/>
                          </a:solidFill>
                          <a:latin typeface="Arial" panose="020B0604020202020204" pitchFamily="34" charset="0"/>
                          <a:cs typeface="Arial" panose="020B0604020202020204" pitchFamily="34" charset="0"/>
                        </a:rPr>
                        <a:t>E0</a:t>
                      </a:r>
                      <a:r>
                        <a:rPr lang="en-IN" altLang="en-US" dirty="0">
                          <a:solidFill>
                            <a:srgbClr val="000066"/>
                          </a:solidFill>
                          <a:latin typeface="Arial" panose="020B0604020202020204" pitchFamily="34" charset="0"/>
                          <a:cs typeface="Arial" panose="020B0604020202020204" pitchFamily="34" charset="0"/>
                        </a:rPr>
                        <a:t>2</a:t>
                      </a:r>
                      <a:r>
                        <a:rPr lang="en-US" dirty="0">
                          <a:solidFill>
                            <a:srgbClr val="000066"/>
                          </a:solidFill>
                          <a:latin typeface="Arial" panose="020B0604020202020204" pitchFamily="34" charset="0"/>
                          <a:cs typeface="Arial" panose="020B0604020202020204" pitchFamily="34" charset="0"/>
                        </a:rPr>
                        <a:t>200</a:t>
                      </a:r>
                      <a:r>
                        <a:rPr lang="en-IN" altLang="en-US" dirty="0">
                          <a:solidFill>
                            <a:srgbClr val="000066"/>
                          </a:solidFill>
                          <a:latin typeface="Arial" panose="020B0604020202020204" pitchFamily="34" charset="0"/>
                          <a:cs typeface="Arial" panose="020B0604020202020204" pitchFamily="34" charset="0"/>
                        </a:rPr>
                        <a:t>03</a:t>
                      </a:r>
                      <a:r>
                        <a:rPr lang="en-US" dirty="0">
                          <a:solidFill>
                            <a:srgbClr val="000066"/>
                          </a:solidFill>
                          <a:latin typeface="Arial" panose="020B0604020202020204" pitchFamily="34" charset="0"/>
                          <a:cs typeface="Arial" panose="020B0604020202020204" pitchFamily="34" charset="0"/>
                        </a:rPr>
                        <a:t> </a:t>
                      </a:r>
                      <a:r>
                        <a:rPr lang="en-IN" altLang="en-US" dirty="0">
                          <a:solidFill>
                            <a:srgbClr val="000066"/>
                          </a:solidFill>
                          <a:latin typeface="Arial" panose="020B0604020202020204" pitchFamily="34" charset="0"/>
                          <a:cs typeface="Arial" panose="020B0604020202020204" pitchFamily="34" charset="0"/>
                        </a:rPr>
                        <a:t>       </a:t>
                      </a:r>
                      <a:r>
                        <a:rPr lang="en-IN" altLang="en-US" dirty="0" err="1">
                          <a:solidFill>
                            <a:srgbClr val="000066"/>
                          </a:solidFill>
                          <a:latin typeface="Arial" panose="020B0604020202020204" pitchFamily="34" charset="0"/>
                          <a:cs typeface="Arial" panose="020B0604020202020204" pitchFamily="34" charset="0"/>
                        </a:rPr>
                        <a:t>Nivedhidha I</a:t>
                      </a:r>
                      <a:endParaRPr lang="en-US" dirty="0">
                        <a:solidFill>
                          <a:srgbClr val="000066"/>
                        </a:solidFill>
                        <a:latin typeface="Arial" panose="020B0604020202020204" pitchFamily="34" charset="0"/>
                        <a:cs typeface="Arial" panose="020B0604020202020204" pitchFamily="34" charset="0"/>
                      </a:endParaRPr>
                    </a:p>
                    <a:p>
                      <a:pPr marL="342900" indent="-342900">
                        <a:lnSpc>
                          <a:spcPct val="180000"/>
                        </a:lnSpc>
                        <a:buAutoNum type="arabicPeriod"/>
                      </a:pPr>
                      <a:r>
                        <a:rPr lang="en-IN" altLang="en-US" dirty="0">
                          <a:solidFill>
                            <a:srgbClr val="000066"/>
                          </a:solidFill>
                          <a:latin typeface="Arial" panose="020B0604020202020204" pitchFamily="34" charset="0"/>
                          <a:cs typeface="Arial" panose="020B0604020202020204" pitchFamily="34" charset="0"/>
                        </a:rPr>
                        <a:t>E0220009        Mohammed Umar</a:t>
                      </a:r>
                      <a:endParaRPr lang="en-US" dirty="0">
                        <a:solidFill>
                          <a:srgbClr val="000066"/>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pic>
        <p:nvPicPr>
          <p:cNvPr id="6" name="image1.png"/>
          <p:cNvPicPr preferRelativeResize="0"/>
          <p:nvPr/>
        </p:nvPicPr>
        <p:blipFill>
          <a:blip r:embed="rId2"/>
          <a:srcRect/>
          <a:stretch>
            <a:fillRect/>
          </a:stretch>
        </p:blipFill>
        <p:spPr>
          <a:xfrm>
            <a:off x="2300605" y="405130"/>
            <a:ext cx="7591425" cy="1061720"/>
          </a:xfrm>
          <a:prstGeom prst="rect">
            <a:avLst/>
          </a:prstGeom>
        </p:spPr>
      </p:pic>
      <p:sp>
        <p:nvSpPr>
          <p:cNvPr id="4" name="TextBox 3"/>
          <p:cNvSpPr txBox="1"/>
          <p:nvPr/>
        </p:nvSpPr>
        <p:spPr>
          <a:xfrm>
            <a:off x="2912872" y="1700886"/>
            <a:ext cx="6366679" cy="830997"/>
          </a:xfrm>
          <a:prstGeom prst="rect">
            <a:avLst/>
          </a:prstGeom>
          <a:noFill/>
        </p:spPr>
        <p:txBody>
          <a:bodyPr wrap="none" rtlCol="0">
            <a:spAutoFit/>
          </a:bodyPr>
          <a:lstStyle/>
          <a:p>
            <a:pPr algn="ctr"/>
            <a:r>
              <a:rPr lang="en-US" sz="2400" b="1" dirty="0">
                <a:solidFill>
                  <a:srgbClr val="C00000"/>
                </a:solidFill>
                <a:latin typeface="Arial" panose="020B0604020202020204" pitchFamily="34" charset="0"/>
                <a:cs typeface="Arial" panose="020B0604020202020204" pitchFamily="34" charset="0"/>
              </a:rPr>
              <a:t>INT 300 INTERNSHIP II : SECOND	 REVIEW</a:t>
            </a:r>
          </a:p>
          <a:p>
            <a:pPr algn="ctr"/>
            <a:r>
              <a:rPr lang="en-US" sz="2400" b="1" dirty="0">
                <a:solidFill>
                  <a:srgbClr val="C00000"/>
                </a:solidFill>
                <a:latin typeface="Arial" panose="020B0604020202020204" pitchFamily="34" charset="0"/>
                <a:cs typeface="Arial" panose="020B0604020202020204" pitchFamily="34" charset="0"/>
              </a:rPr>
              <a:t>Date : 28-FEB-2022, 10 A.M.</a:t>
            </a:r>
          </a:p>
        </p:txBody>
      </p:sp>
      <p:sp>
        <p:nvSpPr>
          <p:cNvPr id="2"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27 February 2022</a:t>
            </a:r>
          </a:p>
        </p:txBody>
      </p:sp>
      <p:sp>
        <p:nvSpPr>
          <p:cNvPr id="8" name="TextBox 4"/>
          <p:cNvSpPr txBox="1"/>
          <p:nvPr/>
        </p:nvSpPr>
        <p:spPr>
          <a:xfrm>
            <a:off x="5042622" y="6525344"/>
            <a:ext cx="2448106" cy="246221"/>
          </a:xfrm>
          <a:prstGeom prst="rect">
            <a:avLst/>
          </a:prstGeom>
          <a:noFill/>
        </p:spPr>
        <p:txBody>
          <a:bodyPr wrap="none" rtlCol="0">
            <a:spAutoFit/>
          </a:bodyPr>
          <a:lstStyle/>
          <a:p>
            <a:r>
              <a:rPr lang="en-US" sz="1000" b="1" dirty="0">
                <a:solidFill>
                  <a:srgbClr val="660033"/>
                </a:solidFill>
                <a:latin typeface="Arial" panose="020B0604020202020204" pitchFamily="34" charset="0"/>
                <a:cs typeface="Arial" panose="020B0604020202020204" pitchFamily="34" charset="0"/>
              </a:rPr>
              <a:t>INT 300 Internship II : Second Review</a:t>
            </a:r>
          </a:p>
        </p:txBody>
      </p:sp>
      <p:sp>
        <p:nvSpPr>
          <p:cNvPr id="9"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t>1</a:t>
            </a:fld>
            <a:endParaRPr lang="en-US" sz="1000" b="1" dirty="0">
              <a:solidFill>
                <a:srgbClr val="660033"/>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03277" y="405167"/>
            <a:ext cx="1741182" cy="523220"/>
          </a:xfrm>
          <a:prstGeom prst="rect">
            <a:avLst/>
          </a:prstGeom>
          <a:noFill/>
        </p:spPr>
        <p:txBody>
          <a:bodyPr wrap="none" rtlCol="0">
            <a:spAutoFit/>
          </a:bodyPr>
          <a:lstStyle/>
          <a:p>
            <a:r>
              <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AGENDA</a:t>
            </a: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27 February 2022</a:t>
            </a: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t>2</a:t>
            </a:fld>
            <a:endParaRPr lang="en-US" sz="1000" b="1" dirty="0">
              <a:solidFill>
                <a:srgbClr val="660033"/>
              </a:solidFill>
              <a:latin typeface="Arial" panose="020B0604020202020204" pitchFamily="34" charset="0"/>
              <a:cs typeface="Arial" panose="020B0604020202020204" pitchFamily="34" charset="0"/>
            </a:endParaRPr>
          </a:p>
        </p:txBody>
      </p:sp>
      <p:sp>
        <p:nvSpPr>
          <p:cNvPr id="6" name="TextBox 5"/>
          <p:cNvSpPr txBox="1"/>
          <p:nvPr/>
        </p:nvSpPr>
        <p:spPr>
          <a:xfrm>
            <a:off x="1415415" y="1125220"/>
            <a:ext cx="4097655" cy="5015865"/>
          </a:xfrm>
          <a:prstGeom prst="rect">
            <a:avLst/>
          </a:prstGeom>
          <a:noFill/>
        </p:spPr>
        <p:txBody>
          <a:bodyPr wrap="square" rtlCol="0">
            <a:spAutoFit/>
          </a:bodyPr>
          <a:lstStyle/>
          <a:p>
            <a:pPr marL="342900" indent="-342900" algn="l">
              <a:lnSpc>
                <a:spcPct val="200000"/>
              </a:lnSpc>
              <a:buFont typeface="Arial" panose="020B0604020202020204" pitchFamily="34" charset="0"/>
              <a:buChar char="•"/>
            </a:pPr>
            <a:r>
              <a:rPr lang="en-US" sz="2000" b="1" dirty="0">
                <a:solidFill>
                  <a:srgbClr val="660033"/>
                </a:solidFill>
                <a:latin typeface="Arial" panose="020B0604020202020204" pitchFamily="34" charset="0"/>
                <a:cs typeface="Arial" panose="020B0604020202020204" pitchFamily="34" charset="0"/>
              </a:rPr>
              <a:t>Introduction</a:t>
            </a:r>
          </a:p>
          <a:p>
            <a:pPr marL="342900" indent="-342900" algn="l">
              <a:lnSpc>
                <a:spcPct val="200000"/>
              </a:lnSpc>
              <a:buFont typeface="Arial" panose="020B0604020202020204" pitchFamily="34" charset="0"/>
              <a:buChar char="•"/>
            </a:pPr>
            <a:r>
              <a:rPr lang="en-US" sz="2000" b="1" dirty="0">
                <a:solidFill>
                  <a:srgbClr val="660033"/>
                </a:solidFill>
                <a:latin typeface="Arial" panose="020B0604020202020204" pitchFamily="34" charset="0"/>
                <a:cs typeface="Arial" panose="020B0604020202020204" pitchFamily="34" charset="0"/>
              </a:rPr>
              <a:t>Review o</a:t>
            </a:r>
            <a:r>
              <a:rPr lang="en-IN" altLang="en-US" sz="2000" b="1" dirty="0">
                <a:solidFill>
                  <a:srgbClr val="660033"/>
                </a:solidFill>
                <a:latin typeface="Arial" panose="020B0604020202020204" pitchFamily="34" charset="0"/>
                <a:cs typeface="Arial" panose="020B0604020202020204" pitchFamily="34" charset="0"/>
              </a:rPr>
              <a:t>f </a:t>
            </a:r>
            <a:r>
              <a:rPr lang="en-US" sz="2000" b="1" dirty="0">
                <a:solidFill>
                  <a:srgbClr val="660033"/>
                </a:solidFill>
                <a:latin typeface="Arial" panose="020B0604020202020204" pitchFamily="34" charset="0"/>
                <a:cs typeface="Arial" panose="020B0604020202020204" pitchFamily="34" charset="0"/>
              </a:rPr>
              <a:t>Literature</a:t>
            </a:r>
          </a:p>
          <a:p>
            <a:pPr marL="342900" indent="-342900" algn="l">
              <a:lnSpc>
                <a:spcPct val="200000"/>
              </a:lnSpc>
              <a:buFont typeface="Arial" panose="020B0604020202020204" pitchFamily="34" charset="0"/>
              <a:buChar char="•"/>
            </a:pPr>
            <a:r>
              <a:rPr lang="en-US" sz="2000" b="1" dirty="0">
                <a:solidFill>
                  <a:srgbClr val="660033"/>
                </a:solidFill>
                <a:latin typeface="Arial" panose="020B0604020202020204" pitchFamily="34" charset="0"/>
                <a:cs typeface="Arial" panose="020B0604020202020204" pitchFamily="34" charset="0"/>
              </a:rPr>
              <a:t>Problem Statement</a:t>
            </a:r>
          </a:p>
          <a:p>
            <a:pPr marL="342900" indent="-342900" algn="l">
              <a:lnSpc>
                <a:spcPct val="200000"/>
              </a:lnSpc>
              <a:buFont typeface="Arial" panose="020B0604020202020204" pitchFamily="34" charset="0"/>
              <a:buChar char="•"/>
            </a:pPr>
            <a:r>
              <a:rPr lang="en-US" sz="2000" b="1" dirty="0">
                <a:solidFill>
                  <a:srgbClr val="660033"/>
                </a:solidFill>
                <a:latin typeface="Arial" panose="020B0604020202020204" pitchFamily="34" charset="0"/>
                <a:cs typeface="Arial" panose="020B0604020202020204" pitchFamily="34" charset="0"/>
              </a:rPr>
              <a:t>Objective</a:t>
            </a:r>
          </a:p>
          <a:p>
            <a:pPr marL="342900" indent="-342900" algn="l">
              <a:lnSpc>
                <a:spcPct val="200000"/>
              </a:lnSpc>
              <a:buFont typeface="Arial" panose="020B0604020202020204" pitchFamily="34" charset="0"/>
              <a:buChar char="•"/>
            </a:pPr>
            <a:r>
              <a:rPr lang="en-US" sz="2000" b="1" dirty="0">
                <a:solidFill>
                  <a:srgbClr val="660033"/>
                </a:solidFill>
                <a:latin typeface="Arial" panose="020B0604020202020204" pitchFamily="34" charset="0"/>
                <a:cs typeface="Arial" panose="020B0604020202020204" pitchFamily="34" charset="0"/>
              </a:rPr>
              <a:t>Methodology</a:t>
            </a:r>
          </a:p>
          <a:p>
            <a:pPr marL="342900" indent="-342900" algn="l">
              <a:lnSpc>
                <a:spcPct val="200000"/>
              </a:lnSpc>
              <a:buFont typeface="Arial" panose="020B0604020202020204" pitchFamily="34" charset="0"/>
              <a:buChar char="•"/>
            </a:pPr>
            <a:r>
              <a:rPr lang="en-US" sz="2000" b="1" dirty="0">
                <a:solidFill>
                  <a:srgbClr val="660033"/>
                </a:solidFill>
                <a:latin typeface="Arial" panose="020B0604020202020204" pitchFamily="34" charset="0"/>
                <a:cs typeface="Arial" panose="020B0604020202020204" pitchFamily="34" charset="0"/>
              </a:rPr>
              <a:t>Progress of Work</a:t>
            </a:r>
          </a:p>
          <a:p>
            <a:pPr marL="342900" indent="-342900" algn="l">
              <a:lnSpc>
                <a:spcPct val="200000"/>
              </a:lnSpc>
              <a:buFont typeface="Arial" panose="020B0604020202020204" pitchFamily="34" charset="0"/>
              <a:buChar char="•"/>
            </a:pPr>
            <a:r>
              <a:rPr lang="en-US" sz="2000" b="1" dirty="0">
                <a:solidFill>
                  <a:srgbClr val="660033"/>
                </a:solidFill>
                <a:latin typeface="Arial" panose="020B0604020202020204" pitchFamily="34" charset="0"/>
                <a:cs typeface="Arial" panose="020B0604020202020204" pitchFamily="34" charset="0"/>
              </a:rPr>
              <a:t>Timeline</a:t>
            </a:r>
          </a:p>
          <a:p>
            <a:pPr marL="342900" indent="-342900" algn="l">
              <a:lnSpc>
                <a:spcPct val="200000"/>
              </a:lnSpc>
              <a:buFont typeface="Arial" panose="020B0604020202020204" pitchFamily="34" charset="0"/>
              <a:buChar char="•"/>
            </a:pPr>
            <a:r>
              <a:rPr lang="en-US" sz="2000" b="1" dirty="0">
                <a:solidFill>
                  <a:srgbClr val="660033"/>
                </a:solidFill>
                <a:latin typeface="Arial" panose="020B0604020202020204" pitchFamily="34" charset="0"/>
                <a:cs typeface="Arial" panose="020B0604020202020204" pitchFamily="34" charset="0"/>
              </a:rPr>
              <a:t>References</a:t>
            </a:r>
          </a:p>
        </p:txBody>
      </p:sp>
      <p:sp>
        <p:nvSpPr>
          <p:cNvPr id="7" name="TextBox 4">
            <a:extLst>
              <a:ext uri="{FF2B5EF4-FFF2-40B4-BE49-F238E27FC236}">
                <a16:creationId xmlns:a16="http://schemas.microsoft.com/office/drawing/2014/main" id="{C8628989-BDF8-4304-B49B-C5295C86EAAC}"/>
              </a:ext>
            </a:extLst>
          </p:cNvPr>
          <p:cNvSpPr txBox="1"/>
          <p:nvPr/>
        </p:nvSpPr>
        <p:spPr>
          <a:xfrm>
            <a:off x="5042622" y="6525344"/>
            <a:ext cx="2448106" cy="246221"/>
          </a:xfrm>
          <a:prstGeom prst="rect">
            <a:avLst/>
          </a:prstGeom>
          <a:noFill/>
        </p:spPr>
        <p:txBody>
          <a:bodyPr wrap="none" rtlCol="0">
            <a:spAutoFit/>
          </a:bodyPr>
          <a:lstStyle/>
          <a:p>
            <a:r>
              <a:rPr lang="en-US" sz="1000" b="1" dirty="0">
                <a:solidFill>
                  <a:srgbClr val="660033"/>
                </a:solidFill>
                <a:latin typeface="Arial" panose="020B0604020202020204" pitchFamily="34" charset="0"/>
                <a:cs typeface="Arial" panose="020B0604020202020204" pitchFamily="34" charset="0"/>
              </a:rPr>
              <a:t>INT 300 Internship II : Second Review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26754" y="405357"/>
            <a:ext cx="2938625" cy="523220"/>
          </a:xfrm>
          <a:prstGeom prst="rect">
            <a:avLst/>
          </a:prstGeom>
          <a:noFill/>
        </p:spPr>
        <p:txBody>
          <a:bodyPr wrap="none" rtlCol="0">
            <a:spAutoFit/>
          </a:bodyPr>
          <a:lstStyle/>
          <a:p>
            <a:r>
              <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INTRODUCTION</a:t>
            </a: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27 February 2022</a:t>
            </a: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t>3</a:t>
            </a:fld>
            <a:endParaRPr lang="en-US" sz="1000" b="1" dirty="0">
              <a:solidFill>
                <a:srgbClr val="660033"/>
              </a:solidFill>
              <a:latin typeface="Arial" panose="020B0604020202020204" pitchFamily="34" charset="0"/>
              <a:cs typeface="Arial" panose="020B0604020202020204" pitchFamily="34" charset="0"/>
            </a:endParaRPr>
          </a:p>
        </p:txBody>
      </p:sp>
      <p:sp>
        <p:nvSpPr>
          <p:cNvPr id="6" name="TextBox 5"/>
          <p:cNvSpPr txBox="1"/>
          <p:nvPr/>
        </p:nvSpPr>
        <p:spPr>
          <a:xfrm>
            <a:off x="910590" y="1052830"/>
            <a:ext cx="10370820" cy="5073650"/>
          </a:xfrm>
          <a:prstGeom prst="rect">
            <a:avLst/>
          </a:prstGeom>
          <a:noFill/>
        </p:spPr>
        <p:txBody>
          <a:bodyPr wrap="square" rtlCol="0">
            <a:spAutoFit/>
          </a:bodyPr>
          <a:lstStyle/>
          <a:p>
            <a:pPr marL="285750" indent="-285750" algn="l">
              <a:lnSpc>
                <a:spcPct val="120000"/>
              </a:lnSpc>
              <a:buFont typeface="Wingdings" panose="05000000000000000000" charset="0"/>
              <a:buChar char="§"/>
            </a:pPr>
            <a:r>
              <a:rPr lang="en-US" dirty="0">
                <a:solidFill>
                  <a:srgbClr val="660033"/>
                </a:solidFill>
                <a:latin typeface="Arial" panose="020B0604020202020204" pitchFamily="34" charset="0"/>
                <a:cs typeface="Arial" panose="020B0604020202020204" pitchFamily="34" charset="0"/>
              </a:rPr>
              <a:t>Falsified and substandard medications may contain dangerous dosages of harmful chemicals, </a:t>
            </a:r>
          </a:p>
          <a:p>
            <a:pPr indent="0" algn="l">
              <a:lnSpc>
                <a:spcPct val="120000"/>
              </a:lnSpc>
              <a:buNone/>
            </a:pPr>
            <a:r>
              <a:rPr lang="en-US" dirty="0">
                <a:solidFill>
                  <a:srgbClr val="660033"/>
                </a:solidFill>
                <a:latin typeface="Arial" panose="020B0604020202020204" pitchFamily="34" charset="0"/>
                <a:cs typeface="Arial" panose="020B0604020202020204" pitchFamily="34" charset="0"/>
              </a:rPr>
              <a:t>leading to mass poisoning. </a:t>
            </a:r>
          </a:p>
          <a:p>
            <a:pPr marL="285750" indent="-285750" algn="l">
              <a:lnSpc>
                <a:spcPct val="120000"/>
              </a:lnSpc>
              <a:buFont typeface="Wingdings" panose="05000000000000000000" charset="0"/>
              <a:buChar char="§"/>
            </a:pPr>
            <a:r>
              <a:rPr lang="en-US" dirty="0">
                <a:solidFill>
                  <a:srgbClr val="660033"/>
                </a:solidFill>
                <a:latin typeface="Arial" panose="020B0604020202020204" pitchFamily="34" charset="0"/>
                <a:cs typeface="Arial" panose="020B0604020202020204" pitchFamily="34" charset="0"/>
              </a:rPr>
              <a:t>Poor-quality medicines jeopardize chronic and infectious diseases, leading to disease progression, </a:t>
            </a:r>
          </a:p>
          <a:p>
            <a:pPr indent="0" algn="l">
              <a:lnSpc>
                <a:spcPct val="120000"/>
              </a:lnSpc>
              <a:buNone/>
            </a:pPr>
            <a:r>
              <a:rPr lang="en-US" dirty="0">
                <a:solidFill>
                  <a:srgbClr val="660033"/>
                </a:solidFill>
                <a:latin typeface="Arial" panose="020B0604020202020204" pitchFamily="34" charset="0"/>
                <a:cs typeface="Arial" panose="020B0604020202020204" pitchFamily="34" charset="0"/>
              </a:rPr>
              <a:t>drug resistance, and mortality. </a:t>
            </a:r>
          </a:p>
          <a:p>
            <a:pPr marL="285750" indent="-285750" algn="l">
              <a:lnSpc>
                <a:spcPct val="120000"/>
              </a:lnSpc>
              <a:buFont typeface="Wingdings" panose="05000000000000000000" charset="0"/>
              <a:buChar char="§"/>
            </a:pPr>
            <a:r>
              <a:rPr lang="en-US" dirty="0">
                <a:solidFill>
                  <a:srgbClr val="660033"/>
                </a:solidFill>
                <a:latin typeface="Arial" panose="020B0604020202020204" pitchFamily="34" charset="0"/>
                <a:cs typeface="Arial" panose="020B0604020202020204" pitchFamily="34" charset="0"/>
              </a:rPr>
              <a:t>It's difficult to detect counterfeit medications; the only method to tell if a drug is genuine is to do </a:t>
            </a:r>
          </a:p>
          <a:p>
            <a:pPr indent="0" algn="l">
              <a:lnSpc>
                <a:spcPct val="120000"/>
              </a:lnSpc>
              <a:buNone/>
            </a:pPr>
            <a:r>
              <a:rPr lang="en-US" dirty="0">
                <a:solidFill>
                  <a:srgbClr val="660033"/>
                </a:solidFill>
                <a:latin typeface="Arial" panose="020B0604020202020204" pitchFamily="34" charset="0"/>
                <a:cs typeface="Arial" panose="020B0604020202020204" pitchFamily="34" charset="0"/>
              </a:rPr>
              <a:t>laboratory tests.</a:t>
            </a:r>
          </a:p>
          <a:p>
            <a:pPr marL="285750" indent="-285750" algn="l">
              <a:lnSpc>
                <a:spcPct val="120000"/>
              </a:lnSpc>
              <a:buFont typeface="Wingdings" panose="05000000000000000000" charset="0"/>
              <a:buChar char="§"/>
            </a:pPr>
            <a:r>
              <a:rPr lang="en-US" altLang="en-US" dirty="0">
                <a:solidFill>
                  <a:srgbClr val="660033"/>
                </a:solidFill>
                <a:latin typeface="Arial" panose="020B0604020202020204" pitchFamily="34" charset="0"/>
                <a:cs typeface="Arial" panose="020B0604020202020204" pitchFamily="34" charset="0"/>
              </a:rPr>
              <a:t>Manufacturers, exporters, merchant exporters, and/or their designated agencies register with the </a:t>
            </a:r>
          </a:p>
          <a:p>
            <a:pPr indent="0" algn="l">
              <a:lnSpc>
                <a:spcPct val="120000"/>
              </a:lnSpc>
              <a:buNone/>
            </a:pPr>
            <a:r>
              <a:rPr lang="en-US" altLang="en-US" dirty="0">
                <a:solidFill>
                  <a:srgbClr val="660033"/>
                </a:solidFill>
                <a:latin typeface="Arial" panose="020B0604020202020204" pitchFamily="34" charset="0"/>
                <a:cs typeface="Arial" panose="020B0604020202020204" pitchFamily="34" charset="0"/>
              </a:rPr>
              <a:t>DAVA Central Portal for identification and data submission and maintenance.</a:t>
            </a:r>
          </a:p>
          <a:p>
            <a:pPr marL="285750" indent="-285750" algn="l">
              <a:lnSpc>
                <a:spcPct val="120000"/>
              </a:lnSpc>
              <a:buFont typeface="Wingdings" panose="05000000000000000000" charset="0"/>
              <a:buChar char="§"/>
            </a:pPr>
            <a:r>
              <a:rPr lang="en-IN" altLang="en-US" dirty="0">
                <a:solidFill>
                  <a:srgbClr val="660033"/>
                </a:solidFill>
                <a:latin typeface="Arial" panose="020B0604020202020204" pitchFamily="34" charset="0"/>
                <a:cs typeface="Arial" panose="020B0604020202020204" pitchFamily="34" charset="0"/>
              </a:rPr>
              <a:t>This portal is just for a few members of the drug supply chain and it is under the government which is centralised.</a:t>
            </a:r>
            <a:endParaRPr lang="en-US" altLang="en-US" dirty="0">
              <a:solidFill>
                <a:srgbClr val="660033"/>
              </a:solidFill>
              <a:latin typeface="Arial" panose="020B0604020202020204" pitchFamily="34" charset="0"/>
              <a:cs typeface="Arial" panose="020B0604020202020204" pitchFamily="34" charset="0"/>
            </a:endParaRPr>
          </a:p>
          <a:p>
            <a:pPr marL="285750" indent="-285750" algn="l">
              <a:lnSpc>
                <a:spcPct val="120000"/>
              </a:lnSpc>
              <a:buFont typeface="Wingdings" panose="05000000000000000000" charset="0"/>
              <a:buChar char="§"/>
            </a:pPr>
            <a:r>
              <a:rPr lang="en-IN" altLang="en-US" dirty="0">
                <a:solidFill>
                  <a:srgbClr val="660033"/>
                </a:solidFill>
                <a:latin typeface="Arial" panose="020B0604020202020204" pitchFamily="34" charset="0"/>
                <a:cs typeface="Arial" panose="020B0604020202020204" pitchFamily="34" charset="0"/>
              </a:rPr>
              <a:t>It is applied throughout the drug supply chain from manufacturers to patients where we can check </a:t>
            </a:r>
          </a:p>
          <a:p>
            <a:pPr indent="0" algn="l">
              <a:lnSpc>
                <a:spcPct val="120000"/>
              </a:lnSpc>
              <a:buFont typeface="Wingdings" panose="05000000000000000000" charset="0"/>
              <a:buNone/>
            </a:pPr>
            <a:r>
              <a:rPr lang="en-IN" altLang="en-US" dirty="0">
                <a:solidFill>
                  <a:srgbClr val="660033"/>
                </a:solidFill>
                <a:latin typeface="Arial" panose="020B0604020202020204" pitchFamily="34" charset="0"/>
                <a:cs typeface="Arial" panose="020B0604020202020204" pitchFamily="34" charset="0"/>
              </a:rPr>
              <a:t>authenticity of the drug at any point inbetween. </a:t>
            </a:r>
          </a:p>
          <a:p>
            <a:pPr marL="285750" indent="-285750" algn="l">
              <a:lnSpc>
                <a:spcPct val="120000"/>
              </a:lnSpc>
              <a:buFont typeface="Wingdings" panose="05000000000000000000" charset="0"/>
              <a:buChar char="§"/>
            </a:pPr>
            <a:r>
              <a:rPr lang="en-IN" altLang="en-US" dirty="0">
                <a:solidFill>
                  <a:srgbClr val="660033"/>
                </a:solidFill>
                <a:latin typeface="Arial" panose="020B0604020202020204" pitchFamily="34" charset="0"/>
                <a:cs typeface="Arial" panose="020B0604020202020204" pitchFamily="34" charset="0"/>
              </a:rPr>
              <a:t>Technologies Used: </a:t>
            </a:r>
          </a:p>
          <a:p>
            <a:pPr marL="742950" lvl="1" indent="-285750" algn="l">
              <a:lnSpc>
                <a:spcPct val="120000"/>
              </a:lnSpc>
              <a:buFont typeface="Arial" panose="020B0604020202020204" pitchFamily="34" charset="0"/>
              <a:buChar char="•"/>
            </a:pPr>
            <a:r>
              <a:rPr lang="en-IN" altLang="en-US" dirty="0">
                <a:solidFill>
                  <a:srgbClr val="660033"/>
                </a:solidFill>
                <a:latin typeface="Arial" panose="020B0604020202020204" pitchFamily="34" charset="0"/>
                <a:cs typeface="Arial" panose="020B0604020202020204" pitchFamily="34" charset="0"/>
              </a:rPr>
              <a:t>Python for Drug recommendation (ML)</a:t>
            </a:r>
          </a:p>
          <a:p>
            <a:pPr marL="742950" lvl="1" indent="-285750" algn="l">
              <a:lnSpc>
                <a:spcPct val="120000"/>
              </a:lnSpc>
              <a:buFont typeface="Arial" panose="020B0604020202020204" pitchFamily="34" charset="0"/>
              <a:buChar char="•"/>
            </a:pPr>
            <a:r>
              <a:rPr lang="en-IN" altLang="en-US" dirty="0">
                <a:solidFill>
                  <a:srgbClr val="660033"/>
                </a:solidFill>
                <a:latin typeface="Arial" panose="020B0604020202020204" pitchFamily="34" charset="0"/>
                <a:cs typeface="Arial" panose="020B0604020202020204" pitchFamily="34" charset="0"/>
              </a:rPr>
              <a:t>Ethereum for drug authentication using block chain</a:t>
            </a:r>
          </a:p>
        </p:txBody>
      </p:sp>
      <p:sp>
        <p:nvSpPr>
          <p:cNvPr id="7" name="TextBox 4">
            <a:extLst>
              <a:ext uri="{FF2B5EF4-FFF2-40B4-BE49-F238E27FC236}">
                <a16:creationId xmlns:a16="http://schemas.microsoft.com/office/drawing/2014/main" id="{808C298F-CE21-4155-89E7-CDDA93B59FEE}"/>
              </a:ext>
            </a:extLst>
          </p:cNvPr>
          <p:cNvSpPr txBox="1"/>
          <p:nvPr/>
        </p:nvSpPr>
        <p:spPr>
          <a:xfrm>
            <a:off x="5042622" y="6525344"/>
            <a:ext cx="2448106" cy="246221"/>
          </a:xfrm>
          <a:prstGeom prst="rect">
            <a:avLst/>
          </a:prstGeom>
          <a:noFill/>
        </p:spPr>
        <p:txBody>
          <a:bodyPr wrap="none" rtlCol="0">
            <a:spAutoFit/>
          </a:bodyPr>
          <a:lstStyle/>
          <a:p>
            <a:r>
              <a:rPr lang="en-US" sz="1000" b="1" dirty="0">
                <a:solidFill>
                  <a:srgbClr val="660033"/>
                </a:solidFill>
                <a:latin typeface="Arial" panose="020B0604020202020204" pitchFamily="34" charset="0"/>
                <a:cs typeface="Arial" panose="020B0604020202020204" pitchFamily="34" charset="0"/>
              </a:rPr>
              <a:t>INT 300 Internship II : Second 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43442" y="692943"/>
            <a:ext cx="4504055" cy="521970"/>
          </a:xfrm>
          <a:prstGeom prst="rect">
            <a:avLst/>
          </a:prstGeom>
          <a:noFill/>
        </p:spPr>
        <p:txBody>
          <a:bodyPr wrap="none" rtlCol="0">
            <a:spAutoFit/>
          </a:bodyPr>
          <a:lstStyle/>
          <a:p>
            <a:r>
              <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REVIEW OF LITERATURE</a:t>
            </a: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27 February 2022</a:t>
            </a: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t>4</a:t>
            </a:fld>
            <a:endParaRPr lang="en-US" sz="1000" b="1" dirty="0">
              <a:solidFill>
                <a:srgbClr val="660033"/>
              </a:solidFill>
              <a:latin typeface="Arial" panose="020B0604020202020204" pitchFamily="34" charset="0"/>
              <a:cs typeface="Arial" panose="020B0604020202020204" pitchFamily="34" charset="0"/>
            </a:endParaRPr>
          </a:p>
        </p:txBody>
      </p:sp>
      <p:graphicFrame>
        <p:nvGraphicFramePr>
          <p:cNvPr id="8" name="Table 7"/>
          <p:cNvGraphicFramePr>
            <a:graphicFrameLocks noGrp="1"/>
          </p:cNvGraphicFramePr>
          <p:nvPr/>
        </p:nvGraphicFramePr>
        <p:xfrm>
          <a:off x="766775" y="1772935"/>
          <a:ext cx="10684510" cy="3931920"/>
        </p:xfrm>
        <a:graphic>
          <a:graphicData uri="http://schemas.openxmlformats.org/drawingml/2006/table">
            <a:tbl>
              <a:tblPr firstRow="1" bandRow="1">
                <a:tableStyleId>{5C22544A-7EE6-4342-B048-85BDC9FD1C3A}</a:tableStyleId>
              </a:tblPr>
              <a:tblGrid>
                <a:gridCol w="10684510">
                  <a:extLst>
                    <a:ext uri="{9D8B030D-6E8A-4147-A177-3AD203B41FA5}">
                      <a16:colId xmlns:a16="http://schemas.microsoft.com/office/drawing/2014/main" val="20000"/>
                    </a:ext>
                  </a:extLst>
                </a:gridCol>
              </a:tblGrid>
              <a:tr h="640080">
                <a:tc>
                  <a:txBody>
                    <a:bodyPr/>
                    <a:lstStyle/>
                    <a:p>
                      <a:pPr algn="ctr"/>
                      <a:r>
                        <a:rPr lang="en-US" dirty="0">
                          <a:solidFill>
                            <a:srgbClr val="660033"/>
                          </a:solidFill>
                          <a:latin typeface="Arial" panose="020B0604020202020204" pitchFamily="34" charset="0"/>
                          <a:cs typeface="Arial" panose="020B0604020202020204" pitchFamily="34" charset="0"/>
                        </a:rPr>
                        <a:t>Title:</a:t>
                      </a:r>
                      <a:r>
                        <a:rPr lang="en-IN" altLang="en-US" dirty="0">
                          <a:solidFill>
                            <a:srgbClr val="660033"/>
                          </a:solidFill>
                          <a:latin typeface="Arial" panose="020B0604020202020204" pitchFamily="34" charset="0"/>
                          <a:cs typeface="Arial" panose="020B0604020202020204" pitchFamily="34" charset="0"/>
                        </a:rPr>
                        <a:t> Authentic Drug Usage and Tracking with Blockchain Using Mobile Apps</a:t>
                      </a:r>
                    </a:p>
                    <a:p>
                      <a:pPr algn="ctr"/>
                      <a:r>
                        <a:rPr lang="en-US" sz="1800" dirty="0">
                          <a:solidFill>
                            <a:srgbClr val="660033"/>
                          </a:solidFill>
                          <a:latin typeface="Arial" panose="020B0604020202020204" pitchFamily="34" charset="0"/>
                          <a:cs typeface="Arial" panose="020B0604020202020204" pitchFamily="34" charset="0"/>
                          <a:sym typeface="+mn-ea"/>
                        </a:rPr>
                        <a:t>Author(Year): Ruby Benita K</a:t>
                      </a:r>
                      <a:r>
                        <a:rPr lang="en-IN" altLang="en-US" sz="1800" dirty="0">
                          <a:solidFill>
                            <a:srgbClr val="660033"/>
                          </a:solidFill>
                          <a:latin typeface="Arial" panose="020B0604020202020204" pitchFamily="34" charset="0"/>
                          <a:cs typeface="Arial" panose="020B0604020202020204" pitchFamily="34" charset="0"/>
                          <a:sym typeface="+mn-ea"/>
                        </a:rPr>
                        <a:t>(2020)</a:t>
                      </a:r>
                      <a:endParaRPr lang="en-IN" altLang="en-US" dirty="0">
                        <a:solidFill>
                          <a:srgbClr val="660033"/>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solidFill>
                            <a:srgbClr val="660033"/>
                          </a:solidFill>
                          <a:latin typeface="Arial" panose="020B0604020202020204" pitchFamily="34" charset="0"/>
                          <a:cs typeface="Arial" panose="020B0604020202020204" pitchFamily="34" charset="0"/>
                        </a:rPr>
                        <a:t>Methodology</a:t>
                      </a:r>
                      <a:r>
                        <a:rPr lang="en-IN" altLang="en-US" b="1" dirty="0">
                          <a:solidFill>
                            <a:srgbClr val="660033"/>
                          </a:solidFill>
                          <a:latin typeface="Arial" panose="020B0604020202020204" pitchFamily="34" charset="0"/>
                          <a:cs typeface="Arial" panose="020B0604020202020204" pitchFamily="34" charset="0"/>
                        </a:rPr>
                        <a:t>:-</a:t>
                      </a:r>
                      <a:r>
                        <a:rPr lang="en-IN" altLang="en-US" dirty="0">
                          <a:solidFill>
                            <a:srgbClr val="660033"/>
                          </a:solidFill>
                          <a:latin typeface="Arial" panose="020B0604020202020204" pitchFamily="34" charset="0"/>
                          <a:cs typeface="Arial" panose="020B0604020202020204" pitchFamily="34" charset="0"/>
                        </a:rPr>
                        <a:t> The drug is monitored from the maker to the patient, and stock is kept in a distributed storage system to prevent the creation of fake drugs or duplicate drugs by other fraudsters or false manufacturers. The blocks, together with the transactions, are distributed to all nodes, ensuring that the transaction cannot be faked. If someone tries to manipulate or falsify a transaction, the hash of that block is changed, which changes the hash of the next block, and it is no longer the same as the hash of other nodes. As a result, this technology is unchangeable.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solidFill>
                            <a:srgbClr val="660033"/>
                          </a:solidFill>
                          <a:latin typeface="Arial" panose="020B0604020202020204" pitchFamily="34" charset="0"/>
                          <a:cs typeface="Arial" panose="020B0604020202020204" pitchFamily="34" charset="0"/>
                        </a:rPr>
                        <a:t>Results</a:t>
                      </a:r>
                      <a:r>
                        <a:rPr lang="en-IN" altLang="en-US" b="1" dirty="0">
                          <a:solidFill>
                            <a:srgbClr val="660033"/>
                          </a:solidFill>
                          <a:latin typeface="Arial" panose="020B0604020202020204" pitchFamily="34" charset="0"/>
                          <a:cs typeface="Arial" panose="020B0604020202020204" pitchFamily="34" charset="0"/>
                        </a:rPr>
                        <a:t>:-</a:t>
                      </a:r>
                      <a:r>
                        <a:rPr lang="en-IN" altLang="en-US" dirty="0">
                          <a:solidFill>
                            <a:srgbClr val="660033"/>
                          </a:solidFill>
                          <a:latin typeface="Arial" panose="020B0604020202020204" pitchFamily="34" charset="0"/>
                          <a:cs typeface="Arial" panose="020B0604020202020204" pitchFamily="34" charset="0"/>
                        </a:rPr>
                        <a:t> A mobile application for the whole supply chain such that at any point of the supply chain fake drugs can easily be identified via scanning QR codes.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a:solidFill>
                            <a:srgbClr val="660033"/>
                          </a:solidFill>
                          <a:latin typeface="Arial" panose="020B0604020202020204" pitchFamily="34" charset="0"/>
                          <a:cs typeface="Arial" panose="020B0604020202020204" pitchFamily="34" charset="0"/>
                        </a:rPr>
                        <a:t>Challenges</a:t>
                      </a:r>
                      <a:r>
                        <a:rPr lang="en-IN" altLang="en-US" b="1" dirty="0">
                          <a:solidFill>
                            <a:srgbClr val="660033"/>
                          </a:solidFill>
                          <a:latin typeface="Arial" panose="020B0604020202020204" pitchFamily="34" charset="0"/>
                          <a:cs typeface="Arial" panose="020B0604020202020204" pitchFamily="34" charset="0"/>
                        </a:rPr>
                        <a:t>:-</a:t>
                      </a:r>
                      <a:r>
                        <a:rPr lang="en-IN" altLang="en-US" dirty="0">
                          <a:solidFill>
                            <a:srgbClr val="660033"/>
                          </a:solidFill>
                          <a:latin typeface="Arial" panose="020B0604020202020204" pitchFamily="34" charset="0"/>
                          <a:cs typeface="Arial" panose="020B0604020202020204" pitchFamily="34" charset="0"/>
                        </a:rPr>
                        <a:t> Avoiding duplicate or fake drugs created by fake manufacturers is a big challenge in the centralized network, which has been overcome by using blockchain technology, a decentralised network.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7" name="TextBox 4">
            <a:extLst>
              <a:ext uri="{FF2B5EF4-FFF2-40B4-BE49-F238E27FC236}">
                <a16:creationId xmlns:a16="http://schemas.microsoft.com/office/drawing/2014/main" id="{BBD02149-0164-4ACC-B3A3-45DB60251F10}"/>
              </a:ext>
            </a:extLst>
          </p:cNvPr>
          <p:cNvSpPr txBox="1"/>
          <p:nvPr/>
        </p:nvSpPr>
        <p:spPr>
          <a:xfrm>
            <a:off x="5042622" y="6525344"/>
            <a:ext cx="2448106" cy="246221"/>
          </a:xfrm>
          <a:prstGeom prst="rect">
            <a:avLst/>
          </a:prstGeom>
          <a:noFill/>
        </p:spPr>
        <p:txBody>
          <a:bodyPr wrap="none" rtlCol="0">
            <a:spAutoFit/>
          </a:bodyPr>
          <a:lstStyle/>
          <a:p>
            <a:r>
              <a:rPr lang="en-US" sz="1000" b="1" dirty="0">
                <a:solidFill>
                  <a:srgbClr val="660033"/>
                </a:solidFill>
                <a:latin typeface="Arial" panose="020B0604020202020204" pitchFamily="34" charset="0"/>
                <a:cs typeface="Arial" panose="020B0604020202020204" pitchFamily="34" charset="0"/>
              </a:rPr>
              <a:t>INT 300 Internship II : Second 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36142" y="332777"/>
            <a:ext cx="4319965" cy="523220"/>
          </a:xfrm>
          <a:prstGeom prst="rect">
            <a:avLst/>
          </a:prstGeom>
          <a:noFill/>
        </p:spPr>
        <p:txBody>
          <a:bodyPr wrap="none" rtlCol="0">
            <a:spAutoFit/>
          </a:bodyPr>
          <a:lstStyle/>
          <a:p>
            <a:r>
              <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PROBLEM STATEMENT </a:t>
            </a: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27 February 2022</a:t>
            </a: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t>5</a:t>
            </a:fld>
            <a:endParaRPr lang="en-US" sz="1000" b="1" dirty="0">
              <a:solidFill>
                <a:srgbClr val="660033"/>
              </a:solidFill>
              <a:latin typeface="Arial" panose="020B0604020202020204" pitchFamily="34" charset="0"/>
              <a:cs typeface="Arial" panose="020B0604020202020204" pitchFamily="34" charset="0"/>
            </a:endParaRPr>
          </a:p>
        </p:txBody>
      </p:sp>
      <p:graphicFrame>
        <p:nvGraphicFramePr>
          <p:cNvPr id="11" name="Table 10"/>
          <p:cNvGraphicFramePr>
            <a:graphicFrameLocks noGrp="1"/>
          </p:cNvGraphicFramePr>
          <p:nvPr/>
        </p:nvGraphicFramePr>
        <p:xfrm>
          <a:off x="566539" y="1988572"/>
          <a:ext cx="11060401" cy="4267200"/>
        </p:xfrm>
        <a:graphic>
          <a:graphicData uri="http://schemas.openxmlformats.org/drawingml/2006/table">
            <a:tbl>
              <a:tblPr firstRow="1" bandRow="1">
                <a:tableStyleId>{5C22544A-7EE6-4342-B048-85BDC9FD1C3A}</a:tableStyleId>
              </a:tblPr>
              <a:tblGrid>
                <a:gridCol w="5186651">
                  <a:extLst>
                    <a:ext uri="{9D8B030D-6E8A-4147-A177-3AD203B41FA5}">
                      <a16:colId xmlns:a16="http://schemas.microsoft.com/office/drawing/2014/main" val="20000"/>
                    </a:ext>
                  </a:extLst>
                </a:gridCol>
                <a:gridCol w="5873750">
                  <a:extLst>
                    <a:ext uri="{9D8B030D-6E8A-4147-A177-3AD203B41FA5}">
                      <a16:colId xmlns:a16="http://schemas.microsoft.com/office/drawing/2014/main" val="20001"/>
                    </a:ext>
                  </a:extLst>
                </a:gridCol>
              </a:tblGrid>
              <a:tr h="375920">
                <a:tc gridSpan="2">
                  <a:txBody>
                    <a:bodyPr/>
                    <a:lstStyle/>
                    <a:p>
                      <a:pPr algn="ctr"/>
                      <a:r>
                        <a:rPr lang="en-US" sz="2000" dirty="0">
                          <a:solidFill>
                            <a:srgbClr val="000066"/>
                          </a:solidFill>
                          <a:latin typeface="Arial" panose="020B0604020202020204" pitchFamily="34" charset="0"/>
                          <a:cs typeface="Arial" panose="020B0604020202020204" pitchFamily="34" charset="0"/>
                        </a:rPr>
                        <a:t>Objective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10000"/>
                  </a:ext>
                </a:extLst>
              </a:tr>
              <a:tr h="1066800">
                <a:tc>
                  <a:txBody>
                    <a:bodyPr/>
                    <a:lstStyle/>
                    <a:p>
                      <a:pPr marL="0" indent="0">
                        <a:buNone/>
                      </a:pPr>
                      <a:r>
                        <a:rPr lang="en-US" sz="1600" dirty="0">
                          <a:solidFill>
                            <a:srgbClr val="000066"/>
                          </a:solidFill>
                          <a:latin typeface="Arial" panose="020B0604020202020204" pitchFamily="34" charset="0"/>
                          <a:cs typeface="Arial" panose="020B0604020202020204" pitchFamily="34" charset="0"/>
                        </a:rPr>
                        <a:t>1.</a:t>
                      </a:r>
                      <a:r>
                        <a:rPr lang="en-IN" altLang="en-US" sz="1600" dirty="0">
                          <a:solidFill>
                            <a:srgbClr val="000066"/>
                          </a:solidFill>
                          <a:latin typeface="Arial" panose="020B0604020202020204" pitchFamily="34" charset="0"/>
                          <a:cs typeface="Arial" panose="020B0604020202020204" pitchFamily="34" charset="0"/>
                        </a:rPr>
                        <a:t> Data collection exploratory data analysis statistical inference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buNone/>
                      </a:pPr>
                      <a:r>
                        <a:rPr lang="en-US" sz="1600" dirty="0">
                          <a:solidFill>
                            <a:srgbClr val="000066"/>
                          </a:solidFill>
                          <a:latin typeface="Arial" panose="020B0604020202020204" pitchFamily="34" charset="0"/>
                          <a:cs typeface="Arial" panose="020B0604020202020204" pitchFamily="34" charset="0"/>
                        </a:rPr>
                        <a:t>Methodology-1: </a:t>
                      </a:r>
                      <a:r>
                        <a:rPr lang="en-IN" altLang="en-US" sz="1600" dirty="0">
                          <a:solidFill>
                            <a:srgbClr val="000066"/>
                          </a:solidFill>
                          <a:latin typeface="Arial" panose="020B0604020202020204" pitchFamily="34" charset="0"/>
                          <a:cs typeface="Arial" panose="020B0604020202020204" pitchFamily="34" charset="0"/>
                        </a:rPr>
                        <a:t>Searching for various datasets, cleaning, statistical analysis on the different columns to understand the dataset and doing visualisations to have a better understanding.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4008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a:solidFill>
                            <a:srgbClr val="000066"/>
                          </a:solidFill>
                          <a:latin typeface="Arial" panose="020B0604020202020204" pitchFamily="34" charset="0"/>
                          <a:cs typeface="Arial" panose="020B0604020202020204" pitchFamily="34" charset="0"/>
                        </a:rPr>
                        <a:t>2.</a:t>
                      </a:r>
                      <a:r>
                        <a:rPr lang="en-IN" altLang="en-US" sz="1600" dirty="0">
                          <a:solidFill>
                            <a:srgbClr val="000066"/>
                          </a:solidFill>
                          <a:latin typeface="Arial" panose="020B0604020202020204" pitchFamily="34" charset="0"/>
                          <a:cs typeface="Arial" panose="020B0604020202020204" pitchFamily="34" charset="0"/>
                        </a:rPr>
                        <a:t> To analyse machine learning work flow for drug recommendation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a:solidFill>
                            <a:srgbClr val="000066"/>
                          </a:solidFill>
                          <a:latin typeface="Arial" panose="020B0604020202020204" pitchFamily="34" charset="0"/>
                          <a:cs typeface="Arial" panose="020B0604020202020204" pitchFamily="34" charset="0"/>
                        </a:rPr>
                        <a:t>Methodology-2: </a:t>
                      </a:r>
                      <a:r>
                        <a:rPr lang="en-IN" altLang="en-US" sz="1600" dirty="0">
                          <a:solidFill>
                            <a:srgbClr val="000066"/>
                          </a:solidFill>
                          <a:latin typeface="Arial" panose="020B0604020202020204" pitchFamily="34" charset="0"/>
                          <a:cs typeface="Arial" panose="020B0604020202020204" pitchFamily="34" charset="0"/>
                        </a:rPr>
                        <a:t>Search and find the correct ML model to be used for the chosen dataset, split the data into test and train, fit the train data to model and predict for test data and check acuracy for the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a:solidFill>
                            <a:srgbClr val="000066"/>
                          </a:solidFill>
                          <a:latin typeface="Arial" panose="020B0604020202020204" pitchFamily="34" charset="0"/>
                          <a:cs typeface="Arial" panose="020B0604020202020204" pitchFamily="34" charset="0"/>
                        </a:rPr>
                        <a:t>3.</a:t>
                      </a:r>
                      <a:r>
                        <a:rPr lang="en-IN" altLang="en-US" sz="1600" dirty="0">
                          <a:solidFill>
                            <a:srgbClr val="000066"/>
                          </a:solidFill>
                          <a:latin typeface="Arial" panose="020B0604020202020204" pitchFamily="34" charset="0"/>
                          <a:cs typeface="Arial" panose="020B0604020202020204" pitchFamily="34" charset="0"/>
                        </a:rPr>
                        <a:t> Database schema development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a:solidFill>
                            <a:srgbClr val="000066"/>
                          </a:solidFill>
                          <a:latin typeface="Arial" panose="020B0604020202020204" pitchFamily="34" charset="0"/>
                          <a:cs typeface="Arial" panose="020B0604020202020204" pitchFamily="34" charset="0"/>
                        </a:rPr>
                        <a:t>Methodology-3: </a:t>
                      </a:r>
                      <a:r>
                        <a:rPr lang="en-IN" altLang="en-US" sz="1600" dirty="0">
                          <a:solidFill>
                            <a:srgbClr val="000066"/>
                          </a:solidFill>
                          <a:latin typeface="Arial" panose="020B0604020202020204" pitchFamily="34" charset="0"/>
                          <a:cs typeface="Arial" panose="020B0604020202020204" pitchFamily="34" charset="0"/>
                        </a:rPr>
                        <a:t>Deciding what and all columns required to be stored, normalising the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r>
                        <a:rPr lang="en-US" sz="1600" dirty="0">
                          <a:solidFill>
                            <a:srgbClr val="000066"/>
                          </a:solidFill>
                          <a:latin typeface="Arial" panose="020B0604020202020204" pitchFamily="34" charset="0"/>
                          <a:cs typeface="Arial" panose="020B0604020202020204" pitchFamily="34" charset="0"/>
                        </a:rPr>
                        <a:t>4.</a:t>
                      </a:r>
                      <a:r>
                        <a:rPr lang="en-IN" altLang="en-US" sz="1600" dirty="0">
                          <a:solidFill>
                            <a:srgbClr val="000066"/>
                          </a:solidFill>
                          <a:latin typeface="Arial" panose="020B0604020202020204" pitchFamily="34" charset="0"/>
                          <a:cs typeface="Arial" panose="020B0604020202020204" pitchFamily="34" charset="0"/>
                        </a:rPr>
                        <a:t> Query Processing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a:solidFill>
                            <a:srgbClr val="000066"/>
                          </a:solidFill>
                          <a:latin typeface="Arial" panose="020B0604020202020204" pitchFamily="34" charset="0"/>
                          <a:cs typeface="Arial" panose="020B0604020202020204" pitchFamily="34" charset="0"/>
                        </a:rPr>
                        <a:t>Methodology-4: </a:t>
                      </a:r>
                      <a:r>
                        <a:rPr lang="en-IN" altLang="en-US" sz="1600" dirty="0">
                          <a:solidFill>
                            <a:srgbClr val="000066"/>
                          </a:solidFill>
                          <a:latin typeface="Arial" panose="020B0604020202020204" pitchFamily="34" charset="0"/>
                          <a:cs typeface="Arial" panose="020B0604020202020204" pitchFamily="34" charset="0"/>
                        </a:rPr>
                        <a:t>D</a:t>
                      </a:r>
                      <a:r>
                        <a:rPr lang="en-IN" altLang="en-US" sz="1600" dirty="0">
                          <a:solidFill>
                            <a:srgbClr val="000066"/>
                          </a:solidFill>
                          <a:latin typeface="Arial" panose="020B0604020202020204" pitchFamily="34" charset="0"/>
                          <a:cs typeface="Arial" panose="020B0604020202020204" pitchFamily="34" charset="0"/>
                          <a:sym typeface="+mn-ea"/>
                        </a:rPr>
                        <a:t>eciding on which frameworks to work with, connecting database with an API.</a:t>
                      </a:r>
                      <a:endParaRPr lang="en-US" sz="1600" dirty="0">
                        <a:solidFill>
                          <a:srgbClr val="000066"/>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370840">
                <a:tc>
                  <a:txBody>
                    <a:bodyPr/>
                    <a:lstStyle/>
                    <a:p>
                      <a:r>
                        <a:rPr lang="en-US" sz="1600" dirty="0">
                          <a:solidFill>
                            <a:srgbClr val="000066"/>
                          </a:solidFill>
                          <a:latin typeface="Arial" panose="020B0604020202020204" pitchFamily="34" charset="0"/>
                          <a:cs typeface="Arial" panose="020B0604020202020204" pitchFamily="34" charset="0"/>
                        </a:rPr>
                        <a:t>5.</a:t>
                      </a:r>
                      <a:r>
                        <a:rPr lang="en-IN" altLang="en-US" sz="1600" dirty="0">
                          <a:solidFill>
                            <a:srgbClr val="000066"/>
                          </a:solidFill>
                          <a:latin typeface="Arial" panose="020B0604020202020204" pitchFamily="34" charset="0"/>
                          <a:cs typeface="Arial" panose="020B0604020202020204" pitchFamily="34" charset="0"/>
                        </a:rPr>
                        <a:t> </a:t>
                      </a:r>
                      <a:r>
                        <a:rPr lang="en-US" sz="1600" dirty="0">
                          <a:solidFill>
                            <a:srgbClr val="000066"/>
                          </a:solidFill>
                          <a:latin typeface="Arial" panose="020B0604020202020204" pitchFamily="34" charset="0"/>
                          <a:cs typeface="Arial" panose="020B0604020202020204" pitchFamily="34" charset="0"/>
                        </a:rPr>
                        <a:t>Authenticating Drug Usage with Blockchain validation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600" dirty="0">
                          <a:solidFill>
                            <a:srgbClr val="000066"/>
                          </a:solidFill>
                          <a:latin typeface="Arial" panose="020B0604020202020204" pitchFamily="34" charset="0"/>
                          <a:cs typeface="Arial" panose="020B0604020202020204" pitchFamily="34" charset="0"/>
                        </a:rPr>
                        <a:t>Methodology-5: </a:t>
                      </a:r>
                      <a:r>
                        <a:rPr lang="en-IN" altLang="en-US" sz="1600" dirty="0">
                          <a:solidFill>
                            <a:srgbClr val="000066"/>
                          </a:solidFill>
                          <a:latin typeface="Arial" panose="020B0604020202020204" pitchFamily="34" charset="0"/>
                          <a:cs typeface="Arial" panose="020B0604020202020204" pitchFamily="34" charset="0"/>
                        </a:rPr>
                        <a:t>Creating an application which does the authentification using blockchain technology.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566609" y="1052673"/>
            <a:ext cx="1663065" cy="398780"/>
          </a:xfrm>
          <a:prstGeom prst="rect">
            <a:avLst/>
          </a:prstGeom>
          <a:noFill/>
        </p:spPr>
        <p:txBody>
          <a:bodyPr wrap="none" rtlCol="0">
            <a:spAutoFit/>
          </a:bodyPr>
          <a:lstStyle/>
          <a:p>
            <a:r>
              <a:rPr lang="en-US" sz="2000" b="1" dirty="0">
                <a:solidFill>
                  <a:srgbClr val="660033"/>
                </a:solidFill>
                <a:latin typeface="Arial" panose="020B0604020202020204" pitchFamily="34" charset="0"/>
                <a:cs typeface="Arial" panose="020B0604020202020204" pitchFamily="34" charset="0"/>
              </a:rPr>
              <a:t>Description:</a:t>
            </a:r>
          </a:p>
        </p:txBody>
      </p:sp>
      <p:sp>
        <p:nvSpPr>
          <p:cNvPr id="7" name="Text Box 6"/>
          <p:cNvSpPr txBox="1"/>
          <p:nvPr/>
        </p:nvSpPr>
        <p:spPr>
          <a:xfrm>
            <a:off x="623570" y="1410970"/>
            <a:ext cx="10382250" cy="368300"/>
          </a:xfrm>
          <a:prstGeom prst="rect">
            <a:avLst/>
          </a:prstGeom>
          <a:noFill/>
        </p:spPr>
        <p:txBody>
          <a:bodyPr wrap="square" rtlCol="0">
            <a:spAutoFit/>
          </a:bodyPr>
          <a:lstStyle/>
          <a:p>
            <a:r>
              <a:rPr lang="en-IN" altLang="en-US">
                <a:solidFill>
                  <a:schemeClr val="bg2">
                    <a:lumMod val="25000"/>
                  </a:schemeClr>
                </a:solidFill>
              </a:rPr>
              <a:t>To develop an application for recommendation and authentic usage of drug using block chain validation.</a:t>
            </a:r>
          </a:p>
        </p:txBody>
      </p:sp>
      <p:sp>
        <p:nvSpPr>
          <p:cNvPr id="9" name="TextBox 4">
            <a:extLst>
              <a:ext uri="{FF2B5EF4-FFF2-40B4-BE49-F238E27FC236}">
                <a16:creationId xmlns:a16="http://schemas.microsoft.com/office/drawing/2014/main" id="{8199CD67-45DA-4EB0-9D71-C24FF01AFBCC}"/>
              </a:ext>
            </a:extLst>
          </p:cNvPr>
          <p:cNvSpPr txBox="1"/>
          <p:nvPr/>
        </p:nvSpPr>
        <p:spPr>
          <a:xfrm>
            <a:off x="5042622" y="6525344"/>
            <a:ext cx="2448106" cy="246221"/>
          </a:xfrm>
          <a:prstGeom prst="rect">
            <a:avLst/>
          </a:prstGeom>
          <a:noFill/>
        </p:spPr>
        <p:txBody>
          <a:bodyPr wrap="none" rtlCol="0">
            <a:spAutoFit/>
          </a:bodyPr>
          <a:lstStyle/>
          <a:p>
            <a:r>
              <a:rPr lang="en-US" sz="1000" b="1" dirty="0">
                <a:solidFill>
                  <a:srgbClr val="660033"/>
                </a:solidFill>
                <a:latin typeface="Arial" panose="020B0604020202020204" pitchFamily="34" charset="0"/>
                <a:cs typeface="Arial" panose="020B0604020202020204" pitchFamily="34" charset="0"/>
              </a:rPr>
              <a:t>INT 300 Internship II : Second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38062" y="476922"/>
            <a:ext cx="3515360" cy="521970"/>
          </a:xfrm>
          <a:prstGeom prst="rect">
            <a:avLst/>
          </a:prstGeom>
          <a:noFill/>
        </p:spPr>
        <p:txBody>
          <a:bodyPr wrap="none" rtlCol="0">
            <a:spAutoFit/>
          </a:bodyPr>
          <a:lstStyle/>
          <a:p>
            <a:pPr algn="ctr"/>
            <a:r>
              <a:rPr lang="en-US" sz="2800" b="1" dirty="0">
                <a:solidFill>
                  <a:srgbClr val="660033"/>
                </a:solidFill>
                <a:latin typeface="Arial" panose="020B0604020202020204" pitchFamily="34" charset="0"/>
                <a:cs typeface="Arial" panose="020B0604020202020204" pitchFamily="34" charset="0"/>
              </a:rPr>
              <a:t>METHODOLOGY - </a:t>
            </a:r>
            <a:r>
              <a:rPr lang="en-IN" altLang="en-US" sz="2800" b="1" dirty="0">
                <a:solidFill>
                  <a:srgbClr val="660033"/>
                </a:solidFill>
                <a:latin typeface="Arial" panose="020B0604020202020204" pitchFamily="34" charset="0"/>
                <a:cs typeface="Arial" panose="020B0604020202020204" pitchFamily="34" charset="0"/>
              </a:rPr>
              <a:t>2</a:t>
            </a:r>
            <a:endParaRPr lang="en-IN" alt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27 February 2022</a:t>
            </a: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t>6</a:t>
            </a:fld>
            <a:endParaRPr lang="en-US" sz="1000" b="1" dirty="0">
              <a:solidFill>
                <a:srgbClr val="660033"/>
              </a:solidFill>
              <a:latin typeface="Arial" panose="020B0604020202020204" pitchFamily="34" charset="0"/>
              <a:cs typeface="Arial" panose="020B0604020202020204" pitchFamily="34" charset="0"/>
            </a:endParaRPr>
          </a:p>
        </p:txBody>
      </p:sp>
      <p:sp>
        <p:nvSpPr>
          <p:cNvPr id="12" name="TextBox 11"/>
          <p:cNvSpPr txBox="1"/>
          <p:nvPr/>
        </p:nvSpPr>
        <p:spPr>
          <a:xfrm>
            <a:off x="850265" y="1268730"/>
            <a:ext cx="10491470" cy="1118870"/>
          </a:xfrm>
          <a:prstGeom prst="rect">
            <a:avLst/>
          </a:prstGeom>
          <a:noFill/>
        </p:spPr>
        <p:txBody>
          <a:bodyPr wrap="square" rtlCol="0">
            <a:spAutoFit/>
          </a:bodyPr>
          <a:lstStyle/>
          <a:p>
            <a:pPr algn="l"/>
            <a:r>
              <a:rPr lang="en-US" sz="2000" b="1" dirty="0">
                <a:solidFill>
                  <a:srgbClr val="660033"/>
                </a:solidFill>
                <a:latin typeface="Arial" panose="020B0604020202020204" pitchFamily="34" charset="0"/>
                <a:cs typeface="Arial" panose="020B0604020202020204" pitchFamily="34" charset="0"/>
              </a:rPr>
              <a:t>Description:</a:t>
            </a:r>
          </a:p>
          <a:p>
            <a:pPr algn="l">
              <a:lnSpc>
                <a:spcPct val="60000"/>
              </a:lnSpc>
            </a:pPr>
            <a:endParaRPr lang="en-IN" altLang="en-US" dirty="0">
              <a:solidFill>
                <a:srgbClr val="000066"/>
              </a:solidFill>
              <a:latin typeface="Arial" panose="020B0604020202020204" pitchFamily="34" charset="0"/>
              <a:cs typeface="Arial" panose="020B0604020202020204" pitchFamily="34" charset="0"/>
              <a:sym typeface="+mn-ea"/>
            </a:endParaRPr>
          </a:p>
          <a:p>
            <a:pPr algn="l"/>
            <a:r>
              <a:rPr lang="en-IN" altLang="en-US" dirty="0">
                <a:solidFill>
                  <a:srgbClr val="000066"/>
                </a:solidFill>
                <a:latin typeface="Arial" panose="020B0604020202020204" pitchFamily="34" charset="0"/>
                <a:cs typeface="Arial" panose="020B0604020202020204" pitchFamily="34" charset="0"/>
                <a:sym typeface="+mn-ea"/>
              </a:rPr>
              <a:t>Search and find the correct ML model to be used for the chosen dataset, split the data into test and train, fit the train data to model and predict for test data and check acuracy for the model.</a:t>
            </a:r>
            <a:endParaRPr lang="en-US" b="1" dirty="0">
              <a:solidFill>
                <a:srgbClr val="660033"/>
              </a:solidFill>
              <a:latin typeface="Arial" panose="020B0604020202020204" pitchFamily="34" charset="0"/>
              <a:cs typeface="Arial" panose="020B0604020202020204" pitchFamily="34" charset="0"/>
            </a:endParaRPr>
          </a:p>
        </p:txBody>
      </p:sp>
      <p:sp>
        <p:nvSpPr>
          <p:cNvPr id="6" name="TextBox 5"/>
          <p:cNvSpPr txBox="1"/>
          <p:nvPr/>
        </p:nvSpPr>
        <p:spPr>
          <a:xfrm>
            <a:off x="850454" y="2997463"/>
            <a:ext cx="2491105" cy="398780"/>
          </a:xfrm>
          <a:prstGeom prst="rect">
            <a:avLst/>
          </a:prstGeom>
          <a:noFill/>
        </p:spPr>
        <p:txBody>
          <a:bodyPr wrap="none" rtlCol="0">
            <a:spAutoFit/>
          </a:bodyPr>
          <a:lstStyle/>
          <a:p>
            <a:r>
              <a:rPr lang="en-US" sz="2000" b="1" dirty="0">
                <a:solidFill>
                  <a:srgbClr val="660033"/>
                </a:solidFill>
                <a:latin typeface="Arial" panose="020B0604020202020204" pitchFamily="34" charset="0"/>
                <a:cs typeface="Arial" panose="020B0604020202020204" pitchFamily="34" charset="0"/>
              </a:rPr>
              <a:t>Workflow Diagram:</a:t>
            </a:r>
          </a:p>
        </p:txBody>
      </p:sp>
      <p:sp>
        <p:nvSpPr>
          <p:cNvPr id="8" name="Rectangle 6"/>
          <p:cNvSpPr/>
          <p:nvPr/>
        </p:nvSpPr>
        <p:spPr>
          <a:xfrm>
            <a:off x="1398585" y="5083331"/>
            <a:ext cx="1656303" cy="11912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dirty="0"/>
              <a:t>Recommending drugs based on the given condition</a:t>
            </a:r>
          </a:p>
        </p:txBody>
      </p:sp>
      <p:sp>
        <p:nvSpPr>
          <p:cNvPr id="13" name="Rectangle 8"/>
          <p:cNvSpPr/>
          <p:nvPr/>
        </p:nvSpPr>
        <p:spPr>
          <a:xfrm>
            <a:off x="4155357" y="5127884"/>
            <a:ext cx="1656303" cy="1111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dirty="0"/>
              <a:t>Predict the output using ensembled model </a:t>
            </a:r>
          </a:p>
        </p:txBody>
      </p:sp>
      <p:sp>
        <p:nvSpPr>
          <p:cNvPr id="14" name="Rectangle 9"/>
          <p:cNvSpPr/>
          <p:nvPr/>
        </p:nvSpPr>
        <p:spPr>
          <a:xfrm>
            <a:off x="6695445" y="5120780"/>
            <a:ext cx="1449913" cy="11163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dirty="0"/>
              <a:t>Ensemble the models into a single one.</a:t>
            </a:r>
          </a:p>
        </p:txBody>
      </p:sp>
      <p:sp>
        <p:nvSpPr>
          <p:cNvPr id="15" name="Rectangle 10"/>
          <p:cNvSpPr/>
          <p:nvPr/>
        </p:nvSpPr>
        <p:spPr>
          <a:xfrm>
            <a:off x="9132441" y="5174754"/>
            <a:ext cx="1449705" cy="1008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dirty="0">
                <a:sym typeface="+mn-ea"/>
              </a:rPr>
              <a:t>Fitting Data into different models</a:t>
            </a:r>
            <a:endParaRPr lang="en-IN" altLang="en-US" dirty="0"/>
          </a:p>
        </p:txBody>
      </p:sp>
      <p:cxnSp>
        <p:nvCxnSpPr>
          <p:cNvPr id="16" name="Straight Arrow Connector 15"/>
          <p:cNvCxnSpPr>
            <a:cxnSpLocks/>
            <a:stCxn id="13" idx="1"/>
            <a:endCxn id="8" idx="3"/>
          </p:cNvCxnSpPr>
          <p:nvPr/>
        </p:nvCxnSpPr>
        <p:spPr>
          <a:xfrm flipH="1" flipV="1">
            <a:off x="3054888" y="5678944"/>
            <a:ext cx="1100469" cy="4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cxnSpLocks/>
            <a:stCxn id="14" idx="1"/>
            <a:endCxn id="13" idx="3"/>
          </p:cNvCxnSpPr>
          <p:nvPr/>
        </p:nvCxnSpPr>
        <p:spPr>
          <a:xfrm flipH="1">
            <a:off x="5811660" y="5678944"/>
            <a:ext cx="883785" cy="46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cxnSpLocks/>
            <a:stCxn id="15" idx="1"/>
            <a:endCxn id="14" idx="3"/>
          </p:cNvCxnSpPr>
          <p:nvPr/>
        </p:nvCxnSpPr>
        <p:spPr>
          <a:xfrm flipH="1">
            <a:off x="8145358" y="5678944"/>
            <a:ext cx="987083"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TextBox 4">
            <a:extLst>
              <a:ext uri="{FF2B5EF4-FFF2-40B4-BE49-F238E27FC236}">
                <a16:creationId xmlns:a16="http://schemas.microsoft.com/office/drawing/2014/main" id="{6A352F65-A838-44B5-A44D-88A7FE81FF4D}"/>
              </a:ext>
            </a:extLst>
          </p:cNvPr>
          <p:cNvSpPr txBox="1"/>
          <p:nvPr/>
        </p:nvSpPr>
        <p:spPr>
          <a:xfrm>
            <a:off x="5042622" y="6525344"/>
            <a:ext cx="2448106" cy="246221"/>
          </a:xfrm>
          <a:prstGeom prst="rect">
            <a:avLst/>
          </a:prstGeom>
          <a:noFill/>
        </p:spPr>
        <p:txBody>
          <a:bodyPr wrap="none" rtlCol="0">
            <a:spAutoFit/>
          </a:bodyPr>
          <a:lstStyle/>
          <a:p>
            <a:r>
              <a:rPr lang="en-US" sz="1000" b="1" dirty="0">
                <a:solidFill>
                  <a:srgbClr val="660033"/>
                </a:solidFill>
                <a:latin typeface="Arial" panose="020B0604020202020204" pitchFamily="34" charset="0"/>
                <a:cs typeface="Arial" panose="020B0604020202020204" pitchFamily="34" charset="0"/>
              </a:rPr>
              <a:t>INT 300 Internship II : Second Review</a:t>
            </a:r>
          </a:p>
        </p:txBody>
      </p:sp>
      <p:sp>
        <p:nvSpPr>
          <p:cNvPr id="24" name="Rectangle 23">
            <a:extLst>
              <a:ext uri="{FF2B5EF4-FFF2-40B4-BE49-F238E27FC236}">
                <a16:creationId xmlns:a16="http://schemas.microsoft.com/office/drawing/2014/main" id="{140702E0-E286-45A4-BE87-EA80E4982A2E}"/>
              </a:ext>
            </a:extLst>
          </p:cNvPr>
          <p:cNvSpPr/>
          <p:nvPr/>
        </p:nvSpPr>
        <p:spPr>
          <a:xfrm>
            <a:off x="1631504" y="3628720"/>
            <a:ext cx="1334661"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dirty="0"/>
              <a:t>Collecting Dataset</a:t>
            </a:r>
          </a:p>
        </p:txBody>
      </p:sp>
      <p:sp>
        <p:nvSpPr>
          <p:cNvPr id="25" name="Rectangle 24">
            <a:extLst>
              <a:ext uri="{FF2B5EF4-FFF2-40B4-BE49-F238E27FC236}">
                <a16:creationId xmlns:a16="http://schemas.microsoft.com/office/drawing/2014/main" id="{FDF26A86-B411-4546-BE61-6F39683EAFA9}"/>
              </a:ext>
            </a:extLst>
          </p:cNvPr>
          <p:cNvSpPr/>
          <p:nvPr/>
        </p:nvSpPr>
        <p:spPr>
          <a:xfrm>
            <a:off x="4316177" y="3631135"/>
            <a:ext cx="1334661"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dirty="0"/>
              <a:t>Cleaning the Dataset</a:t>
            </a:r>
          </a:p>
        </p:txBody>
      </p:sp>
      <p:sp>
        <p:nvSpPr>
          <p:cNvPr id="26" name="Rectangle 25">
            <a:extLst>
              <a:ext uri="{FF2B5EF4-FFF2-40B4-BE49-F238E27FC236}">
                <a16:creationId xmlns:a16="http://schemas.microsoft.com/office/drawing/2014/main" id="{0723F18B-8796-4347-99EB-1B66391BF18D}"/>
              </a:ext>
            </a:extLst>
          </p:cNvPr>
          <p:cNvSpPr/>
          <p:nvPr/>
        </p:nvSpPr>
        <p:spPr>
          <a:xfrm>
            <a:off x="6792198" y="3631032"/>
            <a:ext cx="1334661" cy="10081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dirty="0"/>
              <a:t>Munging the dataset</a:t>
            </a:r>
          </a:p>
        </p:txBody>
      </p:sp>
      <p:sp>
        <p:nvSpPr>
          <p:cNvPr id="27" name="Rectangle 26">
            <a:extLst>
              <a:ext uri="{FF2B5EF4-FFF2-40B4-BE49-F238E27FC236}">
                <a16:creationId xmlns:a16="http://schemas.microsoft.com/office/drawing/2014/main" id="{906B8741-A34B-4D31-8D78-77A9DB4B97FD}"/>
              </a:ext>
            </a:extLst>
          </p:cNvPr>
          <p:cNvSpPr/>
          <p:nvPr/>
        </p:nvSpPr>
        <p:spPr>
          <a:xfrm>
            <a:off x="9132441" y="3631393"/>
            <a:ext cx="1449705" cy="1008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ltLang="en-US" dirty="0">
                <a:sym typeface="+mn-ea"/>
              </a:rPr>
              <a:t>Splitting data into train and test</a:t>
            </a:r>
            <a:endParaRPr lang="en-IN" altLang="en-US" dirty="0"/>
          </a:p>
        </p:txBody>
      </p:sp>
      <p:cxnSp>
        <p:nvCxnSpPr>
          <p:cNvPr id="28" name="Straight Arrow Connector 27">
            <a:extLst>
              <a:ext uri="{FF2B5EF4-FFF2-40B4-BE49-F238E27FC236}">
                <a16:creationId xmlns:a16="http://schemas.microsoft.com/office/drawing/2014/main" id="{7034C9CE-52A6-48B9-9F48-D0C1106D588A}"/>
              </a:ext>
            </a:extLst>
          </p:cNvPr>
          <p:cNvCxnSpPr>
            <a:cxnSpLocks/>
            <a:stCxn id="24" idx="3"/>
            <a:endCxn id="25" idx="1"/>
          </p:cNvCxnSpPr>
          <p:nvPr/>
        </p:nvCxnSpPr>
        <p:spPr>
          <a:xfrm>
            <a:off x="2966165" y="4132776"/>
            <a:ext cx="1350012" cy="24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373F86B-D1C9-465F-9144-87DB13BB2DEA}"/>
              </a:ext>
            </a:extLst>
          </p:cNvPr>
          <p:cNvCxnSpPr>
            <a:cxnSpLocks/>
            <a:stCxn id="25" idx="3"/>
            <a:endCxn id="26" idx="1"/>
          </p:cNvCxnSpPr>
          <p:nvPr/>
        </p:nvCxnSpPr>
        <p:spPr>
          <a:xfrm flipV="1">
            <a:off x="5650838" y="4135088"/>
            <a:ext cx="1141360" cy="1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7B277CA0-F160-4FC3-885A-135E92471906}"/>
              </a:ext>
            </a:extLst>
          </p:cNvPr>
          <p:cNvCxnSpPr>
            <a:cxnSpLocks/>
            <a:stCxn id="26" idx="3"/>
            <a:endCxn id="27" idx="1"/>
          </p:cNvCxnSpPr>
          <p:nvPr/>
        </p:nvCxnSpPr>
        <p:spPr>
          <a:xfrm>
            <a:off x="8127236" y="4134948"/>
            <a:ext cx="1005205" cy="63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02A0D87-BEE8-4867-8FAF-E6545E609403}"/>
              </a:ext>
            </a:extLst>
          </p:cNvPr>
          <p:cNvCxnSpPr>
            <a:cxnSpLocks/>
            <a:stCxn id="27" idx="2"/>
            <a:endCxn id="15" idx="0"/>
          </p:cNvCxnSpPr>
          <p:nvPr/>
        </p:nvCxnSpPr>
        <p:spPr>
          <a:xfrm>
            <a:off x="9857294" y="4639773"/>
            <a:ext cx="0" cy="53498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26029" y="405167"/>
            <a:ext cx="3139440" cy="521970"/>
          </a:xfrm>
          <a:prstGeom prst="rect">
            <a:avLst/>
          </a:prstGeom>
          <a:noFill/>
        </p:spPr>
        <p:txBody>
          <a:bodyPr wrap="none" rtlCol="0">
            <a:spAutoFit/>
          </a:bodyPr>
          <a:lstStyle/>
          <a:p>
            <a:pPr algn="ctr"/>
            <a:r>
              <a:rPr lang="en-US" sz="2800" b="1" dirty="0">
                <a:solidFill>
                  <a:srgbClr val="660033"/>
                </a:solidFill>
                <a:latin typeface="Arial" panose="020B0604020202020204" pitchFamily="34" charset="0"/>
                <a:cs typeface="Arial" panose="020B0604020202020204" pitchFamily="34" charset="0"/>
                <a:sym typeface="+mn-ea"/>
              </a:rPr>
              <a:t>Progress of Work</a:t>
            </a:r>
            <a:endParaRPr lang="en-US" sz="28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27 February 2022</a:t>
            </a:r>
          </a:p>
        </p:txBody>
      </p:sp>
      <p:sp>
        <p:nvSpPr>
          <p:cNvPr id="4" name="Slide Number Placeholder 3"/>
          <p:cNvSpPr txBox="1"/>
          <p:nvPr/>
        </p:nvSpPr>
        <p:spPr>
          <a:xfrm>
            <a:off x="11784330" y="6517640"/>
            <a:ext cx="259715" cy="27495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t>7</a:t>
            </a:fld>
            <a:endParaRPr lang="en-US" sz="1000" b="1" dirty="0">
              <a:solidFill>
                <a:srgbClr val="660033"/>
              </a:solidFill>
              <a:latin typeface="Arial" panose="020B0604020202020204" pitchFamily="34" charset="0"/>
              <a:cs typeface="Arial" panose="020B0604020202020204" pitchFamily="34" charset="0"/>
            </a:endParaRPr>
          </a:p>
        </p:txBody>
      </p:sp>
      <p:sp>
        <p:nvSpPr>
          <p:cNvPr id="12" name="TextBox 11"/>
          <p:cNvSpPr txBox="1"/>
          <p:nvPr/>
        </p:nvSpPr>
        <p:spPr>
          <a:xfrm>
            <a:off x="1127314" y="1268573"/>
            <a:ext cx="2070735" cy="368300"/>
          </a:xfrm>
          <a:prstGeom prst="rect">
            <a:avLst/>
          </a:prstGeom>
          <a:noFill/>
        </p:spPr>
        <p:txBody>
          <a:bodyPr wrap="none" rtlCol="0">
            <a:spAutoFit/>
          </a:bodyPr>
          <a:lstStyle/>
          <a:p>
            <a:r>
              <a:rPr lang="en-US" b="1" dirty="0">
                <a:solidFill>
                  <a:srgbClr val="660033"/>
                </a:solidFill>
                <a:latin typeface="Arial" panose="020B0604020202020204" pitchFamily="34" charset="0"/>
                <a:cs typeface="Arial" panose="020B0604020202020204" pitchFamily="34" charset="0"/>
              </a:rPr>
              <a:t>Task Completed:</a:t>
            </a:r>
            <a:r>
              <a:rPr lang="en-IN" altLang="en-US" dirty="0">
                <a:solidFill>
                  <a:srgbClr val="660033"/>
                </a:solidFill>
                <a:latin typeface="Arial" panose="020B0604020202020204" pitchFamily="34" charset="0"/>
                <a:cs typeface="Arial" panose="020B0604020202020204" pitchFamily="34" charset="0"/>
              </a:rPr>
              <a:t> </a:t>
            </a:r>
          </a:p>
        </p:txBody>
      </p:sp>
      <p:sp>
        <p:nvSpPr>
          <p:cNvPr id="6" name="TextBox 5"/>
          <p:cNvSpPr txBox="1"/>
          <p:nvPr/>
        </p:nvSpPr>
        <p:spPr>
          <a:xfrm>
            <a:off x="1127314" y="3721963"/>
            <a:ext cx="1511935" cy="368300"/>
          </a:xfrm>
          <a:prstGeom prst="rect">
            <a:avLst/>
          </a:prstGeom>
          <a:noFill/>
        </p:spPr>
        <p:txBody>
          <a:bodyPr wrap="none" rtlCol="0">
            <a:spAutoFit/>
          </a:bodyPr>
          <a:lstStyle/>
          <a:p>
            <a:r>
              <a:rPr lang="en-IN" altLang="en-US" b="1" dirty="0">
                <a:solidFill>
                  <a:srgbClr val="660033"/>
                </a:solidFill>
                <a:latin typeface="Arial" panose="020B0604020202020204" pitchFamily="34" charset="0"/>
                <a:cs typeface="Arial" panose="020B0604020202020204" pitchFamily="34" charset="0"/>
              </a:rPr>
              <a:t>Yet To Start</a:t>
            </a:r>
            <a:r>
              <a:rPr lang="en-US" b="1" dirty="0">
                <a:solidFill>
                  <a:srgbClr val="660033"/>
                </a:solidFill>
                <a:latin typeface="Arial" panose="020B0604020202020204" pitchFamily="34" charset="0"/>
                <a:cs typeface="Arial" panose="020B0604020202020204" pitchFamily="34" charset="0"/>
              </a:rPr>
              <a:t>:</a:t>
            </a:r>
          </a:p>
        </p:txBody>
      </p:sp>
      <p:sp>
        <p:nvSpPr>
          <p:cNvPr id="7" name="Text Box 6"/>
          <p:cNvSpPr txBox="1"/>
          <p:nvPr/>
        </p:nvSpPr>
        <p:spPr>
          <a:xfrm>
            <a:off x="1343660" y="1772920"/>
            <a:ext cx="4929505" cy="1569660"/>
          </a:xfrm>
          <a:prstGeom prst="rect">
            <a:avLst/>
          </a:prstGeom>
          <a:noFill/>
        </p:spPr>
        <p:txBody>
          <a:bodyPr wrap="square" rtlCol="0">
            <a:spAutoFit/>
          </a:bodyPr>
          <a:lstStyle/>
          <a:p>
            <a:pPr marL="342900" indent="-342900">
              <a:buFont typeface="Arial" panose="020B0604020202020204" pitchFamily="34" charset="0"/>
              <a:buChar char="•"/>
            </a:pPr>
            <a:r>
              <a:rPr lang="en-IN" altLang="en-US" sz="1600" dirty="0">
                <a:solidFill>
                  <a:srgbClr val="000066"/>
                </a:solidFill>
                <a:latin typeface="Arial" panose="020B0604020202020204" pitchFamily="34" charset="0"/>
                <a:sym typeface="+mn-ea"/>
              </a:rPr>
              <a:t>Dataset Analysis of different drug datasets</a:t>
            </a:r>
          </a:p>
          <a:p>
            <a:pPr marL="342900" indent="-342900">
              <a:buFont typeface="Arial" panose="020B0604020202020204" pitchFamily="34" charset="0"/>
              <a:buChar char="•"/>
            </a:pPr>
            <a:endParaRPr lang="en-IN" altLang="en-US" sz="1600" dirty="0">
              <a:solidFill>
                <a:srgbClr val="000066"/>
              </a:solidFill>
              <a:latin typeface="Arial" panose="020B0604020202020204" pitchFamily="34" charset="0"/>
              <a:sym typeface="+mn-ea"/>
            </a:endParaRPr>
          </a:p>
          <a:p>
            <a:pPr marL="342900" indent="-342900">
              <a:buFont typeface="Arial" panose="020B0604020202020204" pitchFamily="34" charset="0"/>
              <a:buChar char="•"/>
            </a:pPr>
            <a:r>
              <a:rPr lang="en-IN" altLang="en-US" sz="1600" dirty="0">
                <a:solidFill>
                  <a:srgbClr val="000066"/>
                </a:solidFill>
                <a:latin typeface="Arial" panose="020B0604020202020204" pitchFamily="34" charset="0"/>
                <a:sym typeface="+mn-ea"/>
              </a:rPr>
              <a:t>Machine learning model for drug recommendation system</a:t>
            </a:r>
          </a:p>
          <a:p>
            <a:pPr marL="285750" indent="-285750">
              <a:buFont typeface="Arial" panose="020B0604020202020204" pitchFamily="34" charset="0"/>
              <a:buChar char="•"/>
            </a:pPr>
            <a:endParaRPr lang="en-IN" altLang="en-US" sz="1600" dirty="0">
              <a:solidFill>
                <a:srgbClr val="000066"/>
              </a:solidFill>
              <a:latin typeface="Arial" panose="020B0604020202020204" pitchFamily="34" charset="0"/>
              <a:cs typeface="Arial" panose="020B0604020202020204" pitchFamily="34" charset="0"/>
              <a:sym typeface="+mn-ea"/>
            </a:endParaRPr>
          </a:p>
          <a:p>
            <a:pPr marL="342900" indent="-342900">
              <a:buFont typeface="Arial" panose="020B0604020202020204" pitchFamily="34" charset="0"/>
              <a:buChar char="•"/>
            </a:pPr>
            <a:r>
              <a:rPr lang="en-IN" altLang="en-US" sz="1600" dirty="0">
                <a:solidFill>
                  <a:srgbClr val="000066"/>
                </a:solidFill>
                <a:latin typeface="Arial" panose="020B0604020202020204" pitchFamily="34" charset="0"/>
                <a:cs typeface="Arial" panose="020B0604020202020204" pitchFamily="34" charset="0"/>
                <a:sym typeface="+mn-ea"/>
              </a:rPr>
              <a:t>Basic blockchain creation</a:t>
            </a:r>
            <a:endParaRPr lang="en-IN" altLang="en-US" sz="1600" dirty="0">
              <a:solidFill>
                <a:srgbClr val="000066"/>
              </a:solidFill>
              <a:latin typeface="Arial" panose="020B0604020202020204" pitchFamily="34" charset="0"/>
              <a:sym typeface="+mn-ea"/>
            </a:endParaRPr>
          </a:p>
        </p:txBody>
      </p:sp>
      <p:sp>
        <p:nvSpPr>
          <p:cNvPr id="8" name="Text Box 7"/>
          <p:cNvSpPr txBox="1"/>
          <p:nvPr/>
        </p:nvSpPr>
        <p:spPr>
          <a:xfrm>
            <a:off x="1343660" y="4221088"/>
            <a:ext cx="4930140" cy="2037481"/>
          </a:xfrm>
          <a:prstGeom prst="rect">
            <a:avLst/>
          </a:prstGeom>
          <a:noFill/>
        </p:spPr>
        <p:txBody>
          <a:bodyPr wrap="square" rtlCol="0">
            <a:spAutoFit/>
          </a:bodyPr>
          <a:lstStyle/>
          <a:p>
            <a:pPr marL="285750" indent="-285750">
              <a:buFont typeface="Arial" panose="020B0604020202020204" pitchFamily="34" charset="0"/>
              <a:buChar char="•"/>
            </a:pPr>
            <a:r>
              <a:rPr lang="en-IN" altLang="en-US" sz="1600" dirty="0">
                <a:solidFill>
                  <a:srgbClr val="000066"/>
                </a:solidFill>
                <a:latin typeface="Arial" panose="020B0604020202020204" pitchFamily="34" charset="0"/>
                <a:cs typeface="Arial" panose="020B0604020202020204" pitchFamily="34" charset="0"/>
                <a:sym typeface="+mn-ea"/>
              </a:rPr>
              <a:t>Database schema development</a:t>
            </a:r>
          </a:p>
          <a:p>
            <a:pPr marL="285750" indent="-285750">
              <a:buFont typeface="Arial" panose="020B0604020202020204" pitchFamily="34" charset="0"/>
              <a:buChar char="•"/>
            </a:pPr>
            <a:endParaRPr lang="en-US" sz="1600" dirty="0">
              <a:solidFill>
                <a:srgbClr val="000066"/>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pPr>
            <a:r>
              <a:rPr lang="en-IN" altLang="en-US" sz="1600" dirty="0">
                <a:solidFill>
                  <a:srgbClr val="000066"/>
                </a:solidFill>
                <a:latin typeface="Arial" panose="020B0604020202020204" pitchFamily="34" charset="0"/>
                <a:cs typeface="Arial" panose="020B0604020202020204" pitchFamily="34" charset="0"/>
                <a:sym typeface="+mn-ea"/>
              </a:rPr>
              <a:t>Query Processing</a:t>
            </a:r>
          </a:p>
          <a:p>
            <a:pPr marR="0" algn="l" defTabSz="914400" rtl="0" eaLnBrk="1" fontAlgn="auto" latinLnBrk="0" hangingPunct="1">
              <a:lnSpc>
                <a:spcPct val="90000"/>
              </a:lnSpc>
              <a:spcBef>
                <a:spcPts val="0"/>
              </a:spcBef>
              <a:spcAft>
                <a:spcPts val="0"/>
              </a:spcAft>
              <a:buClrTx/>
              <a:buSzTx/>
              <a:defRPr/>
            </a:pPr>
            <a:endParaRPr lang="en-IN" altLang="en-US" sz="1600" dirty="0">
              <a:solidFill>
                <a:srgbClr val="000066"/>
              </a:solidFill>
              <a:latin typeface="Arial" panose="020B0604020202020204" pitchFamily="34" charset="0"/>
              <a:sym typeface="+mn-ea"/>
            </a:endParaRP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lang="en-US" sz="1600" dirty="0">
                <a:solidFill>
                  <a:srgbClr val="000066"/>
                </a:solidFill>
                <a:latin typeface="Arial" panose="020B0604020202020204" pitchFamily="34" charset="0"/>
                <a:cs typeface="Arial" panose="020B0604020202020204" pitchFamily="34" charset="0"/>
                <a:sym typeface="+mn-ea"/>
              </a:rPr>
              <a:t>Authenticating Drug Usage with Blockchain validation</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endParaRPr lang="en-US" sz="1600" dirty="0">
              <a:solidFill>
                <a:srgbClr val="000066"/>
              </a:solidFill>
              <a:latin typeface="Arial" panose="020B0604020202020204" pitchFamily="34" charset="0"/>
              <a:cs typeface="Arial" panose="020B0604020202020204" pitchFamily="34" charset="0"/>
              <a:sym typeface="+mn-ea"/>
            </a:endParaRPr>
          </a:p>
          <a:p>
            <a:pPr marL="285750" indent="-285750">
              <a:buFont typeface="Arial" panose="020B0604020202020204" pitchFamily="34" charset="0"/>
              <a:buChar char="•"/>
              <a:defRPr/>
            </a:pPr>
            <a:r>
              <a:rPr lang="en-IN" altLang="en-US" sz="1600" dirty="0">
                <a:solidFill>
                  <a:srgbClr val="000066"/>
                </a:solidFill>
                <a:latin typeface="Arial" panose="020B0604020202020204" pitchFamily="34" charset="0"/>
                <a:cs typeface="Arial" panose="020B0604020202020204" pitchFamily="34" charset="0"/>
                <a:sym typeface="+mn-ea"/>
              </a:rPr>
              <a:t>Webpage creation and deployment</a:t>
            </a:r>
          </a:p>
        </p:txBody>
      </p:sp>
      <p:sp>
        <p:nvSpPr>
          <p:cNvPr id="10" name="TextBox 4">
            <a:extLst>
              <a:ext uri="{FF2B5EF4-FFF2-40B4-BE49-F238E27FC236}">
                <a16:creationId xmlns:a16="http://schemas.microsoft.com/office/drawing/2014/main" id="{265BEB94-6F88-4CB8-A065-4C6F7A560005}"/>
              </a:ext>
            </a:extLst>
          </p:cNvPr>
          <p:cNvSpPr txBox="1"/>
          <p:nvPr/>
        </p:nvSpPr>
        <p:spPr>
          <a:xfrm>
            <a:off x="5042622" y="6525344"/>
            <a:ext cx="2448106" cy="246221"/>
          </a:xfrm>
          <a:prstGeom prst="rect">
            <a:avLst/>
          </a:prstGeom>
          <a:noFill/>
        </p:spPr>
        <p:txBody>
          <a:bodyPr wrap="none" rtlCol="0">
            <a:spAutoFit/>
          </a:bodyPr>
          <a:lstStyle/>
          <a:p>
            <a:r>
              <a:rPr lang="en-US" sz="1000" b="1" dirty="0">
                <a:solidFill>
                  <a:srgbClr val="660033"/>
                </a:solidFill>
                <a:latin typeface="Arial" panose="020B0604020202020204" pitchFamily="34" charset="0"/>
                <a:cs typeface="Arial" panose="020B0604020202020204" pitchFamily="34" charset="0"/>
              </a:rPr>
              <a:t>INT 300 Internship II : Second Review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17085" y="764540"/>
            <a:ext cx="2957830" cy="583565"/>
          </a:xfrm>
          <a:prstGeom prst="rect">
            <a:avLst/>
          </a:prstGeom>
          <a:noFill/>
        </p:spPr>
        <p:txBody>
          <a:bodyPr wrap="square" rtlCol="0">
            <a:spAutoFit/>
          </a:bodyPr>
          <a:lstStyle/>
          <a:p>
            <a:pPr algn="ctr"/>
            <a:r>
              <a:rPr lang="en-US" sz="3200" b="1" dirty="0">
                <a:solidFill>
                  <a:srgbClr val="660033"/>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TIMELINE</a:t>
            </a:r>
          </a:p>
        </p:txBody>
      </p:sp>
      <p:sp>
        <p:nvSpPr>
          <p:cNvPr id="3"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FF9292E-FBD5-4364-9F85-3FD1AA5E5C3A}" type="datetime3">
              <a:rPr lang="en-IN" altLang="en-US" sz="1000" b="1" smtClean="0">
                <a:solidFill>
                  <a:srgbClr val="660033"/>
                </a:solidFill>
                <a:latin typeface="Arial" panose="020B0604020202020204" pitchFamily="34" charset="0"/>
                <a:cs typeface="Arial" panose="020B0604020202020204" pitchFamily="34" charset="0"/>
              </a:rPr>
              <a:t>27 February 2022</a:t>
            </a:fld>
            <a:endParaRPr lang="en-US" sz="1000" b="1" dirty="0">
              <a:solidFill>
                <a:srgbClr val="660033"/>
              </a:solidFill>
              <a:latin typeface="Arial" panose="020B0604020202020204" pitchFamily="34" charset="0"/>
              <a:cs typeface="Arial" panose="020B0604020202020204" pitchFamily="34" charset="0"/>
            </a:endParaRPr>
          </a:p>
        </p:txBody>
      </p:sp>
      <p:sp>
        <p:nvSpPr>
          <p:cNvPr id="4"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t>8</a:t>
            </a:fld>
            <a:endParaRPr lang="en-US" sz="1000" b="1" dirty="0">
              <a:solidFill>
                <a:srgbClr val="660033"/>
              </a:solidFill>
              <a:latin typeface="Arial" panose="020B0604020202020204" pitchFamily="34" charset="0"/>
              <a:cs typeface="Arial" panose="020B0604020202020204" pitchFamily="34" charset="0"/>
            </a:endParaRPr>
          </a:p>
        </p:txBody>
      </p:sp>
      <p:graphicFrame>
        <p:nvGraphicFramePr>
          <p:cNvPr id="7" name="Table 6"/>
          <p:cNvGraphicFramePr/>
          <p:nvPr>
            <p:extLst>
              <p:ext uri="{D42A27DB-BD31-4B8C-83A1-F6EECF244321}">
                <p14:modId xmlns:p14="http://schemas.microsoft.com/office/powerpoint/2010/main" val="3295600550"/>
              </p:ext>
            </p:extLst>
          </p:nvPr>
        </p:nvGraphicFramePr>
        <p:xfrm>
          <a:off x="1656080" y="1700530"/>
          <a:ext cx="8879840" cy="3600679"/>
        </p:xfrm>
        <a:graphic>
          <a:graphicData uri="http://schemas.openxmlformats.org/drawingml/2006/table">
            <a:tbl>
              <a:tblPr firstRow="1" bandRow="1">
                <a:tableStyleId>{5C22544A-7EE6-4342-B048-85BDC9FD1C3A}</a:tableStyleId>
              </a:tblPr>
              <a:tblGrid>
                <a:gridCol w="4266565">
                  <a:extLst>
                    <a:ext uri="{9D8B030D-6E8A-4147-A177-3AD203B41FA5}">
                      <a16:colId xmlns:a16="http://schemas.microsoft.com/office/drawing/2014/main" val="20000"/>
                    </a:ext>
                  </a:extLst>
                </a:gridCol>
                <a:gridCol w="4613275">
                  <a:extLst>
                    <a:ext uri="{9D8B030D-6E8A-4147-A177-3AD203B41FA5}">
                      <a16:colId xmlns:a16="http://schemas.microsoft.com/office/drawing/2014/main" val="20001"/>
                    </a:ext>
                  </a:extLst>
                </a:gridCol>
              </a:tblGrid>
              <a:tr h="727489">
                <a:tc>
                  <a:txBody>
                    <a:bodyPr/>
                    <a:lstStyle/>
                    <a:p>
                      <a:pPr algn="ctr">
                        <a:buNone/>
                      </a:pPr>
                      <a:r>
                        <a:rPr lang="en-IN" altLang="en-US" sz="2400" dirty="0"/>
                        <a:t>Start Date (Time period)</a:t>
                      </a:r>
                    </a:p>
                  </a:txBody>
                  <a:tcPr anchor="ctr"/>
                </a:tc>
                <a:tc>
                  <a:txBody>
                    <a:bodyPr/>
                    <a:lstStyle/>
                    <a:p>
                      <a:pPr algn="ctr">
                        <a:buNone/>
                      </a:pPr>
                      <a:r>
                        <a:rPr lang="en-IN" altLang="en-US" sz="2400" dirty="0"/>
                        <a:t>Work Done</a:t>
                      </a:r>
                    </a:p>
                  </a:txBody>
                  <a:tcPr anchor="ctr"/>
                </a:tc>
                <a:extLst>
                  <a:ext uri="{0D108BD9-81ED-4DB2-BD59-A6C34878D82A}">
                    <a16:rowId xmlns:a16="http://schemas.microsoft.com/office/drawing/2014/main" val="10000"/>
                  </a:ext>
                </a:extLst>
              </a:tr>
              <a:tr h="801378">
                <a:tc>
                  <a:txBody>
                    <a:bodyPr/>
                    <a:lstStyle/>
                    <a:p>
                      <a:pPr>
                        <a:buNone/>
                      </a:pP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rPr>
                        <a:t>4th </a:t>
                      </a: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sym typeface="+mn-ea"/>
                        </a:rPr>
                        <a:t>February</a:t>
                      </a: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rPr>
                        <a:t>, 2022 ( 5 days)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rPr>
                        <a:t>Learning Python modules related to Machine Learning </a:t>
                      </a:r>
                    </a:p>
                  </a:txBody>
                  <a:tcPr anchor="ctr"/>
                </a:tc>
                <a:extLst>
                  <a:ext uri="{0D108BD9-81ED-4DB2-BD59-A6C34878D82A}">
                    <a16:rowId xmlns:a16="http://schemas.microsoft.com/office/drawing/2014/main" val="10001"/>
                  </a:ext>
                </a:extLst>
              </a:tr>
              <a:tr h="945535">
                <a:tc>
                  <a:txBody>
                    <a:bodyPr/>
                    <a:lstStyle/>
                    <a:p>
                      <a:pPr>
                        <a:buNone/>
                      </a:pP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rPr>
                        <a:t>10th </a:t>
                      </a: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sym typeface="+mn-ea"/>
                        </a:rPr>
                        <a:t>February, 2022  (7 days)</a:t>
                      </a:r>
                    </a:p>
                  </a:txBody>
                  <a:tcPr anchor="ctr"/>
                </a:tc>
                <a:tc>
                  <a:txBody>
                    <a:bodyPr/>
                    <a:lstStyle/>
                    <a:p>
                      <a:pPr>
                        <a:buNone/>
                      </a:pP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rPr>
                        <a:t>Making the Machine Learning model</a:t>
                      </a:r>
                    </a:p>
                  </a:txBody>
                  <a:tcPr anchor="ctr"/>
                </a:tc>
                <a:extLst>
                  <a:ext uri="{0D108BD9-81ED-4DB2-BD59-A6C34878D82A}">
                    <a16:rowId xmlns:a16="http://schemas.microsoft.com/office/drawing/2014/main" val="10002"/>
                  </a:ext>
                </a:extLst>
              </a:tr>
              <a:tr h="566127">
                <a:tc>
                  <a:txBody>
                    <a:bodyPr/>
                    <a:lstStyle/>
                    <a:p>
                      <a:pPr>
                        <a:buNone/>
                      </a:pP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sym typeface="+mn-ea"/>
                        </a:rPr>
                        <a:t>18th February, 2022  (4 days)</a:t>
                      </a:r>
                    </a:p>
                  </a:txBody>
                  <a:tcPr anchor="ctr"/>
                </a:tc>
                <a:tc>
                  <a:txBody>
                    <a:bodyPr/>
                    <a:lstStyle/>
                    <a:p>
                      <a:pPr>
                        <a:buNone/>
                      </a:pP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rPr>
                        <a:t>Learning concepts of blockchain</a:t>
                      </a:r>
                    </a:p>
                  </a:txBody>
                  <a:tcPr anchor="ctr"/>
                </a:tc>
                <a:extLst>
                  <a:ext uri="{0D108BD9-81ED-4DB2-BD59-A6C34878D82A}">
                    <a16:rowId xmlns:a16="http://schemas.microsoft.com/office/drawing/2014/main" val="10003"/>
                  </a:ext>
                </a:extLst>
              </a:tr>
              <a:tr h="560150">
                <a:tc>
                  <a:txBody>
                    <a:bodyPr/>
                    <a:lstStyle/>
                    <a:p>
                      <a:pPr>
                        <a:buNone/>
                      </a:pP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sym typeface="+mn-ea"/>
                        </a:rPr>
                        <a:t>23th February, 2022  (2 days)</a:t>
                      </a:r>
                    </a:p>
                  </a:txBody>
                  <a:tcPr anchor="ctr"/>
                </a:tc>
                <a:tc>
                  <a:txBody>
                    <a:bodyPr/>
                    <a:lstStyle/>
                    <a:p>
                      <a:pPr>
                        <a:buNone/>
                      </a:pPr>
                      <a:r>
                        <a:rPr lang="en-IN" altLang="en-US" sz="2000" b="0" dirty="0">
                          <a:solidFill>
                            <a:schemeClr val="accent1">
                              <a:lumMod val="50000"/>
                            </a:schemeClr>
                          </a:solidFill>
                          <a:latin typeface="Bookman Old Style" panose="02050604050505020204" pitchFamily="18" charset="0"/>
                          <a:cs typeface="Bookman Old Style" panose="02050604050505020204" pitchFamily="18" charset="0"/>
                        </a:rPr>
                        <a:t>Simple blockchain using flask.</a:t>
                      </a:r>
                    </a:p>
                  </a:txBody>
                  <a:tcPr anchor="ctr"/>
                </a:tc>
                <a:extLst>
                  <a:ext uri="{0D108BD9-81ED-4DB2-BD59-A6C34878D82A}">
                    <a16:rowId xmlns:a16="http://schemas.microsoft.com/office/drawing/2014/main" val="10004"/>
                  </a:ext>
                </a:extLst>
              </a:tr>
            </a:tbl>
          </a:graphicData>
        </a:graphic>
      </p:graphicFrame>
      <p:sp>
        <p:nvSpPr>
          <p:cNvPr id="8" name="TextBox 4">
            <a:extLst>
              <a:ext uri="{FF2B5EF4-FFF2-40B4-BE49-F238E27FC236}">
                <a16:creationId xmlns:a16="http://schemas.microsoft.com/office/drawing/2014/main" id="{7DCA4231-EEC5-417B-BE8A-5DEFD79B83F8}"/>
              </a:ext>
            </a:extLst>
          </p:cNvPr>
          <p:cNvSpPr txBox="1"/>
          <p:nvPr/>
        </p:nvSpPr>
        <p:spPr>
          <a:xfrm>
            <a:off x="5042622" y="6525344"/>
            <a:ext cx="2448106" cy="246221"/>
          </a:xfrm>
          <a:prstGeom prst="rect">
            <a:avLst/>
          </a:prstGeom>
          <a:noFill/>
        </p:spPr>
        <p:txBody>
          <a:bodyPr wrap="none" rtlCol="0">
            <a:spAutoFit/>
          </a:bodyPr>
          <a:lstStyle/>
          <a:p>
            <a:r>
              <a:rPr lang="en-US" sz="1000" b="1" dirty="0">
                <a:solidFill>
                  <a:srgbClr val="660033"/>
                </a:solidFill>
                <a:latin typeface="Arial" panose="020B0604020202020204" pitchFamily="34" charset="0"/>
                <a:cs typeface="Arial" panose="020B0604020202020204" pitchFamily="34" charset="0"/>
              </a:rPr>
              <a:t>INT 300 Internship II : Second Review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5835" y="1268730"/>
            <a:ext cx="10259695" cy="5123006"/>
          </a:xfrm>
          <a:prstGeom prst="rect">
            <a:avLst/>
          </a:prstGeom>
          <a:noFill/>
        </p:spPr>
        <p:txBody>
          <a:bodyPr wrap="square">
            <a:spAutoFit/>
          </a:bodyPr>
          <a:lstStyle/>
          <a:p>
            <a:pPr algn="just"/>
            <a:r>
              <a:rPr lang="en-US" sz="2000" dirty="0">
                <a:solidFill>
                  <a:srgbClr val="660033"/>
                </a:solidFill>
                <a:latin typeface="Times New Roman" panose="02020603050405020304" pitchFamily="18" charset="0"/>
                <a:cs typeface="Times New Roman" panose="02020603050405020304" pitchFamily="18" charset="0"/>
              </a:rPr>
              <a:t>[1] 	 </a:t>
            </a:r>
            <a:r>
              <a:rPr lang="en-US" sz="2000" dirty="0">
                <a:solidFill>
                  <a:srgbClr val="660033"/>
                </a:solidFill>
                <a:latin typeface="Times New Roman" panose="02020603050405020304" pitchFamily="18" charset="0"/>
                <a:cs typeface="Times New Roman" panose="02020603050405020304" pitchFamily="18" charset="0"/>
                <a:hlinkClick r:id="rId2"/>
              </a:rPr>
              <a:t>https://scikit-learn.org/stable/auto_examples/model_selection/plot_roc.html</a:t>
            </a:r>
            <a:endParaRPr lang="en-US" sz="2000" dirty="0">
              <a:solidFill>
                <a:srgbClr val="660033"/>
              </a:solidFill>
              <a:latin typeface="Times New Roman" panose="02020603050405020304" pitchFamily="18" charset="0"/>
              <a:cs typeface="Times New Roman" panose="02020603050405020304" pitchFamily="18" charset="0"/>
            </a:endParaRPr>
          </a:p>
          <a:p>
            <a:pPr algn="just"/>
            <a:endParaRPr lang="en-US" sz="2000" dirty="0">
              <a:solidFill>
                <a:srgbClr val="660033"/>
              </a:solidFill>
              <a:latin typeface="Times New Roman" panose="02020603050405020304" pitchFamily="18" charset="0"/>
              <a:cs typeface="Times New Roman" panose="02020603050405020304" pitchFamily="18" charset="0"/>
            </a:endParaRPr>
          </a:p>
          <a:p>
            <a:pPr algn="just"/>
            <a:r>
              <a:rPr lang="en-US" sz="2000" dirty="0">
                <a:solidFill>
                  <a:srgbClr val="660033"/>
                </a:solidFill>
                <a:latin typeface="Times New Roman" panose="02020603050405020304" pitchFamily="18" charset="0"/>
                <a:cs typeface="Times New Roman" panose="02020603050405020304" pitchFamily="18" charset="0"/>
              </a:rPr>
              <a:t>[2]	 </a:t>
            </a:r>
            <a:r>
              <a:rPr lang="en-US" sz="2000" dirty="0">
                <a:solidFill>
                  <a:srgbClr val="660033"/>
                </a:solidFill>
                <a:latin typeface="Times New Roman" panose="02020603050405020304" pitchFamily="18" charset="0"/>
                <a:cs typeface="Times New Roman" panose="02020603050405020304" pitchFamily="18" charset="0"/>
                <a:hlinkClick r:id="rId3"/>
              </a:rPr>
              <a:t>https://scikit-learn.org/stable/modules/ensemble.html#voting-classifier</a:t>
            </a:r>
            <a:endParaRPr lang="en-US" sz="2000" dirty="0">
              <a:solidFill>
                <a:srgbClr val="660033"/>
              </a:solidFill>
              <a:latin typeface="Times New Roman" panose="02020603050405020304" pitchFamily="18" charset="0"/>
              <a:cs typeface="Times New Roman" panose="02020603050405020304" pitchFamily="18" charset="0"/>
            </a:endParaRPr>
          </a:p>
          <a:p>
            <a:pPr algn="just"/>
            <a:endParaRPr lang="en-US" sz="2000" dirty="0">
              <a:solidFill>
                <a:srgbClr val="660033"/>
              </a:solidFill>
              <a:latin typeface="Times New Roman" panose="02020603050405020304" pitchFamily="18" charset="0"/>
              <a:cs typeface="Times New Roman" panose="02020603050405020304" pitchFamily="18" charset="0"/>
            </a:endParaRPr>
          </a:p>
          <a:p>
            <a:pPr algn="just"/>
            <a:r>
              <a:rPr lang="en-US" sz="2000" dirty="0">
                <a:solidFill>
                  <a:srgbClr val="660033"/>
                </a:solidFill>
                <a:latin typeface="Times New Roman" panose="02020603050405020304" pitchFamily="18" charset="0"/>
                <a:cs typeface="Times New Roman" panose="02020603050405020304" pitchFamily="18" charset="0"/>
              </a:rPr>
              <a:t>[3]	 </a:t>
            </a:r>
            <a:r>
              <a:rPr lang="en-US" sz="2000" dirty="0">
                <a:solidFill>
                  <a:srgbClr val="660033"/>
                </a:solidFill>
                <a:latin typeface="Times New Roman" panose="02020603050405020304" pitchFamily="18" charset="0"/>
                <a:cs typeface="Times New Roman" panose="02020603050405020304" pitchFamily="18" charset="0"/>
                <a:hlinkClick r:id="rId4"/>
              </a:rPr>
              <a:t>https://www.mongodb.com/databases/blockchain-database</a:t>
            </a:r>
            <a:endParaRPr lang="en-US" sz="2000" dirty="0">
              <a:solidFill>
                <a:srgbClr val="660033"/>
              </a:solidFill>
              <a:latin typeface="Times New Roman" panose="02020603050405020304" pitchFamily="18" charset="0"/>
              <a:cs typeface="Times New Roman" panose="02020603050405020304" pitchFamily="18" charset="0"/>
            </a:endParaRPr>
          </a:p>
          <a:p>
            <a:pPr algn="just"/>
            <a:endParaRPr lang="en-US" sz="2000" dirty="0">
              <a:solidFill>
                <a:srgbClr val="660033"/>
              </a:solidFill>
              <a:latin typeface="Times New Roman" panose="02020603050405020304" pitchFamily="18" charset="0"/>
              <a:cs typeface="Times New Roman" panose="02020603050405020304" pitchFamily="18" charset="0"/>
            </a:endParaRPr>
          </a:p>
          <a:p>
            <a:pPr algn="just"/>
            <a:r>
              <a:rPr lang="en-US" sz="2000" dirty="0">
                <a:solidFill>
                  <a:srgbClr val="660033"/>
                </a:solidFill>
                <a:latin typeface="Times New Roman" panose="02020603050405020304" pitchFamily="18" charset="0"/>
                <a:cs typeface="Times New Roman" panose="02020603050405020304" pitchFamily="18" charset="0"/>
              </a:rPr>
              <a:t>[4]          </a:t>
            </a:r>
            <a:r>
              <a:rPr lang="en-US" sz="2000" dirty="0">
                <a:solidFill>
                  <a:srgbClr val="660033"/>
                </a:solidFill>
                <a:latin typeface="Times New Roman" panose="02020603050405020304" pitchFamily="18" charset="0"/>
                <a:cs typeface="Times New Roman" panose="02020603050405020304" pitchFamily="18" charset="0"/>
                <a:hlinkClick r:id="rId5"/>
              </a:rPr>
              <a:t>https://www.fda.gov/drugs/drug-approvals-and-databases/drugsfda-data-files</a:t>
            </a:r>
            <a:endParaRPr lang="en-US" sz="2000" dirty="0">
              <a:solidFill>
                <a:srgbClr val="660033"/>
              </a:solidFill>
              <a:latin typeface="Times New Roman" panose="02020603050405020304" pitchFamily="18" charset="0"/>
              <a:cs typeface="Times New Roman" panose="02020603050405020304" pitchFamily="18" charset="0"/>
            </a:endParaRPr>
          </a:p>
          <a:p>
            <a:pPr algn="just"/>
            <a:endParaRPr lang="en-US" sz="2000" dirty="0">
              <a:solidFill>
                <a:srgbClr val="660033"/>
              </a:solidFill>
              <a:latin typeface="Times New Roman" panose="02020603050405020304" pitchFamily="18" charset="0"/>
              <a:cs typeface="Times New Roman" panose="02020603050405020304" pitchFamily="18" charset="0"/>
            </a:endParaRPr>
          </a:p>
          <a:p>
            <a:pPr algn="just">
              <a:lnSpc>
                <a:spcPct val="150000"/>
              </a:lnSpc>
            </a:pPr>
            <a:r>
              <a:rPr lang="en-IN" altLang="en-US" sz="2000" dirty="0">
                <a:solidFill>
                  <a:srgbClr val="660033"/>
                </a:solidFill>
                <a:latin typeface="Times New Roman" panose="02020603050405020304" pitchFamily="18" charset="0"/>
                <a:cs typeface="Times New Roman" panose="02020603050405020304" pitchFamily="18" charset="0"/>
              </a:rPr>
              <a:t>Dataset Links:-</a:t>
            </a:r>
          </a:p>
          <a:p>
            <a:pPr algn="l">
              <a:lnSpc>
                <a:spcPct val="140000"/>
              </a:lnSpc>
            </a:pPr>
            <a:r>
              <a:rPr lang="en-IN" altLang="en-US" sz="2000" dirty="0">
                <a:solidFill>
                  <a:srgbClr val="660033"/>
                </a:solidFill>
                <a:latin typeface="Times New Roman" panose="02020603050405020304" pitchFamily="18" charset="0"/>
                <a:cs typeface="Times New Roman" panose="02020603050405020304" pitchFamily="18" charset="0"/>
              </a:rPr>
              <a:t>	1)   </a:t>
            </a:r>
            <a:r>
              <a:rPr lang="en-IN" altLang="en-US" sz="2000" dirty="0">
                <a:solidFill>
                  <a:srgbClr val="660033"/>
                </a:solidFill>
                <a:latin typeface="Times New Roman" panose="02020603050405020304" pitchFamily="18" charset="0"/>
                <a:cs typeface="Times New Roman" panose="02020603050405020304" pitchFamily="18" charset="0"/>
                <a:sym typeface="+mn-ea"/>
                <a:hlinkClick r:id="rId6"/>
              </a:rPr>
              <a:t>https://archive.ics.uci.edu/ml/datasets/Drug+Review+Dataset+%28Drugs.com%29</a:t>
            </a:r>
            <a:endParaRPr lang="en-IN" altLang="en-US" sz="2000" dirty="0">
              <a:solidFill>
                <a:srgbClr val="660033"/>
              </a:solidFill>
              <a:latin typeface="Times New Roman" panose="02020603050405020304" pitchFamily="18" charset="0"/>
              <a:cs typeface="Times New Roman" panose="02020603050405020304" pitchFamily="18" charset="0"/>
              <a:sym typeface="+mn-ea"/>
            </a:endParaRPr>
          </a:p>
          <a:p>
            <a:pPr algn="l">
              <a:lnSpc>
                <a:spcPct val="140000"/>
              </a:lnSpc>
            </a:pPr>
            <a:endParaRPr lang="en-IN" altLang="en-US" sz="2000" dirty="0">
              <a:solidFill>
                <a:srgbClr val="660033"/>
              </a:solidFill>
              <a:latin typeface="Times New Roman" panose="02020603050405020304" pitchFamily="18" charset="0"/>
              <a:cs typeface="Times New Roman" panose="02020603050405020304" pitchFamily="18" charset="0"/>
              <a:sym typeface="+mn-ea"/>
            </a:endParaRPr>
          </a:p>
          <a:p>
            <a:pPr algn="l">
              <a:lnSpc>
                <a:spcPct val="140000"/>
              </a:lnSpc>
            </a:pPr>
            <a:r>
              <a:rPr lang="en-IN" altLang="en-US" sz="2000" dirty="0">
                <a:solidFill>
                  <a:srgbClr val="660033"/>
                </a:solidFill>
                <a:latin typeface="Times New Roman" panose="02020603050405020304" pitchFamily="18" charset="0"/>
                <a:cs typeface="Times New Roman" panose="02020603050405020304" pitchFamily="18" charset="0"/>
                <a:sym typeface="+mn-ea"/>
              </a:rPr>
              <a:t>GitHub Link:-</a:t>
            </a:r>
          </a:p>
          <a:p>
            <a:pPr algn="l">
              <a:lnSpc>
                <a:spcPct val="140000"/>
              </a:lnSpc>
            </a:pPr>
            <a:r>
              <a:rPr lang="en-US" sz="2000" dirty="0">
                <a:solidFill>
                  <a:schemeClr val="bg2">
                    <a:lumMod val="25000"/>
                  </a:schemeClr>
                </a:solidFill>
                <a:sym typeface="+mn-ea"/>
              </a:rPr>
              <a:t>https://github.com/jisong316</a:t>
            </a:r>
            <a:r>
              <a:rPr lang="en-US" sz="2000">
                <a:solidFill>
                  <a:schemeClr val="bg2">
                    <a:lumMod val="25000"/>
                  </a:schemeClr>
                </a:solidFill>
                <a:sym typeface="+mn-ea"/>
              </a:rPr>
              <a:t>/drug-recommendation</a:t>
            </a:r>
            <a:endParaRPr lang="en-US" sz="2000" dirty="0">
              <a:solidFill>
                <a:schemeClr val="bg2">
                  <a:lumMod val="25000"/>
                </a:schemeClr>
              </a:solidFill>
              <a:sym typeface="+mn-ea"/>
            </a:endParaRPr>
          </a:p>
          <a:p>
            <a:pPr algn="l">
              <a:lnSpc>
                <a:spcPct val="140000"/>
              </a:lnSpc>
            </a:pPr>
            <a:endParaRPr lang="en-IN" altLang="en-US" sz="2000" dirty="0">
              <a:solidFill>
                <a:srgbClr val="660033"/>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4738003" y="476885"/>
            <a:ext cx="2717411" cy="584775"/>
          </a:xfrm>
          <a:prstGeom prst="rect">
            <a:avLst/>
          </a:prstGeom>
          <a:noFill/>
        </p:spPr>
        <p:txBody>
          <a:bodyPr wrap="none" rtlCol="0">
            <a:spAutoFit/>
          </a:bodyPr>
          <a:lstStyle/>
          <a:p>
            <a:r>
              <a:rPr lang="en-US" sz="3200" b="1" dirty="0">
                <a:solidFill>
                  <a:srgbClr val="660033"/>
                </a:solidFill>
                <a:latin typeface="Arial" panose="020B0604020202020204" pitchFamily="34" charset="0"/>
                <a:cs typeface="Arial" panose="020B0604020202020204" pitchFamily="34" charset="0"/>
              </a:rPr>
              <a:t>REFERENCE</a:t>
            </a:r>
          </a:p>
        </p:txBody>
      </p:sp>
      <p:sp>
        <p:nvSpPr>
          <p:cNvPr id="4" name="Date Placeholder 3"/>
          <p:cNvSpPr txBox="1"/>
          <p:nvPr/>
        </p:nvSpPr>
        <p:spPr>
          <a:xfrm>
            <a:off x="595184" y="6543654"/>
            <a:ext cx="1422400" cy="222204"/>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ltLang="en-US" sz="1000" b="1" dirty="0">
                <a:solidFill>
                  <a:srgbClr val="660033"/>
                </a:solidFill>
                <a:latin typeface="Arial" panose="020B0604020202020204" pitchFamily="34" charset="0"/>
                <a:cs typeface="Arial" panose="020B0604020202020204" pitchFamily="34" charset="0"/>
              </a:rPr>
              <a:t>27 February 2022</a:t>
            </a:r>
            <a:endParaRPr lang="en-US" sz="1000" b="1" dirty="0">
              <a:solidFill>
                <a:srgbClr val="660033"/>
              </a:solidFill>
              <a:latin typeface="Arial" panose="020B0604020202020204" pitchFamily="34" charset="0"/>
              <a:cs typeface="Arial" panose="020B0604020202020204" pitchFamily="34" charset="0"/>
            </a:endParaRPr>
          </a:p>
        </p:txBody>
      </p:sp>
      <p:sp>
        <p:nvSpPr>
          <p:cNvPr id="5" name="Slide Number Placeholder 3"/>
          <p:cNvSpPr txBox="1"/>
          <p:nvPr/>
        </p:nvSpPr>
        <p:spPr>
          <a:xfrm>
            <a:off x="11787715" y="6459494"/>
            <a:ext cx="438150" cy="3905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68327C5-B821-4FE9-A59A-A60D9EB59A9A}" type="slidenum">
              <a:rPr lang="en-US" sz="1000" b="1" smtClean="0">
                <a:solidFill>
                  <a:srgbClr val="660033"/>
                </a:solidFill>
                <a:latin typeface="Arial" panose="020B0604020202020204" pitchFamily="34" charset="0"/>
                <a:cs typeface="Arial" panose="020B0604020202020204" pitchFamily="34" charset="0"/>
              </a:rPr>
              <a:t>9</a:t>
            </a:fld>
            <a:endParaRPr lang="en-US" sz="1000" b="1" dirty="0">
              <a:solidFill>
                <a:srgbClr val="660033"/>
              </a:solidFill>
              <a:latin typeface="Arial" panose="020B0604020202020204" pitchFamily="34" charset="0"/>
              <a:cs typeface="Arial" panose="020B0604020202020204" pitchFamily="34" charset="0"/>
            </a:endParaRPr>
          </a:p>
        </p:txBody>
      </p:sp>
      <p:sp>
        <p:nvSpPr>
          <p:cNvPr id="7" name="TextBox 4">
            <a:extLst>
              <a:ext uri="{FF2B5EF4-FFF2-40B4-BE49-F238E27FC236}">
                <a16:creationId xmlns:a16="http://schemas.microsoft.com/office/drawing/2014/main" id="{AB928320-3A26-4964-8F7D-C215FF3BA275}"/>
              </a:ext>
            </a:extLst>
          </p:cNvPr>
          <p:cNvSpPr txBox="1"/>
          <p:nvPr/>
        </p:nvSpPr>
        <p:spPr>
          <a:xfrm>
            <a:off x="5042622" y="6525344"/>
            <a:ext cx="2448106" cy="246221"/>
          </a:xfrm>
          <a:prstGeom prst="rect">
            <a:avLst/>
          </a:prstGeom>
          <a:noFill/>
        </p:spPr>
        <p:txBody>
          <a:bodyPr wrap="none" rtlCol="0">
            <a:spAutoFit/>
          </a:bodyPr>
          <a:lstStyle/>
          <a:p>
            <a:r>
              <a:rPr lang="en-US" sz="1000" b="1" dirty="0">
                <a:solidFill>
                  <a:srgbClr val="660033"/>
                </a:solidFill>
                <a:latin typeface="Arial" panose="020B0604020202020204" pitchFamily="34" charset="0"/>
                <a:cs typeface="Arial" panose="020B0604020202020204" pitchFamily="34" charset="0"/>
              </a:rPr>
              <a:t>INT 300 Internship II : Second Review</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AB94F2-AAA7-4585-A16C-C5E92EB22030}"/>
              </a:ext>
            </a:extLst>
          </p:cNvPr>
          <p:cNvSpPr/>
          <p:nvPr/>
        </p:nvSpPr>
        <p:spPr>
          <a:xfrm>
            <a:off x="3503712" y="2828835"/>
            <a:ext cx="5584759" cy="1200329"/>
          </a:xfrm>
          <a:prstGeom prst="rect">
            <a:avLst/>
          </a:prstGeom>
          <a:noFill/>
        </p:spPr>
        <p:txBody>
          <a:bodyPr wrap="square" lIns="91440" tIns="45720" rIns="91440" bIns="45720">
            <a:spAutoFit/>
          </a:bodyPr>
          <a:lstStyle/>
          <a:p>
            <a:pPr algn="ctr"/>
            <a:r>
              <a:rPr lang="en-US" sz="7200" b="0" cap="none" spc="0" dirty="0">
                <a:ln w="0"/>
                <a:solidFill>
                  <a:schemeClr val="accent1"/>
                </a:solidFill>
                <a:effectLst>
                  <a:outerShdw blurRad="38100" dist="25400" dir="5400000" algn="ctr" rotWithShape="0">
                    <a:srgbClr val="6E747A">
                      <a:alpha val="43000"/>
                    </a:srgbClr>
                  </a:outerShdw>
                </a:effectLst>
              </a:rPr>
              <a:t>THANK YOU</a:t>
            </a:r>
          </a:p>
        </p:txBody>
      </p:sp>
    </p:spTree>
    <p:extLst>
      <p:ext uri="{BB962C8B-B14F-4D97-AF65-F5344CB8AC3E}">
        <p14:creationId xmlns:p14="http://schemas.microsoft.com/office/powerpoint/2010/main" val="3720906021"/>
      </p:ext>
    </p:extLst>
  </p:cSld>
  <p:clrMapOvr>
    <a:masterClrMapping/>
  </p:clrMapOvr>
</p:sld>
</file>

<file path=ppt/theme/theme1.xml><?xml version="1.0" encoding="utf-8"?>
<a:theme xmlns:a="http://schemas.openxmlformats.org/drawingml/2006/main" name="Blank">
  <a:themeElements>
    <a:clrScheme name="Custom 2">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ADB9CA"/>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6">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Showeet theme">
  <a:themeElements>
    <a:clrScheme name="6">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ITL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315</TotalTime>
  <Words>1011</Words>
  <Application>Microsoft Office PowerPoint</Application>
  <PresentationFormat>Widescreen</PresentationFormat>
  <Paragraphs>134</Paragraphs>
  <Slides>10</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10</vt:i4>
      </vt:variant>
    </vt:vector>
  </HeadingPairs>
  <TitlesOfParts>
    <vt:vector size="22" baseType="lpstr">
      <vt:lpstr>Arial</vt:lpstr>
      <vt:lpstr>Bookman Old Style</vt:lpstr>
      <vt:lpstr>Calibri</vt:lpstr>
      <vt:lpstr>Calibri Light</vt:lpstr>
      <vt:lpstr>GeosansLight</vt:lpstr>
      <vt:lpstr>Open Sans</vt:lpstr>
      <vt:lpstr>Times New Roman</vt:lpstr>
      <vt:lpstr>Wingdings</vt:lpstr>
      <vt:lpstr>Blank</vt:lpstr>
      <vt:lpstr>Showeet theme</vt:lpstr>
      <vt:lpstr>1_Showeet theme</vt:lpstr>
      <vt:lpstr>TITLES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 of Contents / Agenda Templates</dc:title>
  <dc:creator>showeet.com</dc:creator>
  <dc:description>© Copyright Showeet.com</dc:description>
  <cp:lastModifiedBy>Mohammed Umar</cp:lastModifiedBy>
  <cp:revision>600</cp:revision>
  <dcterms:created xsi:type="dcterms:W3CDTF">2011-05-09T14:18:00Z</dcterms:created>
  <dcterms:modified xsi:type="dcterms:W3CDTF">2022-02-27T17:29:41Z</dcterms:modified>
  <cp:category>Charts &amp; Diagrams</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AE831D3B6D524D3A8A8688144DB98E76</vt:lpwstr>
  </property>
  <property fmtid="{D5CDD505-2E9C-101B-9397-08002B2CF9AE}" pid="3" name="KSOProductBuildVer">
    <vt:lpwstr>1033-11.2.0.10311</vt:lpwstr>
  </property>
</Properties>
</file>