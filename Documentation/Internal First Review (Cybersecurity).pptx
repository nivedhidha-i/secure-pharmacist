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 id="2147483652" r:id="rId4"/>
    <p:sldMasterId id="2147483655" r:id="rId5"/>
  </p:sldMasterIdLst>
  <p:notesMasterIdLst>
    <p:notesMasterId r:id="rId17"/>
  </p:notesMasterIdLst>
  <p:handoutMasterIdLst>
    <p:handoutMasterId r:id="rId18"/>
  </p:handoutMasterIdLst>
  <p:sldIdLst>
    <p:sldId id="906" r:id="rId6"/>
    <p:sldId id="920" r:id="rId7"/>
    <p:sldId id="926" r:id="rId8"/>
    <p:sldId id="933" r:id="rId9"/>
    <p:sldId id="929" r:id="rId10"/>
    <p:sldId id="931" r:id="rId11"/>
    <p:sldId id="947" r:id="rId12"/>
    <p:sldId id="935" r:id="rId13"/>
    <p:sldId id="939" r:id="rId14"/>
    <p:sldId id="912" r:id="rId15"/>
    <p:sldId id="941" r:id="rId1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33"/>
    <a:srgbClr val="FDBF91"/>
    <a:srgbClr val="000066"/>
    <a:srgbClr val="E6F698"/>
    <a:srgbClr val="9A92FC"/>
    <a:srgbClr val="FAD194"/>
    <a:srgbClr val="000099"/>
    <a:srgbClr val="F5FFCF"/>
    <a:srgbClr val="000000"/>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97" autoAdjust="0"/>
    <p:restoredTop sz="96975" autoAdjust="0"/>
  </p:normalViewPr>
  <p:slideViewPr>
    <p:cSldViewPr>
      <p:cViewPr>
        <p:scale>
          <a:sx n="69" d="100"/>
          <a:sy n="69" d="100"/>
        </p:scale>
        <p:origin x="-648" y="-78"/>
      </p:cViewPr>
      <p:guideLst>
        <p:guide orient="horz" pos="2338"/>
        <p:guide orient="horz" pos="3120"/>
        <p:guide orient="horz" pos="1026"/>
        <p:guide orient="horz" pos="3256"/>
        <p:guide orient="horz" pos="2122"/>
        <p:guide pos="3839"/>
        <p:guide pos="609"/>
        <p:guide pos="7080"/>
        <p:guide pos="7425"/>
        <p:guide pos="374"/>
        <p:guide pos="1990"/>
        <p:guide pos="5710"/>
        <p:guide pos="4384"/>
      </p:guideLst>
    </p:cSldViewPr>
  </p:slideViewPr>
  <p:outlineViewPr>
    <p:cViewPr>
      <p:scale>
        <a:sx n="33" d="100"/>
        <a:sy n="33" d="100"/>
      </p:scale>
      <p:origin x="0" y="3324"/>
    </p:cViewPr>
  </p:outlineViewPr>
  <p:notesTextViewPr>
    <p:cViewPr>
      <p:scale>
        <a:sx n="150" d="100"/>
        <a:sy n="150" d="100"/>
      </p:scale>
      <p:origin x="0" y="0"/>
    </p:cViewPr>
  </p:notesTextViewPr>
  <p:notesViewPr>
    <p:cSldViewPr>
      <p:cViewPr varScale="1">
        <p:scale>
          <a:sx n="86" d="100"/>
          <a:sy n="86" d="100"/>
        </p:scale>
        <p:origin x="2928" y="78"/>
      </p:cViewPr>
      <p:guideLst>
        <p:guide orient="horz" pos="2829"/>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notesMaster" Target="notesMasters/notesMaster1.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A33B4B9-AFB0-43EB-82AF-ED70AC262E4F}" type="datetimeFigureOut">
              <a:rPr lang="en-US" smtClean="0"/>
            </a:fld>
            <a:endParaRPr lang="en-US"/>
          </a:p>
        </p:txBody>
      </p:sp>
      <p:sp>
        <p:nvSpPr>
          <p:cNvPr id="4" name="Espace réservé du pied de page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Espace réservé du numéro de diapositiv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6472C8F-9949-4688-BFEB-F813D79CFC0A}" type="slidenum">
              <a:rPr lang="en-US" smtClean="0"/>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D31E77A-DD07-4A76-801D-B4BF4990C412}" type="datetimeFigureOut">
              <a:rPr lang="en-US" smtClean="0"/>
            </a:fld>
            <a:endParaRPr lang="en-US"/>
          </a:p>
        </p:txBody>
      </p:sp>
      <p:sp>
        <p:nvSpPr>
          <p:cNvPr id="4" name="Espace réservé de l'image des diapositives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smtClean="0"/>
              <a:t>Modifiez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en-US"/>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A3AB2B-189A-4C92-A457-C6A3833631A7}" type="slidenum">
              <a:rPr lang="en-US" smtClean="0"/>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www.showeet.com/" TargetMode="External"/><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hyperlink" Target="http://www.showeet.com/" TargetMode="External"/><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a:fillRect/>
          </a:stretch>
        </p:blipFill>
        <p:spPr>
          <a:xfrm>
            <a:off x="11096512" y="5774480"/>
            <a:ext cx="1095488" cy="1083520"/>
          </a:xfrm>
          <a:prstGeom prst="rect">
            <a:avLst/>
          </a:prstGeom>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hite">
    <p:spTree>
      <p:nvGrpSpPr>
        <p:cNvPr id="1" name=""/>
        <p:cNvGrpSpPr/>
        <p:nvPr/>
      </p:nvGrpSpPr>
      <p:grpSpPr>
        <a:xfrm>
          <a:off x="0" y="0"/>
          <a:ext cx="0" cy="0"/>
          <a:chOff x="0" y="0"/>
          <a:chExt cx="0" cy="0"/>
        </a:xfrm>
      </p:grpSpPr>
      <p:grpSp>
        <p:nvGrpSpPr>
          <p:cNvPr id="5" name="Group 4"/>
          <p:cNvGrpSpPr/>
          <p:nvPr userDrawn="1"/>
        </p:nvGrpSpPr>
        <p:grpSpPr>
          <a:xfrm>
            <a:off x="328169" y="6237312"/>
            <a:ext cx="439241" cy="439240"/>
            <a:chOff x="186858" y="6096003"/>
            <a:chExt cx="580550" cy="580549"/>
          </a:xfrm>
          <a:solidFill>
            <a:schemeClr val="bg1">
              <a:lumMod val="95000"/>
            </a:schemeClr>
          </a:solidFill>
        </p:grpSpPr>
        <p:sp>
          <p:nvSpPr>
            <p:cNvPr id="14" name="Rectangle 13"/>
            <p:cNvSpPr/>
            <p:nvPr userDrawn="1"/>
          </p:nvSpPr>
          <p:spPr>
            <a:xfrm>
              <a:off x="186859" y="6096003"/>
              <a:ext cx="580549" cy="58054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latin typeface="GeosansLight" panose="02000603020000020003"/>
              </a:endParaRPr>
            </a:p>
          </p:txBody>
        </p:sp>
        <p:sp>
          <p:nvSpPr>
            <p:cNvPr id="15" name="Rectangle 14"/>
            <p:cNvSpPr/>
            <p:nvPr userDrawn="1"/>
          </p:nvSpPr>
          <p:spPr>
            <a:xfrm>
              <a:off x="186858" y="6612049"/>
              <a:ext cx="580549" cy="645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350"/>
            </a:p>
          </p:txBody>
        </p:sp>
      </p:grpSp>
      <p:sp>
        <p:nvSpPr>
          <p:cNvPr id="3" name="Sous-titre 2"/>
          <p:cNvSpPr>
            <a:spLocks noGrp="1"/>
          </p:cNvSpPr>
          <p:nvPr>
            <p:ph type="subTitle" idx="1" hasCustomPrompt="1"/>
          </p:nvPr>
        </p:nvSpPr>
        <p:spPr>
          <a:xfrm>
            <a:off x="3887756" y="620688"/>
            <a:ext cx="7694645" cy="288032"/>
          </a:xfrm>
        </p:spPr>
        <p:txBody>
          <a:bodyPr anchor="ctr">
            <a:noAutofit/>
          </a:bodyPr>
          <a:lstStyle>
            <a:lvl1pPr marL="0" indent="0" algn="r">
              <a:buNone/>
              <a:defRPr sz="1600" cap="small" baseline="0">
                <a:solidFill>
                  <a:srgbClr val="2F3A46"/>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smtClean="0"/>
              <a:t>Modifiez le style des sous-titres du masque</a:t>
            </a:r>
            <a:endParaRPr lang="en-US" dirty="0"/>
          </a:p>
        </p:txBody>
      </p:sp>
      <p:sp>
        <p:nvSpPr>
          <p:cNvPr id="7" name="Espace réservé du titre 1"/>
          <p:cNvSpPr>
            <a:spLocks noGrp="1"/>
          </p:cNvSpPr>
          <p:nvPr>
            <p:ph type="title"/>
          </p:nvPr>
        </p:nvSpPr>
        <p:spPr>
          <a:xfrm>
            <a:off x="3887756" y="3078"/>
            <a:ext cx="7694645" cy="617612"/>
          </a:xfrm>
          <a:prstGeom prst="rect">
            <a:avLst/>
          </a:prstGeom>
        </p:spPr>
        <p:txBody>
          <a:bodyPr vert="horz" lIns="91440" tIns="45720" rIns="91440" bIns="45720" rtlCol="0" anchor="ctr">
            <a:normAutofit/>
          </a:bodyPr>
          <a:lstStyle>
            <a:lvl1pPr>
              <a:defRPr>
                <a:solidFill>
                  <a:srgbClr val="2F3A46"/>
                </a:solidFill>
              </a:defRPr>
            </a:lvl1pPr>
          </a:lstStyle>
          <a:p>
            <a:r>
              <a:rPr lang="fr-FR" dirty="0" smtClean="0"/>
              <a:t>Modifiez le style du titre</a:t>
            </a:r>
            <a:endParaRPr lang="en-US" dirty="0"/>
          </a:p>
        </p:txBody>
      </p:sp>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a:fillRect/>
          </a:stretch>
        </p:blipFill>
        <p:spPr>
          <a:xfrm>
            <a:off x="11096512" y="5774480"/>
            <a:ext cx="1095488" cy="1083520"/>
          </a:xfrm>
          <a:prstGeom prst="rect">
            <a:avLst/>
          </a:prstGeom>
        </p:spPr>
      </p:pic>
      <p:pic>
        <p:nvPicPr>
          <p:cNvPr id="13" name="Picture 12"/>
          <p:cNvPicPr>
            <a:picLocks noChangeAspect="1"/>
          </p:cNvPicPr>
          <p:nvPr userDrawn="1"/>
        </p:nvPicPr>
        <p:blipFill>
          <a:blip r:embed="rId3"/>
          <a:stretch>
            <a:fillRect/>
          </a:stretch>
        </p:blipFill>
        <p:spPr>
          <a:xfrm>
            <a:off x="156796" y="100099"/>
            <a:ext cx="1627773" cy="451143"/>
          </a:xfrm>
          <a:prstGeom prst="rect">
            <a:avLst/>
          </a:prstGeom>
        </p:spPr>
      </p:pic>
      <p:sp>
        <p:nvSpPr>
          <p:cNvPr id="16" name="Slide Number Placeholder 5"/>
          <p:cNvSpPr>
            <a:spLocks noGrp="1"/>
          </p:cNvSpPr>
          <p:nvPr>
            <p:ph type="sldNum" sz="quarter" idx="12"/>
          </p:nvPr>
        </p:nvSpPr>
        <p:spPr>
          <a:xfrm>
            <a:off x="328169" y="6237312"/>
            <a:ext cx="439241" cy="390437"/>
          </a:xfrm>
          <a:prstGeom prst="rect">
            <a:avLst/>
          </a:prstGeom>
        </p:spPr>
        <p:txBody>
          <a:bodyPr anchor="ctr"/>
          <a:lstStyle>
            <a:lvl1pPr algn="ctr">
              <a:defRPr sz="1400">
                <a:solidFill>
                  <a:srgbClr val="2F3A46"/>
                </a:solidFill>
              </a:defRPr>
            </a:lvl1pPr>
          </a:lstStyle>
          <a:p>
            <a:fld id="{F68327C5-B821-4FE9-A59A-A60D9EB59A9A}" type="slidenum">
              <a:rPr lang="en-US" smtClean="0"/>
            </a:fld>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hite">
    <p:spTree>
      <p:nvGrpSpPr>
        <p:cNvPr id="1" name=""/>
        <p:cNvGrpSpPr/>
        <p:nvPr/>
      </p:nvGrpSpPr>
      <p:grpSpPr>
        <a:xfrm>
          <a:off x="0" y="0"/>
          <a:ext cx="0" cy="0"/>
          <a:chOff x="0" y="0"/>
          <a:chExt cx="0" cy="0"/>
        </a:xfrm>
      </p:grpSpPr>
      <p:grpSp>
        <p:nvGrpSpPr>
          <p:cNvPr id="5" name="Group 4"/>
          <p:cNvGrpSpPr/>
          <p:nvPr userDrawn="1"/>
        </p:nvGrpSpPr>
        <p:grpSpPr>
          <a:xfrm>
            <a:off x="328169" y="6237312"/>
            <a:ext cx="439241" cy="439240"/>
            <a:chOff x="186858" y="6096003"/>
            <a:chExt cx="580550" cy="580549"/>
          </a:xfrm>
          <a:solidFill>
            <a:schemeClr val="bg1">
              <a:lumMod val="95000"/>
            </a:schemeClr>
          </a:solidFill>
        </p:grpSpPr>
        <p:sp>
          <p:nvSpPr>
            <p:cNvPr id="14" name="Rectangle 13"/>
            <p:cNvSpPr/>
            <p:nvPr userDrawn="1"/>
          </p:nvSpPr>
          <p:spPr>
            <a:xfrm>
              <a:off x="186859" y="6096003"/>
              <a:ext cx="580549" cy="58054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latin typeface="GeosansLight" panose="02000603020000020003"/>
              </a:endParaRPr>
            </a:p>
          </p:txBody>
        </p:sp>
        <p:sp>
          <p:nvSpPr>
            <p:cNvPr id="15" name="Rectangle 14"/>
            <p:cNvSpPr/>
            <p:nvPr userDrawn="1"/>
          </p:nvSpPr>
          <p:spPr>
            <a:xfrm>
              <a:off x="186858" y="6612049"/>
              <a:ext cx="580549" cy="645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350"/>
            </a:p>
          </p:txBody>
        </p:sp>
      </p:grpSp>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a:fillRect/>
          </a:stretch>
        </p:blipFill>
        <p:spPr>
          <a:xfrm>
            <a:off x="11096512" y="5774480"/>
            <a:ext cx="1095488" cy="1083520"/>
          </a:xfrm>
          <a:prstGeom prst="rect">
            <a:avLst/>
          </a:prstGeom>
        </p:spPr>
      </p:pic>
      <p:sp>
        <p:nvSpPr>
          <p:cNvPr id="16" name="Slide Number Placeholder 5"/>
          <p:cNvSpPr>
            <a:spLocks noGrp="1"/>
          </p:cNvSpPr>
          <p:nvPr>
            <p:ph type="sldNum" sz="quarter" idx="12"/>
          </p:nvPr>
        </p:nvSpPr>
        <p:spPr>
          <a:xfrm>
            <a:off x="328169" y="6237312"/>
            <a:ext cx="439241" cy="390437"/>
          </a:xfrm>
          <a:prstGeom prst="rect">
            <a:avLst/>
          </a:prstGeom>
        </p:spPr>
        <p:txBody>
          <a:bodyPr anchor="ctr"/>
          <a:lstStyle>
            <a:lvl1pPr algn="ctr">
              <a:defRPr sz="1400">
                <a:solidFill>
                  <a:srgbClr val="2F3A46"/>
                </a:solidFill>
              </a:defRPr>
            </a:lvl1pPr>
          </a:lstStyle>
          <a:p>
            <a:fld id="{F68327C5-B821-4FE9-A59A-A60D9EB59A9A}" type="slidenum">
              <a:rPr lang="en-US" smtClean="0"/>
            </a:fld>
            <a:endParaRPr lang="en-US" dirty="0"/>
          </a:p>
        </p:txBody>
      </p:sp>
      <p:sp>
        <p:nvSpPr>
          <p:cNvPr id="10" name="Sous-titre 2"/>
          <p:cNvSpPr>
            <a:spLocks noGrp="1"/>
          </p:cNvSpPr>
          <p:nvPr>
            <p:ph type="subTitle" idx="1" hasCustomPrompt="1"/>
          </p:nvPr>
        </p:nvSpPr>
        <p:spPr>
          <a:xfrm>
            <a:off x="623888" y="620688"/>
            <a:ext cx="7694645" cy="288032"/>
          </a:xfrm>
        </p:spPr>
        <p:txBody>
          <a:bodyPr anchor="ctr">
            <a:noAutofit/>
          </a:bodyPr>
          <a:lstStyle>
            <a:lvl1pPr marL="0" indent="0" algn="l">
              <a:buNone/>
              <a:defRPr sz="1600" cap="small" baseline="0">
                <a:solidFill>
                  <a:srgbClr val="2F3A46"/>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smtClean="0"/>
              <a:t>Modifiez le style des sous-titres du masque</a:t>
            </a:r>
            <a:endParaRPr lang="en-US" dirty="0"/>
          </a:p>
        </p:txBody>
      </p:sp>
      <p:sp>
        <p:nvSpPr>
          <p:cNvPr id="11" name="Espace réservé du titre 1"/>
          <p:cNvSpPr>
            <a:spLocks noGrp="1"/>
          </p:cNvSpPr>
          <p:nvPr>
            <p:ph type="title"/>
          </p:nvPr>
        </p:nvSpPr>
        <p:spPr>
          <a:xfrm>
            <a:off x="623888" y="3078"/>
            <a:ext cx="7694645" cy="617612"/>
          </a:xfrm>
          <a:prstGeom prst="rect">
            <a:avLst/>
          </a:prstGeom>
        </p:spPr>
        <p:txBody>
          <a:bodyPr vert="horz" lIns="91440" tIns="45720" rIns="91440" bIns="45720" rtlCol="0" anchor="ctr">
            <a:normAutofit/>
          </a:bodyPr>
          <a:lstStyle>
            <a:lvl1pPr algn="l">
              <a:defRPr>
                <a:solidFill>
                  <a:srgbClr val="2F3A46"/>
                </a:solidFill>
              </a:defRPr>
            </a:lvl1pPr>
          </a:lstStyle>
          <a:p>
            <a:r>
              <a:rPr lang="fr-FR" dirty="0" smtClean="0"/>
              <a:t>Modifiez le style du titre</a:t>
            </a:r>
            <a:endParaRPr lang="en-US" dirty="0"/>
          </a:p>
        </p:txBody>
      </p:sp>
      <p:pic>
        <p:nvPicPr>
          <p:cNvPr id="12" name="Picture 11"/>
          <p:cNvPicPr>
            <a:picLocks noChangeAspect="1"/>
          </p:cNvPicPr>
          <p:nvPr userDrawn="1"/>
        </p:nvPicPr>
        <p:blipFill>
          <a:blip r:embed="rId3"/>
          <a:stretch>
            <a:fillRect/>
          </a:stretch>
        </p:blipFill>
        <p:spPr>
          <a:xfrm>
            <a:off x="10344472" y="100099"/>
            <a:ext cx="1627773" cy="451143"/>
          </a:xfrm>
          <a:prstGeom prst="rect">
            <a:avLst/>
          </a:prstGeom>
        </p:spPr>
      </p:pic>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smtClean="0"/>
              <a:t>Click to edit Master subtitle style</a:t>
            </a:r>
            <a:endParaRPr lang="en-US" dirty="0"/>
          </a:p>
        </p:txBody>
      </p:sp>
      <p:sp>
        <p:nvSpPr>
          <p:cNvPr id="7" name="Rectangle 6"/>
          <p:cNvSpPr/>
          <p:nvPr userDrawn="1"/>
        </p:nvSpPr>
        <p:spPr>
          <a:xfrm>
            <a:off x="0" y="6021288"/>
            <a:ext cx="12192000" cy="83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8" name="Picture 7">
            <a:hlinkClick r:id="rId2"/>
          </p:cNvPr>
          <p:cNvPicPr>
            <a:picLocks noChangeAspect="1"/>
          </p:cNvPicPr>
          <p:nvPr userDrawn="1"/>
        </p:nvPicPr>
        <p:blipFill>
          <a:blip r:embed="rId3"/>
          <a:stretch>
            <a:fillRect/>
          </a:stretch>
        </p:blipFill>
        <p:spPr>
          <a:xfrm>
            <a:off x="10200456" y="6214075"/>
            <a:ext cx="1627773" cy="451143"/>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9376" y="228855"/>
            <a:ext cx="11233248" cy="954108"/>
          </a:xfrm>
        </p:spPr>
        <p:txBody>
          <a:bodyPr wrap="square" anchor="b">
            <a:spAutoFit/>
          </a:bodyPr>
          <a:lstStyle>
            <a:lvl1pPr algn="ctr">
              <a:defRPr sz="6000">
                <a:solidFill>
                  <a:schemeClr val="bg1"/>
                </a:solidFill>
              </a:defRPr>
            </a:lvl1pPr>
          </a:lstStyle>
          <a:p>
            <a:r>
              <a:rPr lang="en-US" dirty="0" smtClean="0"/>
              <a:t>Click to edit Master title style</a:t>
            </a:r>
            <a:endParaRPr lang="en-US" dirty="0"/>
          </a:p>
        </p:txBody>
      </p:sp>
      <p:sp>
        <p:nvSpPr>
          <p:cNvPr id="7" name="Rectangle 6"/>
          <p:cNvSpPr/>
          <p:nvPr userDrawn="1"/>
        </p:nvSpPr>
        <p:spPr>
          <a:xfrm>
            <a:off x="0" y="6021288"/>
            <a:ext cx="12192000" cy="83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8" name="Picture 7">
            <a:hlinkClick r:id="rId2"/>
          </p:cNvPr>
          <p:cNvPicPr>
            <a:picLocks noChangeAspect="1"/>
          </p:cNvPicPr>
          <p:nvPr userDrawn="1"/>
        </p:nvPicPr>
        <p:blipFill>
          <a:blip r:embed="rId3"/>
          <a:stretch>
            <a:fillRect/>
          </a:stretch>
        </p:blipFill>
        <p:spPr>
          <a:xfrm>
            <a:off x="10200456" y="6214075"/>
            <a:ext cx="1627773" cy="451143"/>
          </a:xfrm>
          <a:prstGeom prst="rect">
            <a:avLst/>
          </a:prstGeom>
        </p:spPr>
      </p:pic>
      <p:pic>
        <p:nvPicPr>
          <p:cNvPr id="4" name="Picture 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28994" y="1426467"/>
            <a:ext cx="6338473" cy="5238748"/>
          </a:xfrm>
          <a:prstGeom prst="rect">
            <a:avLst/>
          </a:prstGeom>
          <a:effectLst>
            <a:reflection blurRad="6350" stA="52000" endA="300" endPos="35000" dir="5400000" sy="-100000" algn="bl" rotWithShape="0"/>
          </a:effectLst>
        </p:spPr>
      </p:pic>
      <p:sp>
        <p:nvSpPr>
          <p:cNvPr id="9" name="Picture Placeholder 8"/>
          <p:cNvSpPr>
            <a:spLocks noGrp="1"/>
          </p:cNvSpPr>
          <p:nvPr>
            <p:ph type="pic" sz="quarter" idx="10"/>
          </p:nvPr>
        </p:nvSpPr>
        <p:spPr>
          <a:xfrm>
            <a:off x="1489943" y="1700811"/>
            <a:ext cx="5616575" cy="3168055"/>
          </a:xfrm>
        </p:spPr>
        <p:txBody>
          <a:bodyPr/>
          <a:lstStyle>
            <a:lvl1pPr>
              <a:defRPr>
                <a:solidFill>
                  <a:schemeClr val="bg1"/>
                </a:solidFill>
              </a:defRPr>
            </a:lvl1pPr>
          </a:lstStyle>
          <a:p>
            <a:endParaRPr lang="en-US"/>
          </a:p>
        </p:txBody>
      </p:sp>
      <p:sp>
        <p:nvSpPr>
          <p:cNvPr id="14" name="Freeform 13"/>
          <p:cNvSpPr/>
          <p:nvPr userDrawn="1"/>
        </p:nvSpPr>
        <p:spPr>
          <a:xfrm>
            <a:off x="5087888" y="1426467"/>
            <a:ext cx="2379576" cy="3789040"/>
          </a:xfrm>
          <a:custGeom>
            <a:avLst/>
            <a:gdLst>
              <a:gd name="connsiteX0" fmla="*/ 0 w 2379576"/>
              <a:gd name="connsiteY0" fmla="*/ 0 h 3789040"/>
              <a:gd name="connsiteX1" fmla="*/ 2214084 w 2379576"/>
              <a:gd name="connsiteY1" fmla="*/ 0 h 3789040"/>
              <a:gd name="connsiteX2" fmla="*/ 2379576 w 2379576"/>
              <a:gd name="connsiteY2" fmla="*/ 165492 h 3789040"/>
              <a:gd name="connsiteX3" fmla="*/ 2379576 w 2379576"/>
              <a:gd name="connsiteY3" fmla="*/ 3709249 h 3789040"/>
              <a:gd name="connsiteX4" fmla="*/ 2366571 w 2379576"/>
              <a:gd name="connsiteY4" fmla="*/ 3773666 h 3789040"/>
              <a:gd name="connsiteX5" fmla="*/ 2356205 w 2379576"/>
              <a:gd name="connsiteY5" fmla="*/ 3789040 h 3789040"/>
              <a:gd name="connsiteX6" fmla="*/ 1654973 w 2379576"/>
              <a:gd name="connsiteY6" fmla="*/ 3789040 h 378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9576" h="3789040">
                <a:moveTo>
                  <a:pt x="0" y="0"/>
                </a:moveTo>
                <a:lnTo>
                  <a:pt x="2214084" y="0"/>
                </a:lnTo>
                <a:cubicBezTo>
                  <a:pt x="2305483" y="0"/>
                  <a:pt x="2379576" y="74093"/>
                  <a:pt x="2379576" y="165492"/>
                </a:cubicBezTo>
                <a:lnTo>
                  <a:pt x="2379576" y="3709249"/>
                </a:lnTo>
                <a:cubicBezTo>
                  <a:pt x="2379576" y="3732099"/>
                  <a:pt x="2374945" y="3753867"/>
                  <a:pt x="2366571" y="3773666"/>
                </a:cubicBezTo>
                <a:lnTo>
                  <a:pt x="2356205" y="3789040"/>
                </a:lnTo>
                <a:lnTo>
                  <a:pt x="1654973" y="3789040"/>
                </a:lnTo>
                <a:close/>
              </a:path>
            </a:pathLst>
          </a:custGeom>
          <a:gradFill flip="none" rotWithShape="1">
            <a:gsLst>
              <a:gs pos="0">
                <a:schemeClr val="bg1">
                  <a:alpha val="0"/>
                </a:schemeClr>
              </a:gs>
              <a:gs pos="100000">
                <a:schemeClr val="bg1">
                  <a:alpha val="34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sz="135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hyperlink" Target="https://twitter.com/showeet" TargetMode="External"/><Relationship Id="rId8" Type="http://schemas.openxmlformats.org/officeDocument/2006/relationships/image" Target="../media/image5.png"/><Relationship Id="rId7" Type="http://schemas.openxmlformats.org/officeDocument/2006/relationships/hyperlink" Target="http://pinterest.com/showeet" TargetMode="External"/><Relationship Id="rId6" Type="http://schemas.openxmlformats.org/officeDocument/2006/relationships/image" Target="../media/image4.png"/><Relationship Id="rId5" Type="http://schemas.openxmlformats.org/officeDocument/2006/relationships/hyperlink" Target="http://feeds.feedburner.com/showeet" TargetMode="Externa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hyperlink" Target="https://www.facebook.com/pages/Neetwork/240707325947259" TargetMode="External"/><Relationship Id="rId14" Type="http://schemas.openxmlformats.org/officeDocument/2006/relationships/theme" Target="../theme/theme1.xml"/><Relationship Id="rId13" Type="http://schemas.openxmlformats.org/officeDocument/2006/relationships/image" Target="../media/image8.png"/><Relationship Id="rId12" Type="http://schemas.openxmlformats.org/officeDocument/2006/relationships/image" Target="../media/image7.png"/><Relationship Id="rId11" Type="http://schemas.openxmlformats.org/officeDocument/2006/relationships/hyperlink" Target="http://linhpham.me/" TargetMode="External"/><Relationship Id="rId10" Type="http://schemas.openxmlformats.org/officeDocument/2006/relationships/image" Target="../media/image6.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6.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Rectangle 13"/>
          <p:cNvSpPr/>
          <p:nvPr userDrawn="1"/>
        </p:nvSpPr>
        <p:spPr>
          <a:xfrm>
            <a:off x="0" y="0"/>
            <a:ext cx="5087888" cy="6858000"/>
          </a:xfrm>
          <a:prstGeom prst="rect">
            <a:avLst/>
          </a:prstGeom>
          <a:solidFill>
            <a:srgbClr val="1E26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 name="Rectangle 4"/>
          <p:cNvSpPr/>
          <p:nvPr userDrawn="1"/>
        </p:nvSpPr>
        <p:spPr>
          <a:xfrm>
            <a:off x="5868144" y="821050"/>
            <a:ext cx="5772472" cy="3170099"/>
          </a:xfrm>
          <a:prstGeom prst="rect">
            <a:avLst/>
          </a:prstGeom>
        </p:spPr>
        <p:txBody>
          <a:bodyPr wrap="square">
            <a:spAutoFit/>
          </a:bodyPr>
          <a:lstStyle/>
          <a:p>
            <a:pPr lvl="0"/>
            <a:r>
              <a:rPr lang="en-US" sz="4000" dirty="0">
                <a:solidFill>
                  <a:srgbClr val="909DB3"/>
                </a:solidFill>
                <a:latin typeface="Calibri Light" panose="020F0302020204030204" pitchFamily="34" charset="0"/>
              </a:rPr>
              <a:t>Free creative </a:t>
            </a:r>
            <a:r>
              <a:rPr lang="en-US" sz="4000">
                <a:solidFill>
                  <a:srgbClr val="909DB3"/>
                </a:solidFill>
                <a:latin typeface="Calibri Light" panose="020F0302020204030204" pitchFamily="34" charset="0"/>
              </a:rPr>
              <a:t>PowerPoint </a:t>
            </a:r>
            <a:r>
              <a:rPr lang="en-US" sz="4000" smtClean="0">
                <a:solidFill>
                  <a:srgbClr val="909DB3"/>
                </a:solidFill>
                <a:latin typeface="Calibri Light" panose="020F0302020204030204" pitchFamily="34" charset="0"/>
              </a:rPr>
              <a:t>templates</a:t>
            </a:r>
            <a:r>
              <a:rPr lang="en-US" sz="4000" dirty="0">
                <a:solidFill>
                  <a:srgbClr val="909DB3"/>
                </a:solidFill>
                <a:latin typeface="Calibri Light" panose="020F0302020204030204" pitchFamily="34" charset="0"/>
              </a:rPr>
              <a:t>, charts, diagrams and maps for your outstanding presentations</a:t>
            </a:r>
            <a:endParaRPr lang="en-US" sz="4000" dirty="0">
              <a:solidFill>
                <a:srgbClr val="909DB3"/>
              </a:solidFill>
              <a:latin typeface="Calibri Light" panose="020F0302020204030204" pitchFamily="34" charset="0"/>
            </a:endParaRPr>
          </a:p>
        </p:txBody>
      </p:sp>
      <p:grpSp>
        <p:nvGrpSpPr>
          <p:cNvPr id="6" name="Group 5"/>
          <p:cNvGrpSpPr/>
          <p:nvPr userDrawn="1"/>
        </p:nvGrpSpPr>
        <p:grpSpPr>
          <a:xfrm>
            <a:off x="326747" y="2952729"/>
            <a:ext cx="475488" cy="3067687"/>
            <a:chOff x="4820005" y="2954735"/>
            <a:chExt cx="475488" cy="3067687"/>
          </a:xfrm>
        </p:grpSpPr>
        <p:pic>
          <p:nvPicPr>
            <p:cNvPr id="7" name="Picture 6">
              <a:hlinkClick r:id="rId2"/>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20005" y="3602785"/>
              <a:ext cx="470610" cy="470610"/>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20005" y="2954735"/>
              <a:ext cx="470610" cy="470610"/>
            </a:xfrm>
            <a:prstGeom prst="rect">
              <a:avLst/>
            </a:prstGeom>
          </p:spPr>
        </p:pic>
        <p:pic>
          <p:nvPicPr>
            <p:cNvPr id="9" name="Picture 8">
              <a:hlinkClick r:id="rId5"/>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820005" y="5551812"/>
              <a:ext cx="470610" cy="470610"/>
            </a:xfrm>
            <a:prstGeom prst="rect">
              <a:avLst/>
            </a:prstGeom>
          </p:spPr>
        </p:pic>
        <p:pic>
          <p:nvPicPr>
            <p:cNvPr id="10" name="Picture 9">
              <a:hlinkClick r:id="rId7"/>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820005" y="4903763"/>
              <a:ext cx="470610" cy="470610"/>
            </a:xfrm>
            <a:prstGeom prst="rect">
              <a:avLst/>
            </a:prstGeom>
          </p:spPr>
        </p:pic>
        <p:pic>
          <p:nvPicPr>
            <p:cNvPr id="11" name="Picture 10">
              <a:hlinkClick r:id="rId9"/>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820005" y="4250835"/>
              <a:ext cx="475488" cy="475488"/>
            </a:xfrm>
            <a:prstGeom prst="rect">
              <a:avLst/>
            </a:prstGeom>
          </p:spPr>
        </p:pic>
      </p:grpSp>
      <p:pic>
        <p:nvPicPr>
          <p:cNvPr id="12" name="Picture 11">
            <a:hlinkClick r:id="rId11"/>
          </p:cNvPr>
          <p:cNvPicPr>
            <a:picLocks noChangeAspect="1"/>
          </p:cNvPicPr>
          <p:nvPr userDrawn="1"/>
        </p:nvPicPr>
        <p:blipFill>
          <a:blip r:embed="rId12"/>
          <a:stretch>
            <a:fillRect/>
          </a:stretch>
        </p:blipFill>
        <p:spPr>
          <a:xfrm>
            <a:off x="0" y="6898040"/>
            <a:ext cx="2493480" cy="262151"/>
          </a:xfrm>
          <a:prstGeom prst="rect">
            <a:avLst/>
          </a:prstGeom>
        </p:spPr>
      </p:pic>
      <p:sp>
        <p:nvSpPr>
          <p:cNvPr id="13" name="TextBox 12"/>
          <p:cNvSpPr txBox="1"/>
          <p:nvPr userDrawn="1"/>
        </p:nvSpPr>
        <p:spPr>
          <a:xfrm>
            <a:off x="907582" y="3034146"/>
            <a:ext cx="1720407" cy="307777"/>
          </a:xfrm>
          <a:prstGeom prst="rect">
            <a:avLst/>
          </a:prstGeom>
          <a:noFill/>
        </p:spPr>
        <p:txBody>
          <a:bodyPr wrap="none" rtlCol="0" anchor="ctr">
            <a:spAutoFit/>
          </a:bodyPr>
          <a:lstStyle/>
          <a:p>
            <a:r>
              <a:rPr lang="en-US" sz="1400" dirty="0" smtClean="0">
                <a:solidFill>
                  <a:schemeClr val="bg1">
                    <a:lumMod val="85000"/>
                  </a:schemeClr>
                </a:solidFill>
              </a:rPr>
              <a:t>showeet@ymail.com</a:t>
            </a:r>
            <a:endParaRPr lang="en-US" sz="1400" dirty="0">
              <a:solidFill>
                <a:schemeClr val="bg1">
                  <a:lumMod val="85000"/>
                </a:schemeClr>
              </a:solidFill>
            </a:endParaRPr>
          </a:p>
        </p:txBody>
      </p:sp>
      <p:pic>
        <p:nvPicPr>
          <p:cNvPr id="16" name="Picture 15"/>
          <p:cNvPicPr>
            <a:picLocks noChangeAspect="1"/>
          </p:cNvPicPr>
          <p:nvPr userDrawn="1"/>
        </p:nvPicPr>
        <p:blipFill>
          <a:blip r:embed="rId13"/>
          <a:stretch>
            <a:fillRect/>
          </a:stretch>
        </p:blipFill>
        <p:spPr>
          <a:xfrm>
            <a:off x="118884" y="102906"/>
            <a:ext cx="2914141" cy="80474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timing>
    <p:tnLst>
      <p:par>
        <p:cTn id="1" dur="indefinite" restart="never" nodeType="tmRoot"/>
      </p:par>
    </p:tnLst>
  </p:timing>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3887756" y="3078"/>
            <a:ext cx="7694645" cy="617612"/>
          </a:xfrm>
          <a:prstGeom prst="rect">
            <a:avLst/>
          </a:prstGeom>
        </p:spPr>
        <p:txBody>
          <a:bodyPr vert="horz" lIns="91440" tIns="45720" rIns="91440" bIns="45720" rtlCol="0" anchor="ctr">
            <a:normAutofit/>
          </a:bodyPr>
          <a:lstStyle/>
          <a:p>
            <a:r>
              <a:rPr lang="fr-FR" dirty="0" smtClean="0"/>
              <a:t>Modifiez le style du titre</a:t>
            </a:r>
            <a:endParaRPr lang="en-US" dirty="0"/>
          </a:p>
        </p:txBody>
      </p:sp>
      <p:sp>
        <p:nvSpPr>
          <p:cNvPr id="3" name="Espace réservé du texte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fr-FR" smtClean="0"/>
              <a:t>Modifiez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en-US"/>
          </a:p>
        </p:txBody>
      </p:sp>
      <p:sp>
        <p:nvSpPr>
          <p:cNvPr id="15" name="Rectangle 14"/>
          <p:cNvSpPr/>
          <p:nvPr/>
        </p:nvSpPr>
        <p:spPr>
          <a:xfrm rot="5400000">
            <a:off x="11604686" y="5799924"/>
            <a:ext cx="1839158" cy="276999"/>
          </a:xfrm>
          <a:prstGeom prst="rect">
            <a:avLst/>
          </a:prstGeom>
        </p:spPr>
        <p:txBody>
          <a:bodyPr wrap="non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prstClr val="black"/>
                </a:solidFill>
              </a:rPr>
              <a:t>© Copyright Showeet.com</a:t>
            </a:r>
            <a:endParaRPr lang="en-US" sz="1200" dirty="0">
              <a:solidFill>
                <a:prstClr val="black"/>
              </a:solidFill>
            </a:endParaRPr>
          </a:p>
        </p:txBody>
      </p:sp>
    </p:spTree>
  </p:cSld>
  <p:clrMap bg1="lt1" tx1="dk1" bg2="lt2" tx2="dk2" accent1="accent1" accent2="accent2" accent3="accent3" accent4="accent4" accent5="accent5" accent6="accent6" hlink="hlink" folHlink="folHlink"/>
  <p:sldLayoutIdLst>
    <p:sldLayoutId id="2147483651" r:id="rId1"/>
  </p:sldLayoutIdLst>
  <p:timing>
    <p:tnLst>
      <p:par>
        <p:cTn id="1" dur="indefinite" restart="never" nodeType="tmRoot"/>
      </p:par>
    </p:tnLst>
  </p:timing>
  <p:hf hdr="0"/>
  <p:txStyles>
    <p:titleStyle>
      <a:lvl1pPr algn="r" defTabSz="914400" rtl="0" eaLnBrk="1" latinLnBrk="0" hangingPunct="1">
        <a:spcBef>
          <a:spcPct val="0"/>
        </a:spcBef>
        <a:buNone/>
        <a:defRPr sz="3200" b="1" kern="1200" cap="small" normalizeH="0" baseline="0">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3887756" y="3078"/>
            <a:ext cx="7694645" cy="617612"/>
          </a:xfrm>
          <a:prstGeom prst="rect">
            <a:avLst/>
          </a:prstGeom>
        </p:spPr>
        <p:txBody>
          <a:bodyPr vert="horz" lIns="91440" tIns="45720" rIns="91440" bIns="45720" rtlCol="0" anchor="ctr">
            <a:normAutofit/>
          </a:bodyPr>
          <a:lstStyle/>
          <a:p>
            <a:r>
              <a:rPr lang="fr-FR" dirty="0" smtClean="0"/>
              <a:t>Modifiez le style du titre</a:t>
            </a:r>
            <a:endParaRPr lang="en-US" dirty="0"/>
          </a:p>
        </p:txBody>
      </p:sp>
      <p:sp>
        <p:nvSpPr>
          <p:cNvPr id="3" name="Espace réservé du texte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fr-FR" smtClean="0"/>
              <a:t>Modifiez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en-US"/>
          </a:p>
        </p:txBody>
      </p:sp>
      <p:sp>
        <p:nvSpPr>
          <p:cNvPr id="15" name="Rectangle 14"/>
          <p:cNvSpPr/>
          <p:nvPr/>
        </p:nvSpPr>
        <p:spPr>
          <a:xfrm rot="5400000">
            <a:off x="11604686" y="5799924"/>
            <a:ext cx="1839158" cy="276999"/>
          </a:xfrm>
          <a:prstGeom prst="rect">
            <a:avLst/>
          </a:prstGeom>
        </p:spPr>
        <p:txBody>
          <a:bodyPr wrap="non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prstClr val="black"/>
                </a:solidFill>
              </a:rPr>
              <a:t>© Copyright Showeet.com</a:t>
            </a:r>
            <a:endParaRPr lang="en-US" sz="1200" dirty="0">
              <a:solidFill>
                <a:prstClr val="black"/>
              </a:solidFill>
            </a:endParaRPr>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Lst>
  <p:timing>
    <p:tnLst>
      <p:par>
        <p:cTn id="1" dur="indefinite" restart="never" nodeType="tmRoot"/>
      </p:par>
    </p:tnLst>
  </p:timing>
  <p:hf hdr="0"/>
  <p:txStyles>
    <p:titleStyle>
      <a:lvl1pPr algn="r" defTabSz="914400" rtl="0" eaLnBrk="1" latinLnBrk="0" hangingPunct="1">
        <a:spcBef>
          <a:spcPct val="0"/>
        </a:spcBef>
        <a:buNone/>
        <a:defRPr sz="3200" b="1" kern="1200" cap="small" normalizeH="0" baseline="0">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A90C67-EEC8-40CC-A54E-6D1B54451552}" type="datetime3">
              <a:rPr lang="en-US" smtClean="0"/>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INT 300 Internship II : First Review</a:t>
            </a:r>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327C5-B821-4FE9-A59A-A60D9EB59A9A}"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Lst>
  <p:timing>
    <p:tnLst>
      <p:par>
        <p:cTn id="1" dur="indefinite" restart="never" nodeType="tmRoot"/>
      </p:par>
    </p:tnLst>
  </p:timing>
  <p:hf hdr="0"/>
  <p:txStyles>
    <p:titleStyle>
      <a:lvl1pPr algn="l" defTabSz="914400" rtl="0" eaLnBrk="1" latinLnBrk="0" hangingPunct="1">
        <a:lnSpc>
          <a:spcPct val="90000"/>
        </a:lnSpc>
        <a:spcBef>
          <a:spcPct val="0"/>
        </a:spcBef>
        <a:buNone/>
        <a:defRPr sz="4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79734" y="2781443"/>
            <a:ext cx="11665295" cy="829945"/>
          </a:xfrm>
          <a:prstGeom prst="rect">
            <a:avLst/>
          </a:prstGeom>
          <a:noFill/>
        </p:spPr>
        <p:txBody>
          <a:bodyPr wrap="square" rtlCol="0">
            <a:spAutoFit/>
          </a:bodyPr>
          <a:lstStyle/>
          <a:p>
            <a:pPr algn="ctr"/>
            <a:r>
              <a:rPr lang="en-US" sz="2400" b="1" dirty="0" smtClean="0">
                <a:solidFill>
                  <a:srgbClr val="000066"/>
                </a:solidFill>
                <a:latin typeface="Arial" panose="020B0604020202020204" pitchFamily="34" charset="0"/>
                <a:cs typeface="Arial" panose="020B0604020202020204" pitchFamily="34" charset="0"/>
              </a:rPr>
              <a:t>D</a:t>
            </a:r>
            <a:r>
              <a:rPr lang="en-IN" altLang="en-US" sz="2400" b="1" dirty="0" smtClean="0">
                <a:solidFill>
                  <a:srgbClr val="000066"/>
                </a:solidFill>
                <a:latin typeface="Arial" panose="020B0604020202020204" pitchFamily="34" charset="0"/>
                <a:cs typeface="Arial" panose="020B0604020202020204" pitchFamily="34" charset="0"/>
              </a:rPr>
              <a:t>RUG</a:t>
            </a:r>
            <a:r>
              <a:rPr lang="en-US" sz="2400" b="1" dirty="0" smtClean="0">
                <a:solidFill>
                  <a:srgbClr val="000066"/>
                </a:solidFill>
                <a:latin typeface="Arial" panose="020B0604020202020204" pitchFamily="34" charset="0"/>
                <a:cs typeface="Arial" panose="020B0604020202020204" pitchFamily="34" charset="0"/>
              </a:rPr>
              <a:t> R</a:t>
            </a:r>
            <a:r>
              <a:rPr lang="en-IN" altLang="en-US" sz="2400" b="1" dirty="0" smtClean="0">
                <a:solidFill>
                  <a:srgbClr val="000066"/>
                </a:solidFill>
                <a:latin typeface="Arial" panose="020B0604020202020204" pitchFamily="34" charset="0"/>
                <a:cs typeface="Arial" panose="020B0604020202020204" pitchFamily="34" charset="0"/>
              </a:rPr>
              <a:t>ECOMMENDATION, AUTHENTIC USAGE AND TRACKING WITH BLOCK CHAIN VALIDATION</a:t>
            </a:r>
            <a:endParaRPr lang="en-US" sz="2400" b="1" dirty="0">
              <a:solidFill>
                <a:srgbClr val="000066"/>
              </a:solidFill>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nvGraphicFramePr>
        <p:xfrm>
          <a:off x="631900" y="4148887"/>
          <a:ext cx="10962290" cy="3017520"/>
        </p:xfrm>
        <a:graphic>
          <a:graphicData uri="http://schemas.openxmlformats.org/drawingml/2006/table">
            <a:tbl>
              <a:tblPr firstRow="1" bandRow="1">
                <a:tableStyleId>{5C22544A-7EE6-4342-B048-85BDC9FD1C3A}</a:tableStyleId>
              </a:tblPr>
              <a:tblGrid>
                <a:gridCol w="5481145"/>
                <a:gridCol w="5481145"/>
              </a:tblGrid>
              <a:tr h="457200">
                <a:tc>
                  <a:txBody>
                    <a:bodyPr/>
                    <a:lstStyle/>
                    <a:p>
                      <a:pPr algn="ctr"/>
                      <a:r>
                        <a:rPr lang="en-US" sz="2400" dirty="0" smtClean="0">
                          <a:solidFill>
                            <a:srgbClr val="000066"/>
                          </a:solidFill>
                          <a:latin typeface="Arial" panose="020B0604020202020204" pitchFamily="34" charset="0"/>
                          <a:cs typeface="Arial" panose="020B0604020202020204" pitchFamily="34" charset="0"/>
                        </a:rPr>
                        <a:t>Project Mentor</a:t>
                      </a:r>
                      <a:endParaRPr lang="en-US" sz="2400" dirty="0">
                        <a:solidFill>
                          <a:srgbClr val="000066"/>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000066"/>
                          </a:solidFill>
                          <a:latin typeface="Arial" panose="020B0604020202020204" pitchFamily="34" charset="0"/>
                          <a:cs typeface="Arial" panose="020B0604020202020204" pitchFamily="34" charset="0"/>
                        </a:rPr>
                        <a:t>Student Team </a:t>
                      </a:r>
                      <a:endParaRPr lang="en-US" sz="2400" dirty="0">
                        <a:solidFill>
                          <a:srgbClr val="000066"/>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indent="0">
                        <a:lnSpc>
                          <a:spcPct val="180000"/>
                        </a:lnSpc>
                        <a:buNone/>
                      </a:pPr>
                      <a:r>
                        <a:rPr lang="en-US" b="1" dirty="0" smtClean="0">
                          <a:solidFill>
                            <a:schemeClr val="tx2"/>
                          </a:solidFill>
                          <a:latin typeface="Arial" panose="020B0604020202020204" pitchFamily="34" charset="0"/>
                          <a:cs typeface="Arial" panose="020B0604020202020204" pitchFamily="34" charset="0"/>
                        </a:rPr>
                        <a:t>G. </a:t>
                      </a:r>
                      <a:r>
                        <a:rPr lang="en-US" b="1" dirty="0" err="1" smtClean="0">
                          <a:solidFill>
                            <a:schemeClr val="tx2"/>
                          </a:solidFill>
                          <a:latin typeface="Arial" panose="020B0604020202020204" pitchFamily="34" charset="0"/>
                          <a:cs typeface="Arial" panose="020B0604020202020204" pitchFamily="34" charset="0"/>
                        </a:rPr>
                        <a:t>Jayanthi</a:t>
                      </a:r>
                      <a:r>
                        <a:rPr lang="en-US" b="1" dirty="0" smtClean="0">
                          <a:solidFill>
                            <a:schemeClr val="tx2"/>
                          </a:solidFill>
                          <a:latin typeface="Arial" panose="020B0604020202020204" pitchFamily="34" charset="0"/>
                          <a:cs typeface="Arial" panose="020B0604020202020204" pitchFamily="34" charset="0"/>
                        </a:rPr>
                        <a:t> Ph. D.,</a:t>
                      </a:r>
                      <a:endParaRPr lang="en-US" b="1" dirty="0" smtClean="0">
                        <a:solidFill>
                          <a:schemeClr val="tx2"/>
                        </a:solidFill>
                        <a:latin typeface="Arial" panose="020B0604020202020204" pitchFamily="34" charset="0"/>
                        <a:cs typeface="Arial" panose="020B0604020202020204" pitchFamily="34" charset="0"/>
                      </a:endParaRPr>
                    </a:p>
                    <a:p>
                      <a:pPr marL="0" indent="0" algn="l">
                        <a:lnSpc>
                          <a:spcPct val="180000"/>
                        </a:lnSpc>
                        <a:buNone/>
                      </a:pPr>
                      <a:r>
                        <a:rPr lang="en-US" dirty="0" smtClean="0">
                          <a:solidFill>
                            <a:srgbClr val="000066"/>
                          </a:solidFill>
                          <a:latin typeface="Arial" panose="020B0604020202020204" pitchFamily="34" charset="0"/>
                          <a:cs typeface="Arial" panose="020B0604020202020204" pitchFamily="34" charset="0"/>
                        </a:rPr>
                        <a:t>jayanthig@sret.edu.in</a:t>
                      </a:r>
                      <a:endParaRPr lang="en-US" dirty="0" smtClean="0">
                        <a:solidFill>
                          <a:srgbClr val="000066"/>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42900" indent="-342900">
                        <a:lnSpc>
                          <a:spcPct val="180000"/>
                        </a:lnSpc>
                        <a:buAutoNum type="arabicPeriod"/>
                      </a:pPr>
                      <a:r>
                        <a:rPr lang="en-US" dirty="0" smtClean="0">
                          <a:solidFill>
                            <a:srgbClr val="000066"/>
                          </a:solidFill>
                          <a:latin typeface="Arial" panose="020B0604020202020204" pitchFamily="34" charset="0"/>
                          <a:cs typeface="Arial" panose="020B0604020202020204" pitchFamily="34" charset="0"/>
                        </a:rPr>
                        <a:t>E0</a:t>
                      </a:r>
                      <a:r>
                        <a:rPr lang="en-IN" altLang="en-US" dirty="0" smtClean="0">
                          <a:solidFill>
                            <a:srgbClr val="000066"/>
                          </a:solidFill>
                          <a:latin typeface="Arial" panose="020B0604020202020204" pitchFamily="34" charset="0"/>
                          <a:cs typeface="Arial" panose="020B0604020202020204" pitchFamily="34" charset="0"/>
                        </a:rPr>
                        <a:t>2</a:t>
                      </a:r>
                      <a:r>
                        <a:rPr lang="en-US" dirty="0" smtClean="0">
                          <a:solidFill>
                            <a:srgbClr val="000066"/>
                          </a:solidFill>
                          <a:latin typeface="Arial" panose="020B0604020202020204" pitchFamily="34" charset="0"/>
                          <a:cs typeface="Arial" panose="020B0604020202020204" pitchFamily="34" charset="0"/>
                        </a:rPr>
                        <a:t>200</a:t>
                      </a:r>
                      <a:r>
                        <a:rPr lang="en-IN" altLang="en-US" dirty="0" smtClean="0">
                          <a:solidFill>
                            <a:srgbClr val="000066"/>
                          </a:solidFill>
                          <a:latin typeface="Arial" panose="020B0604020202020204" pitchFamily="34" charset="0"/>
                          <a:cs typeface="Arial" panose="020B0604020202020204" pitchFamily="34" charset="0"/>
                        </a:rPr>
                        <a:t>03</a:t>
                      </a:r>
                      <a:r>
                        <a:rPr lang="en-US" dirty="0" smtClean="0">
                          <a:solidFill>
                            <a:srgbClr val="000066"/>
                          </a:solidFill>
                          <a:latin typeface="Arial" panose="020B0604020202020204" pitchFamily="34" charset="0"/>
                          <a:cs typeface="Arial" panose="020B0604020202020204" pitchFamily="34" charset="0"/>
                        </a:rPr>
                        <a:t> </a:t>
                      </a:r>
                      <a:r>
                        <a:rPr lang="en-IN" altLang="en-US" dirty="0" smtClean="0">
                          <a:solidFill>
                            <a:srgbClr val="000066"/>
                          </a:solidFill>
                          <a:latin typeface="Arial" panose="020B0604020202020204" pitchFamily="34" charset="0"/>
                          <a:cs typeface="Arial" panose="020B0604020202020204" pitchFamily="34" charset="0"/>
                        </a:rPr>
                        <a:t>       </a:t>
                      </a:r>
                      <a:r>
                        <a:rPr lang="en-IN" altLang="en-US" dirty="0" err="1" smtClean="0">
                          <a:solidFill>
                            <a:srgbClr val="000066"/>
                          </a:solidFill>
                          <a:latin typeface="Arial" panose="020B0604020202020204" pitchFamily="34" charset="0"/>
                          <a:cs typeface="Arial" panose="020B0604020202020204" pitchFamily="34" charset="0"/>
                        </a:rPr>
                        <a:t>Nivedhidha I</a:t>
                      </a:r>
                      <a:endParaRPr lang="en-US" dirty="0" smtClean="0">
                        <a:solidFill>
                          <a:srgbClr val="000066"/>
                        </a:solidFill>
                        <a:latin typeface="Arial" panose="020B0604020202020204" pitchFamily="34" charset="0"/>
                        <a:cs typeface="Arial" panose="020B0604020202020204" pitchFamily="34" charset="0"/>
                      </a:endParaRPr>
                    </a:p>
                    <a:p>
                      <a:pPr marL="342900" indent="-342900">
                        <a:lnSpc>
                          <a:spcPct val="180000"/>
                        </a:lnSpc>
                        <a:buAutoNum type="arabicPeriod"/>
                      </a:pPr>
                      <a:r>
                        <a:rPr lang="en-IN" altLang="en-US" dirty="0" smtClean="0">
                          <a:solidFill>
                            <a:srgbClr val="000066"/>
                          </a:solidFill>
                          <a:latin typeface="Arial" panose="020B0604020202020204" pitchFamily="34" charset="0"/>
                          <a:cs typeface="Arial" panose="020B0604020202020204" pitchFamily="34" charset="0"/>
                        </a:rPr>
                        <a:t>E0220009        Mohammed Umar</a:t>
                      </a:r>
                      <a:endParaRPr lang="en-US" dirty="0">
                        <a:solidFill>
                          <a:srgbClr val="000066"/>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pic>
        <p:nvPicPr>
          <p:cNvPr id="6" name="image1.png"/>
          <p:cNvPicPr preferRelativeResize="0"/>
          <p:nvPr/>
        </p:nvPicPr>
        <p:blipFill>
          <a:blip r:embed="rId1"/>
          <a:srcRect/>
          <a:stretch>
            <a:fillRect/>
          </a:stretch>
        </p:blipFill>
        <p:spPr>
          <a:xfrm>
            <a:off x="2300605" y="405130"/>
            <a:ext cx="7591425" cy="1061720"/>
          </a:xfrm>
          <a:prstGeom prst="rect">
            <a:avLst/>
          </a:prstGeom>
        </p:spPr>
      </p:pic>
      <p:sp>
        <p:nvSpPr>
          <p:cNvPr id="4" name="TextBox 3"/>
          <p:cNvSpPr txBox="1"/>
          <p:nvPr/>
        </p:nvSpPr>
        <p:spPr>
          <a:xfrm>
            <a:off x="3127673" y="1700886"/>
            <a:ext cx="5937075" cy="830997"/>
          </a:xfrm>
          <a:prstGeom prst="rect">
            <a:avLst/>
          </a:prstGeom>
          <a:noFill/>
        </p:spPr>
        <p:txBody>
          <a:bodyPr wrap="none" rtlCol="0">
            <a:spAutoFit/>
          </a:bodyPr>
          <a:lstStyle/>
          <a:p>
            <a:pPr algn="ctr"/>
            <a:r>
              <a:rPr lang="en-US" sz="2400" b="1" dirty="0" smtClean="0">
                <a:solidFill>
                  <a:srgbClr val="C00000"/>
                </a:solidFill>
                <a:latin typeface="Arial" panose="020B0604020202020204" pitchFamily="34" charset="0"/>
                <a:cs typeface="Arial" panose="020B0604020202020204" pitchFamily="34" charset="0"/>
              </a:rPr>
              <a:t>INT 300 INTERNSHIP II : FIRST REVIEW</a:t>
            </a:r>
            <a:endParaRPr lang="en-US" sz="2400" b="1" dirty="0" smtClean="0">
              <a:solidFill>
                <a:srgbClr val="C00000"/>
              </a:solidFill>
              <a:latin typeface="Arial" panose="020B0604020202020204" pitchFamily="34" charset="0"/>
              <a:cs typeface="Arial" panose="020B0604020202020204" pitchFamily="34" charset="0"/>
            </a:endParaRPr>
          </a:p>
          <a:p>
            <a:pPr algn="ctr"/>
            <a:r>
              <a:rPr lang="en-US" sz="2400" b="1" dirty="0" smtClean="0">
                <a:solidFill>
                  <a:srgbClr val="C00000"/>
                </a:solidFill>
                <a:latin typeface="Arial" panose="020B0604020202020204" pitchFamily="34" charset="0"/>
                <a:cs typeface="Arial" panose="020B0604020202020204" pitchFamily="34" charset="0"/>
              </a:rPr>
              <a:t>Date : 07-FEB-2022, 10 A.M.</a:t>
            </a:r>
            <a:endParaRPr lang="en-US" sz="2400" b="1" dirty="0">
              <a:solidFill>
                <a:srgbClr val="C00000"/>
              </a:solidFill>
              <a:latin typeface="Arial" panose="020B0604020202020204" pitchFamily="34" charset="0"/>
              <a:cs typeface="Arial" panose="020B0604020202020204" pitchFamily="34" charset="0"/>
            </a:endParaRPr>
          </a:p>
        </p:txBody>
      </p:sp>
      <p:sp>
        <p:nvSpPr>
          <p:cNvPr id="2" name="Date Placeholder 3"/>
          <p:cNvSpPr txBox="1"/>
          <p:nvPr/>
        </p:nvSpPr>
        <p:spPr>
          <a:xfrm>
            <a:off x="595184" y="6543654"/>
            <a:ext cx="1422400" cy="222204"/>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US" sz="1000" b="1" dirty="0">
                <a:solidFill>
                  <a:srgbClr val="660033"/>
                </a:solidFill>
                <a:latin typeface="Arial" panose="020B0604020202020204" pitchFamily="34" charset="0"/>
                <a:cs typeface="Arial" panose="020B0604020202020204" pitchFamily="34" charset="0"/>
              </a:rPr>
              <a:t>7 February 2022</a:t>
            </a:r>
            <a:endParaRPr lang="en-IN" altLang="en-US" sz="1000" b="1" dirty="0">
              <a:solidFill>
                <a:srgbClr val="660033"/>
              </a:solidFill>
              <a:latin typeface="Arial" panose="020B0604020202020204" pitchFamily="34" charset="0"/>
              <a:cs typeface="Arial" panose="020B0604020202020204" pitchFamily="34" charset="0"/>
            </a:endParaRPr>
          </a:p>
        </p:txBody>
      </p:sp>
      <p:sp>
        <p:nvSpPr>
          <p:cNvPr id="8" name="TextBox 4"/>
          <p:cNvSpPr txBox="1"/>
          <p:nvPr/>
        </p:nvSpPr>
        <p:spPr>
          <a:xfrm>
            <a:off x="5042622" y="6525344"/>
            <a:ext cx="2263761" cy="246221"/>
          </a:xfrm>
          <a:prstGeom prst="rect">
            <a:avLst/>
          </a:prstGeom>
          <a:noFill/>
        </p:spPr>
        <p:txBody>
          <a:bodyPr wrap="none" rtlCol="0">
            <a:spAutoFit/>
          </a:bodyPr>
          <a:p>
            <a:r>
              <a:rPr lang="en-US" sz="1000" b="1" dirty="0" smtClean="0">
                <a:solidFill>
                  <a:srgbClr val="660033"/>
                </a:solidFill>
                <a:latin typeface="Arial" panose="020B0604020202020204" pitchFamily="34" charset="0"/>
                <a:cs typeface="Arial" panose="020B0604020202020204" pitchFamily="34" charset="0"/>
              </a:rPr>
              <a:t>INT 300 Internship II : First Review</a:t>
            </a:r>
            <a:endParaRPr lang="en-US" sz="1000" b="1" dirty="0">
              <a:solidFill>
                <a:srgbClr val="660033"/>
              </a:solidFill>
              <a:latin typeface="Arial" panose="020B0604020202020204" pitchFamily="34" charset="0"/>
              <a:cs typeface="Arial" panose="020B0604020202020204" pitchFamily="34" charset="0"/>
            </a:endParaRPr>
          </a:p>
        </p:txBody>
      </p:sp>
      <p:sp>
        <p:nvSpPr>
          <p:cNvPr id="9" name="Slide Number Placeholder 3"/>
          <p:cNvSpPr txBox="1"/>
          <p:nvPr/>
        </p:nvSpPr>
        <p:spPr>
          <a:xfrm>
            <a:off x="11787715" y="6459494"/>
            <a:ext cx="438150" cy="3905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8327C5-B821-4FE9-A59A-A60D9EB59A9A}" type="slidenum">
              <a:rPr lang="en-US" sz="1000" b="1" smtClean="0">
                <a:solidFill>
                  <a:srgbClr val="660033"/>
                </a:solidFill>
                <a:latin typeface="Arial" panose="020B0604020202020204" pitchFamily="34" charset="0"/>
                <a:cs typeface="Arial" panose="020B0604020202020204" pitchFamily="34" charset="0"/>
              </a:rPr>
            </a:fld>
            <a:endParaRPr lang="en-US" sz="1000" b="1" dirty="0">
              <a:solidFill>
                <a:srgbClr val="660033"/>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03277" y="405167"/>
            <a:ext cx="1741182" cy="523220"/>
          </a:xfrm>
          <a:prstGeom prst="rect">
            <a:avLst/>
          </a:prstGeom>
          <a:noFill/>
        </p:spPr>
        <p:txBody>
          <a:bodyPr wrap="none" rtlCol="0">
            <a:spAutoFit/>
          </a:bodyPr>
          <a:lstStyle/>
          <a:p>
            <a:r>
              <a:rPr lang="en-US" sz="2800" b="1" dirty="0" smtClean="0">
                <a:solidFill>
                  <a:srgbClr val="660033"/>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AGENDA</a:t>
            </a:r>
            <a:endParaRPr lang="en-US" sz="2800" b="1" dirty="0">
              <a:solidFill>
                <a:srgbClr val="660033"/>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 name="Date Placeholder 3"/>
          <p:cNvSpPr txBox="1"/>
          <p:nvPr/>
        </p:nvSpPr>
        <p:spPr>
          <a:xfrm>
            <a:off x="595184" y="6543654"/>
            <a:ext cx="1422400" cy="222204"/>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US" sz="1000" b="1" dirty="0">
                <a:solidFill>
                  <a:srgbClr val="660033"/>
                </a:solidFill>
                <a:latin typeface="Arial" panose="020B0604020202020204" pitchFamily="34" charset="0"/>
                <a:cs typeface="Arial" panose="020B0604020202020204" pitchFamily="34" charset="0"/>
              </a:rPr>
              <a:t>7 February 2022</a:t>
            </a:r>
            <a:endParaRPr lang="en-IN" altLang="en-US" sz="1000" b="1" dirty="0">
              <a:solidFill>
                <a:srgbClr val="660033"/>
              </a:solidFill>
              <a:latin typeface="Arial" panose="020B0604020202020204" pitchFamily="34" charset="0"/>
              <a:cs typeface="Arial" panose="020B0604020202020204" pitchFamily="34" charset="0"/>
            </a:endParaRPr>
          </a:p>
        </p:txBody>
      </p:sp>
      <p:sp>
        <p:nvSpPr>
          <p:cNvPr id="4" name="Slide Number Placeholder 3"/>
          <p:cNvSpPr txBox="1"/>
          <p:nvPr/>
        </p:nvSpPr>
        <p:spPr>
          <a:xfrm>
            <a:off x="11787715" y="6459494"/>
            <a:ext cx="438150" cy="3905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8327C5-B821-4FE9-A59A-A60D9EB59A9A}" type="slidenum">
              <a:rPr lang="en-US" sz="1000" b="1" smtClean="0">
                <a:solidFill>
                  <a:srgbClr val="660033"/>
                </a:solidFill>
                <a:latin typeface="Arial" panose="020B0604020202020204" pitchFamily="34" charset="0"/>
                <a:cs typeface="Arial" panose="020B0604020202020204" pitchFamily="34" charset="0"/>
              </a:rPr>
            </a:fld>
            <a:endParaRPr lang="en-US" sz="1000" b="1" dirty="0">
              <a:solidFill>
                <a:srgbClr val="660033"/>
              </a:solidFill>
              <a:latin typeface="Arial" panose="020B0604020202020204" pitchFamily="34" charset="0"/>
              <a:cs typeface="Arial" panose="020B0604020202020204" pitchFamily="34" charset="0"/>
            </a:endParaRPr>
          </a:p>
        </p:txBody>
      </p:sp>
      <p:sp>
        <p:nvSpPr>
          <p:cNvPr id="5" name="TextBox 4"/>
          <p:cNvSpPr txBox="1"/>
          <p:nvPr/>
        </p:nvSpPr>
        <p:spPr>
          <a:xfrm>
            <a:off x="5042622" y="6525344"/>
            <a:ext cx="2263761" cy="246221"/>
          </a:xfrm>
          <a:prstGeom prst="rect">
            <a:avLst/>
          </a:prstGeom>
          <a:noFill/>
        </p:spPr>
        <p:txBody>
          <a:bodyPr wrap="none" rtlCol="0">
            <a:spAutoFit/>
          </a:bodyPr>
          <a:lstStyle/>
          <a:p>
            <a:r>
              <a:rPr lang="en-US" sz="1000" b="1" dirty="0" smtClean="0">
                <a:solidFill>
                  <a:srgbClr val="660033"/>
                </a:solidFill>
                <a:latin typeface="Arial" panose="020B0604020202020204" pitchFamily="34" charset="0"/>
                <a:cs typeface="Arial" panose="020B0604020202020204" pitchFamily="34" charset="0"/>
              </a:rPr>
              <a:t>INT 300 Internship II : First Review</a:t>
            </a:r>
            <a:endParaRPr lang="en-US" sz="1000" b="1" dirty="0">
              <a:solidFill>
                <a:srgbClr val="660033"/>
              </a:solidFill>
              <a:latin typeface="Arial" panose="020B0604020202020204" pitchFamily="34" charset="0"/>
              <a:cs typeface="Arial" panose="020B0604020202020204" pitchFamily="34" charset="0"/>
            </a:endParaRPr>
          </a:p>
        </p:txBody>
      </p:sp>
      <p:sp>
        <p:nvSpPr>
          <p:cNvPr id="6" name="TextBox 5"/>
          <p:cNvSpPr txBox="1"/>
          <p:nvPr/>
        </p:nvSpPr>
        <p:spPr>
          <a:xfrm>
            <a:off x="1415415" y="1125220"/>
            <a:ext cx="4097655" cy="5015865"/>
          </a:xfrm>
          <a:prstGeom prst="rect">
            <a:avLst/>
          </a:prstGeom>
          <a:noFill/>
        </p:spPr>
        <p:txBody>
          <a:bodyPr wrap="square" rtlCol="0">
            <a:spAutoFit/>
          </a:bodyPr>
          <a:lstStyle/>
          <a:p>
            <a:pPr marL="342900" indent="-342900" algn="l">
              <a:lnSpc>
                <a:spcPct val="200000"/>
              </a:lnSpc>
              <a:buFont typeface="Arial" panose="020B0604020202020204" pitchFamily="34" charset="0"/>
              <a:buChar char="•"/>
            </a:pPr>
            <a:r>
              <a:rPr lang="en-US" sz="2000" b="1" dirty="0" smtClean="0">
                <a:solidFill>
                  <a:srgbClr val="660033"/>
                </a:solidFill>
                <a:latin typeface="Arial" panose="020B0604020202020204" pitchFamily="34" charset="0"/>
                <a:cs typeface="Arial" panose="020B0604020202020204" pitchFamily="34" charset="0"/>
              </a:rPr>
              <a:t>Introduction</a:t>
            </a:r>
            <a:endParaRPr lang="en-US" sz="2000" b="1" dirty="0" smtClean="0">
              <a:solidFill>
                <a:srgbClr val="660033"/>
              </a:solidFill>
              <a:latin typeface="Arial" panose="020B0604020202020204" pitchFamily="34" charset="0"/>
              <a:cs typeface="Arial" panose="020B0604020202020204" pitchFamily="34" charset="0"/>
            </a:endParaRPr>
          </a:p>
          <a:p>
            <a:pPr marL="342900" indent="-342900" algn="l">
              <a:lnSpc>
                <a:spcPct val="200000"/>
              </a:lnSpc>
              <a:buFont typeface="Arial" panose="020B0604020202020204" pitchFamily="34" charset="0"/>
              <a:buChar char="•"/>
            </a:pPr>
            <a:r>
              <a:rPr lang="en-US" sz="2000" b="1" dirty="0" smtClean="0">
                <a:solidFill>
                  <a:srgbClr val="660033"/>
                </a:solidFill>
                <a:latin typeface="Arial" panose="020B0604020202020204" pitchFamily="34" charset="0"/>
                <a:cs typeface="Arial" panose="020B0604020202020204" pitchFamily="34" charset="0"/>
              </a:rPr>
              <a:t>Review o</a:t>
            </a:r>
            <a:r>
              <a:rPr lang="en-IN" altLang="en-US" sz="2000" b="1" dirty="0" smtClean="0">
                <a:solidFill>
                  <a:srgbClr val="660033"/>
                </a:solidFill>
                <a:latin typeface="Arial" panose="020B0604020202020204" pitchFamily="34" charset="0"/>
                <a:cs typeface="Arial" panose="020B0604020202020204" pitchFamily="34" charset="0"/>
              </a:rPr>
              <a:t>f </a:t>
            </a:r>
            <a:r>
              <a:rPr lang="en-US" sz="2000" b="1" dirty="0" smtClean="0">
                <a:solidFill>
                  <a:srgbClr val="660033"/>
                </a:solidFill>
                <a:latin typeface="Arial" panose="020B0604020202020204" pitchFamily="34" charset="0"/>
                <a:cs typeface="Arial" panose="020B0604020202020204" pitchFamily="34" charset="0"/>
              </a:rPr>
              <a:t>Literature</a:t>
            </a:r>
            <a:endParaRPr lang="en-US" sz="2000" b="1" dirty="0" smtClean="0">
              <a:solidFill>
                <a:srgbClr val="660033"/>
              </a:solidFill>
              <a:latin typeface="Arial" panose="020B0604020202020204" pitchFamily="34" charset="0"/>
              <a:cs typeface="Arial" panose="020B0604020202020204" pitchFamily="34" charset="0"/>
            </a:endParaRPr>
          </a:p>
          <a:p>
            <a:pPr marL="342900" indent="-342900" algn="l">
              <a:lnSpc>
                <a:spcPct val="200000"/>
              </a:lnSpc>
              <a:buFont typeface="Arial" panose="020B0604020202020204" pitchFamily="34" charset="0"/>
              <a:buChar char="•"/>
            </a:pPr>
            <a:r>
              <a:rPr lang="en-US" sz="2000" b="1" dirty="0" smtClean="0">
                <a:solidFill>
                  <a:srgbClr val="660033"/>
                </a:solidFill>
                <a:latin typeface="Arial" panose="020B0604020202020204" pitchFamily="34" charset="0"/>
                <a:cs typeface="Arial" panose="020B0604020202020204" pitchFamily="34" charset="0"/>
              </a:rPr>
              <a:t>Problem Statement</a:t>
            </a:r>
            <a:endParaRPr lang="en-US" sz="2000" b="1" dirty="0" smtClean="0">
              <a:solidFill>
                <a:srgbClr val="660033"/>
              </a:solidFill>
              <a:latin typeface="Arial" panose="020B0604020202020204" pitchFamily="34" charset="0"/>
              <a:cs typeface="Arial" panose="020B0604020202020204" pitchFamily="34" charset="0"/>
            </a:endParaRPr>
          </a:p>
          <a:p>
            <a:pPr marL="342900" indent="-342900" algn="l">
              <a:lnSpc>
                <a:spcPct val="200000"/>
              </a:lnSpc>
              <a:buFont typeface="Arial" panose="020B0604020202020204" pitchFamily="34" charset="0"/>
              <a:buChar char="•"/>
            </a:pPr>
            <a:r>
              <a:rPr lang="en-US" sz="2000" b="1" dirty="0" smtClean="0">
                <a:solidFill>
                  <a:srgbClr val="660033"/>
                </a:solidFill>
                <a:latin typeface="Arial" panose="020B0604020202020204" pitchFamily="34" charset="0"/>
                <a:cs typeface="Arial" panose="020B0604020202020204" pitchFamily="34" charset="0"/>
              </a:rPr>
              <a:t>Objective</a:t>
            </a:r>
            <a:endParaRPr lang="en-US" sz="2000" b="1" dirty="0" smtClean="0">
              <a:solidFill>
                <a:srgbClr val="660033"/>
              </a:solidFill>
              <a:latin typeface="Arial" panose="020B0604020202020204" pitchFamily="34" charset="0"/>
              <a:cs typeface="Arial" panose="020B0604020202020204" pitchFamily="34" charset="0"/>
            </a:endParaRPr>
          </a:p>
          <a:p>
            <a:pPr marL="342900" indent="-342900" algn="l">
              <a:lnSpc>
                <a:spcPct val="200000"/>
              </a:lnSpc>
              <a:buFont typeface="Arial" panose="020B0604020202020204" pitchFamily="34" charset="0"/>
              <a:buChar char="•"/>
            </a:pPr>
            <a:r>
              <a:rPr lang="en-US" sz="2000" b="1" dirty="0" smtClean="0">
                <a:solidFill>
                  <a:srgbClr val="660033"/>
                </a:solidFill>
                <a:latin typeface="Arial" panose="020B0604020202020204" pitchFamily="34" charset="0"/>
                <a:cs typeface="Arial" panose="020B0604020202020204" pitchFamily="34" charset="0"/>
              </a:rPr>
              <a:t>Methodology</a:t>
            </a:r>
            <a:endParaRPr lang="en-US" sz="2000" b="1" dirty="0" smtClean="0">
              <a:solidFill>
                <a:srgbClr val="660033"/>
              </a:solidFill>
              <a:latin typeface="Arial" panose="020B0604020202020204" pitchFamily="34" charset="0"/>
              <a:cs typeface="Arial" panose="020B0604020202020204" pitchFamily="34" charset="0"/>
            </a:endParaRPr>
          </a:p>
          <a:p>
            <a:pPr marL="342900" indent="-342900" algn="l">
              <a:lnSpc>
                <a:spcPct val="200000"/>
              </a:lnSpc>
              <a:buFont typeface="Arial" panose="020B0604020202020204" pitchFamily="34" charset="0"/>
              <a:buChar char="•"/>
            </a:pPr>
            <a:r>
              <a:rPr lang="en-US" sz="2000" b="1" dirty="0" smtClean="0">
                <a:solidFill>
                  <a:srgbClr val="660033"/>
                </a:solidFill>
                <a:latin typeface="Arial" panose="020B0604020202020204" pitchFamily="34" charset="0"/>
                <a:cs typeface="Arial" panose="020B0604020202020204" pitchFamily="34" charset="0"/>
              </a:rPr>
              <a:t>Progress of Work</a:t>
            </a:r>
            <a:endParaRPr lang="en-US" sz="2000" b="1" dirty="0" smtClean="0">
              <a:solidFill>
                <a:srgbClr val="660033"/>
              </a:solidFill>
              <a:latin typeface="Arial" panose="020B0604020202020204" pitchFamily="34" charset="0"/>
              <a:cs typeface="Arial" panose="020B0604020202020204" pitchFamily="34" charset="0"/>
            </a:endParaRPr>
          </a:p>
          <a:p>
            <a:pPr marL="342900" indent="-342900" algn="l">
              <a:lnSpc>
                <a:spcPct val="200000"/>
              </a:lnSpc>
              <a:buFont typeface="Arial" panose="020B0604020202020204" pitchFamily="34" charset="0"/>
              <a:buChar char="•"/>
            </a:pPr>
            <a:r>
              <a:rPr lang="en-US" sz="2000" b="1" dirty="0" smtClean="0">
                <a:solidFill>
                  <a:srgbClr val="660033"/>
                </a:solidFill>
                <a:latin typeface="Arial" panose="020B0604020202020204" pitchFamily="34" charset="0"/>
                <a:cs typeface="Arial" panose="020B0604020202020204" pitchFamily="34" charset="0"/>
              </a:rPr>
              <a:t>Timeline</a:t>
            </a:r>
            <a:endParaRPr lang="en-US" sz="2000" b="1" dirty="0" smtClean="0">
              <a:solidFill>
                <a:srgbClr val="660033"/>
              </a:solidFill>
              <a:latin typeface="Arial" panose="020B0604020202020204" pitchFamily="34" charset="0"/>
              <a:cs typeface="Arial" panose="020B0604020202020204" pitchFamily="34" charset="0"/>
            </a:endParaRPr>
          </a:p>
          <a:p>
            <a:pPr marL="342900" indent="-342900" algn="l">
              <a:lnSpc>
                <a:spcPct val="200000"/>
              </a:lnSpc>
              <a:buFont typeface="Arial" panose="020B0604020202020204" pitchFamily="34" charset="0"/>
              <a:buChar char="•"/>
            </a:pPr>
            <a:r>
              <a:rPr lang="en-US" sz="2000" b="1" dirty="0" smtClean="0">
                <a:solidFill>
                  <a:srgbClr val="660033"/>
                </a:solidFill>
                <a:latin typeface="Arial" panose="020B0604020202020204" pitchFamily="34" charset="0"/>
                <a:cs typeface="Arial" panose="020B0604020202020204" pitchFamily="34" charset="0"/>
              </a:rPr>
              <a:t>References</a:t>
            </a:r>
            <a:endParaRPr lang="en-US" sz="2000" b="1" dirty="0">
              <a:solidFill>
                <a:srgbClr val="660033"/>
              </a:solidFill>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26754" y="405357"/>
            <a:ext cx="2938625" cy="523220"/>
          </a:xfrm>
          <a:prstGeom prst="rect">
            <a:avLst/>
          </a:prstGeom>
          <a:noFill/>
        </p:spPr>
        <p:txBody>
          <a:bodyPr wrap="none" rtlCol="0">
            <a:spAutoFit/>
          </a:bodyPr>
          <a:lstStyle/>
          <a:p>
            <a:r>
              <a:rPr lang="en-US" sz="2800" b="1" dirty="0" smtClean="0">
                <a:solidFill>
                  <a:srgbClr val="660033"/>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INTRODUCTION</a:t>
            </a:r>
            <a:endParaRPr lang="en-US" sz="2800" b="1" dirty="0">
              <a:solidFill>
                <a:srgbClr val="660033"/>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 name="Date Placeholder 3"/>
          <p:cNvSpPr txBox="1"/>
          <p:nvPr/>
        </p:nvSpPr>
        <p:spPr>
          <a:xfrm>
            <a:off x="595184" y="6543654"/>
            <a:ext cx="1422400" cy="222204"/>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US" sz="1000" b="1" dirty="0">
                <a:solidFill>
                  <a:srgbClr val="660033"/>
                </a:solidFill>
                <a:latin typeface="Arial" panose="020B0604020202020204" pitchFamily="34" charset="0"/>
                <a:cs typeface="Arial" panose="020B0604020202020204" pitchFamily="34" charset="0"/>
              </a:rPr>
              <a:t>7 February 2022</a:t>
            </a:r>
            <a:endParaRPr lang="en-IN" altLang="en-US" sz="1000" b="1" dirty="0">
              <a:solidFill>
                <a:srgbClr val="660033"/>
              </a:solidFill>
              <a:latin typeface="Arial" panose="020B0604020202020204" pitchFamily="34" charset="0"/>
              <a:cs typeface="Arial" panose="020B0604020202020204" pitchFamily="34" charset="0"/>
            </a:endParaRPr>
          </a:p>
        </p:txBody>
      </p:sp>
      <p:sp>
        <p:nvSpPr>
          <p:cNvPr id="4" name="Slide Number Placeholder 3"/>
          <p:cNvSpPr txBox="1"/>
          <p:nvPr/>
        </p:nvSpPr>
        <p:spPr>
          <a:xfrm>
            <a:off x="11787715" y="6459494"/>
            <a:ext cx="438150" cy="3905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8327C5-B821-4FE9-A59A-A60D9EB59A9A}" type="slidenum">
              <a:rPr lang="en-US" sz="1000" b="1" smtClean="0">
                <a:solidFill>
                  <a:srgbClr val="660033"/>
                </a:solidFill>
                <a:latin typeface="Arial" panose="020B0604020202020204" pitchFamily="34" charset="0"/>
                <a:cs typeface="Arial" panose="020B0604020202020204" pitchFamily="34" charset="0"/>
              </a:rPr>
            </a:fld>
            <a:endParaRPr lang="en-US" sz="1000" b="1" dirty="0">
              <a:solidFill>
                <a:srgbClr val="660033"/>
              </a:solidFill>
              <a:latin typeface="Arial" panose="020B0604020202020204" pitchFamily="34" charset="0"/>
              <a:cs typeface="Arial" panose="020B0604020202020204" pitchFamily="34" charset="0"/>
            </a:endParaRPr>
          </a:p>
        </p:txBody>
      </p:sp>
      <p:sp>
        <p:nvSpPr>
          <p:cNvPr id="5" name="TextBox 4"/>
          <p:cNvSpPr txBox="1"/>
          <p:nvPr/>
        </p:nvSpPr>
        <p:spPr>
          <a:xfrm>
            <a:off x="5042622" y="6525344"/>
            <a:ext cx="2263761" cy="246221"/>
          </a:xfrm>
          <a:prstGeom prst="rect">
            <a:avLst/>
          </a:prstGeom>
          <a:noFill/>
        </p:spPr>
        <p:txBody>
          <a:bodyPr wrap="none" rtlCol="0">
            <a:spAutoFit/>
          </a:bodyPr>
          <a:lstStyle/>
          <a:p>
            <a:r>
              <a:rPr lang="en-US" sz="1000" b="1" dirty="0" smtClean="0">
                <a:solidFill>
                  <a:srgbClr val="660033"/>
                </a:solidFill>
                <a:latin typeface="Arial" panose="020B0604020202020204" pitchFamily="34" charset="0"/>
                <a:cs typeface="Arial" panose="020B0604020202020204" pitchFamily="34" charset="0"/>
              </a:rPr>
              <a:t>INT 300 Internship II : First Review</a:t>
            </a:r>
            <a:endParaRPr lang="en-US" sz="1000" b="1" dirty="0">
              <a:solidFill>
                <a:srgbClr val="660033"/>
              </a:solidFill>
              <a:latin typeface="Arial" panose="020B0604020202020204" pitchFamily="34" charset="0"/>
              <a:cs typeface="Arial" panose="020B0604020202020204" pitchFamily="34" charset="0"/>
            </a:endParaRPr>
          </a:p>
        </p:txBody>
      </p:sp>
      <p:sp>
        <p:nvSpPr>
          <p:cNvPr id="6" name="TextBox 5"/>
          <p:cNvSpPr txBox="1"/>
          <p:nvPr/>
        </p:nvSpPr>
        <p:spPr>
          <a:xfrm>
            <a:off x="910590" y="1052830"/>
            <a:ext cx="10370820" cy="5073650"/>
          </a:xfrm>
          <a:prstGeom prst="rect">
            <a:avLst/>
          </a:prstGeom>
          <a:noFill/>
        </p:spPr>
        <p:txBody>
          <a:bodyPr wrap="square" rtlCol="0">
            <a:spAutoFit/>
          </a:bodyPr>
          <a:lstStyle/>
          <a:p>
            <a:pPr marL="285750" indent="-285750" algn="l">
              <a:lnSpc>
                <a:spcPct val="120000"/>
              </a:lnSpc>
              <a:buFont typeface="Wingdings" panose="05000000000000000000" charset="0"/>
              <a:buChar char="§"/>
            </a:pPr>
            <a:r>
              <a:rPr lang="en-US" dirty="0" smtClean="0">
                <a:solidFill>
                  <a:srgbClr val="660033"/>
                </a:solidFill>
                <a:latin typeface="Arial" panose="020B0604020202020204" pitchFamily="34" charset="0"/>
                <a:cs typeface="Arial" panose="020B0604020202020204" pitchFamily="34" charset="0"/>
              </a:rPr>
              <a:t>Falsified and substandard medications may contain dangerous dosages of harmful chemicals, </a:t>
            </a:r>
            <a:endParaRPr lang="en-US" dirty="0" smtClean="0">
              <a:solidFill>
                <a:srgbClr val="660033"/>
              </a:solidFill>
              <a:latin typeface="Arial" panose="020B0604020202020204" pitchFamily="34" charset="0"/>
              <a:cs typeface="Arial" panose="020B0604020202020204" pitchFamily="34" charset="0"/>
            </a:endParaRPr>
          </a:p>
          <a:p>
            <a:pPr indent="0" algn="l">
              <a:lnSpc>
                <a:spcPct val="120000"/>
              </a:lnSpc>
              <a:buNone/>
            </a:pPr>
            <a:r>
              <a:rPr lang="en-US" dirty="0" smtClean="0">
                <a:solidFill>
                  <a:srgbClr val="660033"/>
                </a:solidFill>
                <a:latin typeface="Arial" panose="020B0604020202020204" pitchFamily="34" charset="0"/>
                <a:cs typeface="Arial" panose="020B0604020202020204" pitchFamily="34" charset="0"/>
              </a:rPr>
              <a:t>leading to mass poisoning. </a:t>
            </a:r>
            <a:endParaRPr lang="en-US" dirty="0" smtClean="0">
              <a:solidFill>
                <a:srgbClr val="660033"/>
              </a:solidFill>
              <a:latin typeface="Arial" panose="020B0604020202020204" pitchFamily="34" charset="0"/>
              <a:cs typeface="Arial" panose="020B0604020202020204" pitchFamily="34" charset="0"/>
            </a:endParaRPr>
          </a:p>
          <a:p>
            <a:pPr marL="285750" indent="-285750" algn="l">
              <a:lnSpc>
                <a:spcPct val="120000"/>
              </a:lnSpc>
              <a:buFont typeface="Wingdings" panose="05000000000000000000" charset="0"/>
              <a:buChar char="§"/>
            </a:pPr>
            <a:r>
              <a:rPr lang="en-US" dirty="0" smtClean="0">
                <a:solidFill>
                  <a:srgbClr val="660033"/>
                </a:solidFill>
                <a:latin typeface="Arial" panose="020B0604020202020204" pitchFamily="34" charset="0"/>
                <a:cs typeface="Arial" panose="020B0604020202020204" pitchFamily="34" charset="0"/>
              </a:rPr>
              <a:t>Poor-quality medicines jeopardize chronic and infectious diseases, leading to disease progression, </a:t>
            </a:r>
            <a:endParaRPr lang="en-US" dirty="0" smtClean="0">
              <a:solidFill>
                <a:srgbClr val="660033"/>
              </a:solidFill>
              <a:latin typeface="Arial" panose="020B0604020202020204" pitchFamily="34" charset="0"/>
              <a:cs typeface="Arial" panose="020B0604020202020204" pitchFamily="34" charset="0"/>
            </a:endParaRPr>
          </a:p>
          <a:p>
            <a:pPr indent="0" algn="l">
              <a:lnSpc>
                <a:spcPct val="120000"/>
              </a:lnSpc>
              <a:buNone/>
            </a:pPr>
            <a:r>
              <a:rPr lang="en-US" dirty="0" smtClean="0">
                <a:solidFill>
                  <a:srgbClr val="660033"/>
                </a:solidFill>
                <a:latin typeface="Arial" panose="020B0604020202020204" pitchFamily="34" charset="0"/>
                <a:cs typeface="Arial" panose="020B0604020202020204" pitchFamily="34" charset="0"/>
              </a:rPr>
              <a:t>drug resistance, and mortality. </a:t>
            </a:r>
            <a:endParaRPr lang="en-US" dirty="0" smtClean="0">
              <a:solidFill>
                <a:srgbClr val="660033"/>
              </a:solidFill>
              <a:latin typeface="Arial" panose="020B0604020202020204" pitchFamily="34" charset="0"/>
              <a:cs typeface="Arial" panose="020B0604020202020204" pitchFamily="34" charset="0"/>
            </a:endParaRPr>
          </a:p>
          <a:p>
            <a:pPr marL="285750" indent="-285750" algn="l">
              <a:lnSpc>
                <a:spcPct val="120000"/>
              </a:lnSpc>
              <a:buFont typeface="Wingdings" panose="05000000000000000000" charset="0"/>
              <a:buChar char="§"/>
            </a:pPr>
            <a:r>
              <a:rPr lang="en-US" dirty="0" smtClean="0">
                <a:solidFill>
                  <a:srgbClr val="660033"/>
                </a:solidFill>
                <a:latin typeface="Arial" panose="020B0604020202020204" pitchFamily="34" charset="0"/>
                <a:cs typeface="Arial" panose="020B0604020202020204" pitchFamily="34" charset="0"/>
              </a:rPr>
              <a:t>It's difficult to detect counterfeit medications; the only method to tell if a drug is genuine is to do </a:t>
            </a:r>
            <a:endParaRPr lang="en-US" dirty="0" smtClean="0">
              <a:solidFill>
                <a:srgbClr val="660033"/>
              </a:solidFill>
              <a:latin typeface="Arial" panose="020B0604020202020204" pitchFamily="34" charset="0"/>
              <a:cs typeface="Arial" panose="020B0604020202020204" pitchFamily="34" charset="0"/>
            </a:endParaRPr>
          </a:p>
          <a:p>
            <a:pPr indent="0" algn="l">
              <a:lnSpc>
                <a:spcPct val="120000"/>
              </a:lnSpc>
              <a:buNone/>
            </a:pPr>
            <a:r>
              <a:rPr lang="en-US" dirty="0" smtClean="0">
                <a:solidFill>
                  <a:srgbClr val="660033"/>
                </a:solidFill>
                <a:latin typeface="Arial" panose="020B0604020202020204" pitchFamily="34" charset="0"/>
                <a:cs typeface="Arial" panose="020B0604020202020204" pitchFamily="34" charset="0"/>
              </a:rPr>
              <a:t>laboratory tests.</a:t>
            </a:r>
            <a:endParaRPr lang="en-US" dirty="0" smtClean="0">
              <a:solidFill>
                <a:srgbClr val="660033"/>
              </a:solidFill>
              <a:latin typeface="Arial" panose="020B0604020202020204" pitchFamily="34" charset="0"/>
              <a:cs typeface="Arial" panose="020B0604020202020204" pitchFamily="34" charset="0"/>
            </a:endParaRPr>
          </a:p>
          <a:p>
            <a:pPr marL="285750" indent="-285750" algn="l">
              <a:lnSpc>
                <a:spcPct val="120000"/>
              </a:lnSpc>
              <a:buFont typeface="Wingdings" panose="05000000000000000000" charset="0"/>
              <a:buChar char="§"/>
            </a:pPr>
            <a:r>
              <a:rPr lang="en-US" altLang="en-US" dirty="0" smtClean="0">
                <a:solidFill>
                  <a:srgbClr val="660033"/>
                </a:solidFill>
                <a:latin typeface="Arial" panose="020B0604020202020204" pitchFamily="34" charset="0"/>
                <a:cs typeface="Arial" panose="020B0604020202020204" pitchFamily="34" charset="0"/>
              </a:rPr>
              <a:t>Manufacturers, exporters, merchant exporters, and/or their designated agencies register with the </a:t>
            </a:r>
            <a:endParaRPr lang="en-US" altLang="en-US" dirty="0" smtClean="0">
              <a:solidFill>
                <a:srgbClr val="660033"/>
              </a:solidFill>
              <a:latin typeface="Arial" panose="020B0604020202020204" pitchFamily="34" charset="0"/>
              <a:cs typeface="Arial" panose="020B0604020202020204" pitchFamily="34" charset="0"/>
            </a:endParaRPr>
          </a:p>
          <a:p>
            <a:pPr indent="0" algn="l">
              <a:lnSpc>
                <a:spcPct val="120000"/>
              </a:lnSpc>
              <a:buNone/>
            </a:pPr>
            <a:r>
              <a:rPr lang="en-US" altLang="en-US" dirty="0" smtClean="0">
                <a:solidFill>
                  <a:srgbClr val="660033"/>
                </a:solidFill>
                <a:latin typeface="Arial" panose="020B0604020202020204" pitchFamily="34" charset="0"/>
                <a:cs typeface="Arial" panose="020B0604020202020204" pitchFamily="34" charset="0"/>
              </a:rPr>
              <a:t>DAVA Central Portal for identification and data submission and maintenance.</a:t>
            </a:r>
            <a:endParaRPr lang="en-US" altLang="en-US" dirty="0" smtClean="0">
              <a:solidFill>
                <a:srgbClr val="660033"/>
              </a:solidFill>
              <a:latin typeface="Arial" panose="020B0604020202020204" pitchFamily="34" charset="0"/>
              <a:cs typeface="Arial" panose="020B0604020202020204" pitchFamily="34" charset="0"/>
            </a:endParaRPr>
          </a:p>
          <a:p>
            <a:pPr marL="285750" indent="-285750" algn="l">
              <a:lnSpc>
                <a:spcPct val="120000"/>
              </a:lnSpc>
              <a:buFont typeface="Wingdings" panose="05000000000000000000" charset="0"/>
              <a:buChar char="§"/>
            </a:pPr>
            <a:r>
              <a:rPr lang="en-IN" altLang="en-US" dirty="0" smtClean="0">
                <a:solidFill>
                  <a:srgbClr val="660033"/>
                </a:solidFill>
                <a:latin typeface="Arial" panose="020B0604020202020204" pitchFamily="34" charset="0"/>
                <a:cs typeface="Arial" panose="020B0604020202020204" pitchFamily="34" charset="0"/>
              </a:rPr>
              <a:t>This portal is just for a few members of the drug supply chain and it is under the government which is centralised.</a:t>
            </a:r>
            <a:endParaRPr lang="en-US" altLang="en-US" dirty="0" smtClean="0">
              <a:solidFill>
                <a:srgbClr val="660033"/>
              </a:solidFill>
              <a:latin typeface="Arial" panose="020B0604020202020204" pitchFamily="34" charset="0"/>
              <a:cs typeface="Arial" panose="020B0604020202020204" pitchFamily="34" charset="0"/>
            </a:endParaRPr>
          </a:p>
          <a:p>
            <a:pPr marL="285750" indent="-285750" algn="l">
              <a:lnSpc>
                <a:spcPct val="120000"/>
              </a:lnSpc>
              <a:buFont typeface="Wingdings" panose="05000000000000000000" charset="0"/>
              <a:buChar char="§"/>
            </a:pPr>
            <a:r>
              <a:rPr lang="en-IN" altLang="en-US" dirty="0">
                <a:solidFill>
                  <a:srgbClr val="660033"/>
                </a:solidFill>
                <a:latin typeface="Arial" panose="020B0604020202020204" pitchFamily="34" charset="0"/>
                <a:cs typeface="Arial" panose="020B0604020202020204" pitchFamily="34" charset="0"/>
              </a:rPr>
              <a:t>It is applied throughout the drug supply chain from manufacturers to patients where we can check </a:t>
            </a:r>
            <a:endParaRPr lang="en-IN" altLang="en-US" dirty="0">
              <a:solidFill>
                <a:srgbClr val="660033"/>
              </a:solidFill>
              <a:latin typeface="Arial" panose="020B0604020202020204" pitchFamily="34" charset="0"/>
              <a:cs typeface="Arial" panose="020B0604020202020204" pitchFamily="34" charset="0"/>
            </a:endParaRPr>
          </a:p>
          <a:p>
            <a:pPr indent="0" algn="l">
              <a:lnSpc>
                <a:spcPct val="120000"/>
              </a:lnSpc>
              <a:buFont typeface="Wingdings" panose="05000000000000000000" charset="0"/>
              <a:buNone/>
            </a:pPr>
            <a:r>
              <a:rPr lang="en-IN" altLang="en-US" dirty="0">
                <a:solidFill>
                  <a:srgbClr val="660033"/>
                </a:solidFill>
                <a:latin typeface="Arial" panose="020B0604020202020204" pitchFamily="34" charset="0"/>
                <a:cs typeface="Arial" panose="020B0604020202020204" pitchFamily="34" charset="0"/>
              </a:rPr>
              <a:t>authenticity of the drug at any point inbetween. </a:t>
            </a:r>
            <a:endParaRPr lang="en-IN" altLang="en-US" dirty="0">
              <a:solidFill>
                <a:srgbClr val="660033"/>
              </a:solidFill>
              <a:latin typeface="Arial" panose="020B0604020202020204" pitchFamily="34" charset="0"/>
              <a:cs typeface="Arial" panose="020B0604020202020204" pitchFamily="34" charset="0"/>
            </a:endParaRPr>
          </a:p>
          <a:p>
            <a:pPr marL="285750" indent="-285750" algn="l">
              <a:lnSpc>
                <a:spcPct val="120000"/>
              </a:lnSpc>
              <a:buFont typeface="Wingdings" panose="05000000000000000000" charset="0"/>
              <a:buChar char="§"/>
            </a:pPr>
            <a:r>
              <a:rPr lang="en-IN" altLang="en-US" dirty="0">
                <a:solidFill>
                  <a:srgbClr val="660033"/>
                </a:solidFill>
                <a:latin typeface="Arial" panose="020B0604020202020204" pitchFamily="34" charset="0"/>
                <a:cs typeface="Arial" panose="020B0604020202020204" pitchFamily="34" charset="0"/>
              </a:rPr>
              <a:t>Technologies Used: </a:t>
            </a:r>
            <a:endParaRPr lang="en-IN" altLang="en-US" dirty="0">
              <a:solidFill>
                <a:srgbClr val="660033"/>
              </a:solidFill>
              <a:latin typeface="Arial" panose="020B0604020202020204" pitchFamily="34" charset="0"/>
              <a:cs typeface="Arial" panose="020B0604020202020204" pitchFamily="34" charset="0"/>
            </a:endParaRPr>
          </a:p>
          <a:p>
            <a:pPr marL="742950" lvl="1" indent="-285750" algn="l">
              <a:lnSpc>
                <a:spcPct val="120000"/>
              </a:lnSpc>
              <a:buFont typeface="Arial" panose="020B0604020202020204" pitchFamily="34" charset="0"/>
              <a:buChar char="•"/>
            </a:pPr>
            <a:r>
              <a:rPr lang="en-IN" altLang="en-US" dirty="0">
                <a:solidFill>
                  <a:srgbClr val="660033"/>
                </a:solidFill>
                <a:latin typeface="Arial" panose="020B0604020202020204" pitchFamily="34" charset="0"/>
                <a:cs typeface="Arial" panose="020B0604020202020204" pitchFamily="34" charset="0"/>
              </a:rPr>
              <a:t>Python for Drug recommendation (ML)</a:t>
            </a:r>
            <a:endParaRPr lang="en-IN" altLang="en-US" dirty="0">
              <a:solidFill>
                <a:srgbClr val="660033"/>
              </a:solidFill>
              <a:latin typeface="Arial" panose="020B0604020202020204" pitchFamily="34" charset="0"/>
              <a:cs typeface="Arial" panose="020B0604020202020204" pitchFamily="34" charset="0"/>
            </a:endParaRPr>
          </a:p>
          <a:p>
            <a:pPr marL="742950" lvl="1" indent="-285750" algn="l">
              <a:lnSpc>
                <a:spcPct val="120000"/>
              </a:lnSpc>
              <a:buFont typeface="Arial" panose="020B0604020202020204" pitchFamily="34" charset="0"/>
              <a:buChar char="•"/>
            </a:pPr>
            <a:r>
              <a:rPr lang="en-IN" altLang="en-US" dirty="0">
                <a:solidFill>
                  <a:srgbClr val="660033"/>
                </a:solidFill>
                <a:latin typeface="Arial" panose="020B0604020202020204" pitchFamily="34" charset="0"/>
                <a:cs typeface="Arial" panose="020B0604020202020204" pitchFamily="34" charset="0"/>
              </a:rPr>
              <a:t>Ethereum for drug authentication using block chain</a:t>
            </a:r>
            <a:endParaRPr lang="en-IN" altLang="en-US" dirty="0">
              <a:solidFill>
                <a:srgbClr val="660033"/>
              </a:solidFill>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43442" y="692943"/>
            <a:ext cx="4504055" cy="521970"/>
          </a:xfrm>
          <a:prstGeom prst="rect">
            <a:avLst/>
          </a:prstGeom>
          <a:noFill/>
        </p:spPr>
        <p:txBody>
          <a:bodyPr wrap="none" rtlCol="0">
            <a:spAutoFit/>
          </a:bodyPr>
          <a:lstStyle/>
          <a:p>
            <a:r>
              <a:rPr lang="en-US" sz="2800" b="1" dirty="0" smtClean="0">
                <a:solidFill>
                  <a:srgbClr val="660033"/>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REVIEW OF LITERATURE</a:t>
            </a:r>
            <a:endParaRPr lang="en-US" sz="2800" b="1" dirty="0">
              <a:solidFill>
                <a:srgbClr val="660033"/>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 name="Date Placeholder 3"/>
          <p:cNvSpPr txBox="1"/>
          <p:nvPr/>
        </p:nvSpPr>
        <p:spPr>
          <a:xfrm>
            <a:off x="595184" y="6543654"/>
            <a:ext cx="1422400" cy="222204"/>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US" sz="1000" b="1" smtClean="0">
                <a:solidFill>
                  <a:srgbClr val="660033"/>
                </a:solidFill>
                <a:latin typeface="Arial" panose="020B0604020202020204" pitchFamily="34" charset="0"/>
                <a:cs typeface="Arial" panose="020B0604020202020204" pitchFamily="34" charset="0"/>
              </a:rPr>
              <a:t>7 February 2022</a:t>
            </a:r>
            <a:endParaRPr lang="en-IN" altLang="en-US" sz="1000" b="1" dirty="0" smtClean="0">
              <a:solidFill>
                <a:srgbClr val="660033"/>
              </a:solidFill>
              <a:latin typeface="Arial" panose="020B0604020202020204" pitchFamily="34" charset="0"/>
              <a:cs typeface="Arial" panose="020B0604020202020204" pitchFamily="34" charset="0"/>
            </a:endParaRPr>
          </a:p>
        </p:txBody>
      </p:sp>
      <p:sp>
        <p:nvSpPr>
          <p:cNvPr id="4" name="Slide Number Placeholder 3"/>
          <p:cNvSpPr txBox="1"/>
          <p:nvPr/>
        </p:nvSpPr>
        <p:spPr>
          <a:xfrm>
            <a:off x="11787715" y="6459494"/>
            <a:ext cx="438150" cy="3905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8327C5-B821-4FE9-A59A-A60D9EB59A9A}" type="slidenum">
              <a:rPr lang="en-US" sz="1000" b="1" smtClean="0">
                <a:solidFill>
                  <a:srgbClr val="660033"/>
                </a:solidFill>
                <a:latin typeface="Arial" panose="020B0604020202020204" pitchFamily="34" charset="0"/>
                <a:cs typeface="Arial" panose="020B0604020202020204" pitchFamily="34" charset="0"/>
              </a:rPr>
            </a:fld>
            <a:endParaRPr lang="en-US" sz="1000" b="1" dirty="0">
              <a:solidFill>
                <a:srgbClr val="660033"/>
              </a:solidFill>
              <a:latin typeface="Arial" panose="020B0604020202020204" pitchFamily="34" charset="0"/>
              <a:cs typeface="Arial" panose="020B0604020202020204" pitchFamily="34" charset="0"/>
            </a:endParaRPr>
          </a:p>
        </p:txBody>
      </p:sp>
      <p:sp>
        <p:nvSpPr>
          <p:cNvPr id="5" name="TextBox 4"/>
          <p:cNvSpPr txBox="1"/>
          <p:nvPr/>
        </p:nvSpPr>
        <p:spPr>
          <a:xfrm>
            <a:off x="5042622" y="6525344"/>
            <a:ext cx="2263761" cy="246221"/>
          </a:xfrm>
          <a:prstGeom prst="rect">
            <a:avLst/>
          </a:prstGeom>
          <a:noFill/>
        </p:spPr>
        <p:txBody>
          <a:bodyPr wrap="none" rtlCol="0">
            <a:spAutoFit/>
          </a:bodyPr>
          <a:lstStyle/>
          <a:p>
            <a:r>
              <a:rPr lang="en-US" sz="1000" b="1" dirty="0" smtClean="0">
                <a:solidFill>
                  <a:srgbClr val="660033"/>
                </a:solidFill>
                <a:latin typeface="Arial" panose="020B0604020202020204" pitchFamily="34" charset="0"/>
                <a:cs typeface="Arial" panose="020B0604020202020204" pitchFamily="34" charset="0"/>
              </a:rPr>
              <a:t>INT 300 Internship II : First Review</a:t>
            </a:r>
            <a:endParaRPr lang="en-US" sz="1000" b="1" dirty="0">
              <a:solidFill>
                <a:srgbClr val="660033"/>
              </a:solidFill>
              <a:latin typeface="Arial" panose="020B0604020202020204" pitchFamily="34" charset="0"/>
              <a:cs typeface="Arial" panose="020B0604020202020204" pitchFamily="34" charset="0"/>
            </a:endParaRPr>
          </a:p>
        </p:txBody>
      </p:sp>
      <p:graphicFrame>
        <p:nvGraphicFramePr>
          <p:cNvPr id="8" name="Table 7"/>
          <p:cNvGraphicFramePr>
            <a:graphicFrameLocks noGrp="1"/>
          </p:cNvGraphicFramePr>
          <p:nvPr/>
        </p:nvGraphicFramePr>
        <p:xfrm>
          <a:off x="766775" y="1772935"/>
          <a:ext cx="10684510" cy="2123440"/>
        </p:xfrm>
        <a:graphic>
          <a:graphicData uri="http://schemas.openxmlformats.org/drawingml/2006/table">
            <a:tbl>
              <a:tblPr firstRow="1" bandRow="1">
                <a:tableStyleId>{5C22544A-7EE6-4342-B048-85BDC9FD1C3A}</a:tableStyleId>
              </a:tblPr>
              <a:tblGrid>
                <a:gridCol w="10684510"/>
              </a:tblGrid>
              <a:tr h="640080">
                <a:tc>
                  <a:txBody>
                    <a:bodyPr/>
                    <a:lstStyle/>
                    <a:p>
                      <a:pPr algn="ctr"/>
                      <a:r>
                        <a:rPr lang="en-US" dirty="0" smtClean="0">
                          <a:solidFill>
                            <a:srgbClr val="660033"/>
                          </a:solidFill>
                          <a:latin typeface="Arial" panose="020B0604020202020204" pitchFamily="34" charset="0"/>
                          <a:cs typeface="Arial" panose="020B0604020202020204" pitchFamily="34" charset="0"/>
                        </a:rPr>
                        <a:t>Title:</a:t>
                      </a:r>
                      <a:r>
                        <a:rPr lang="en-IN" altLang="en-US" dirty="0" smtClean="0">
                          <a:solidFill>
                            <a:srgbClr val="660033"/>
                          </a:solidFill>
                          <a:latin typeface="Arial" panose="020B0604020202020204" pitchFamily="34" charset="0"/>
                          <a:cs typeface="Arial" panose="020B0604020202020204" pitchFamily="34" charset="0"/>
                        </a:rPr>
                        <a:t> Authentic Drug Usage and Tracking with Blockchain Using Mobile Apps</a:t>
                      </a:r>
                      <a:endParaRPr lang="en-IN" altLang="en-US" dirty="0" smtClean="0">
                        <a:solidFill>
                          <a:srgbClr val="660033"/>
                        </a:solidFill>
                        <a:latin typeface="Arial" panose="020B0604020202020204" pitchFamily="34" charset="0"/>
                        <a:cs typeface="Arial" panose="020B0604020202020204" pitchFamily="34" charset="0"/>
                      </a:endParaRPr>
                    </a:p>
                    <a:p>
                      <a:pPr algn="ctr"/>
                      <a:r>
                        <a:rPr lang="en-US" sz="1800" dirty="0" smtClean="0">
                          <a:solidFill>
                            <a:srgbClr val="660033"/>
                          </a:solidFill>
                          <a:latin typeface="Arial" panose="020B0604020202020204" pitchFamily="34" charset="0"/>
                          <a:cs typeface="Arial" panose="020B0604020202020204" pitchFamily="34" charset="0"/>
                          <a:sym typeface="+mn-ea"/>
                        </a:rPr>
                        <a:t>Author(Year): Ruby Benita K</a:t>
                      </a:r>
                      <a:r>
                        <a:rPr lang="en-IN" altLang="en-US" sz="1800" dirty="0" smtClean="0">
                          <a:solidFill>
                            <a:srgbClr val="660033"/>
                          </a:solidFill>
                          <a:latin typeface="Arial" panose="020B0604020202020204" pitchFamily="34" charset="0"/>
                          <a:cs typeface="Arial" panose="020B0604020202020204" pitchFamily="34" charset="0"/>
                          <a:sym typeface="+mn-ea"/>
                        </a:rPr>
                        <a:t>(2020)</a:t>
                      </a:r>
                      <a:endParaRPr lang="en-IN" altLang="en-US" dirty="0" smtClean="0">
                        <a:solidFill>
                          <a:srgbClr val="660033"/>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dirty="0" smtClean="0">
                          <a:solidFill>
                            <a:srgbClr val="660033"/>
                          </a:solidFill>
                          <a:latin typeface="Arial" panose="020B0604020202020204" pitchFamily="34" charset="0"/>
                          <a:cs typeface="Arial" panose="020B0604020202020204" pitchFamily="34" charset="0"/>
                        </a:rPr>
                        <a:t>Methodology</a:t>
                      </a:r>
                      <a:r>
                        <a:rPr lang="en-IN" altLang="en-US" b="1" dirty="0" smtClean="0">
                          <a:solidFill>
                            <a:srgbClr val="660033"/>
                          </a:solidFill>
                          <a:latin typeface="Arial" panose="020B0604020202020204" pitchFamily="34" charset="0"/>
                          <a:cs typeface="Arial" panose="020B0604020202020204" pitchFamily="34" charset="0"/>
                        </a:rPr>
                        <a:t>:-</a:t>
                      </a:r>
                      <a:r>
                        <a:rPr lang="en-IN" altLang="en-US" dirty="0" smtClean="0">
                          <a:solidFill>
                            <a:srgbClr val="660033"/>
                          </a:solidFill>
                          <a:latin typeface="Arial" panose="020B0604020202020204" pitchFamily="34" charset="0"/>
                          <a:cs typeface="Arial" panose="020B0604020202020204" pitchFamily="34" charset="0"/>
                        </a:rPr>
                        <a:t> The drug is monitored from the maker to the patient, and stock is kept in a distributed storage system to prevent the creation of fake drugs or duplicate drugs by other fraudsters or false manufacturers. The blocks, together with the transactions, are distributed to all nodes, ensuring that the transaction cannot be faked. If someone tries to manipulate or falsify a transaction, the hash of that block is changed, which changes the hash of the next block, and it is no longer the same as the hash of other nodes. As a result, this technology is unchangeable.</a:t>
                      </a:r>
                      <a:endParaRPr lang="en-IN" altLang="en-US" dirty="0" smtClean="0">
                        <a:solidFill>
                          <a:srgbClr val="660033"/>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dirty="0" smtClean="0">
                          <a:solidFill>
                            <a:srgbClr val="660033"/>
                          </a:solidFill>
                          <a:latin typeface="Arial" panose="020B0604020202020204" pitchFamily="34" charset="0"/>
                          <a:cs typeface="Arial" panose="020B0604020202020204" pitchFamily="34" charset="0"/>
                        </a:rPr>
                        <a:t>Results</a:t>
                      </a:r>
                      <a:r>
                        <a:rPr lang="en-IN" altLang="en-US" b="1" dirty="0" smtClean="0">
                          <a:solidFill>
                            <a:srgbClr val="660033"/>
                          </a:solidFill>
                          <a:latin typeface="Arial" panose="020B0604020202020204" pitchFamily="34" charset="0"/>
                          <a:cs typeface="Arial" panose="020B0604020202020204" pitchFamily="34" charset="0"/>
                        </a:rPr>
                        <a:t>:-</a:t>
                      </a:r>
                      <a:r>
                        <a:rPr lang="en-IN" altLang="en-US" dirty="0" smtClean="0">
                          <a:solidFill>
                            <a:srgbClr val="660033"/>
                          </a:solidFill>
                          <a:latin typeface="Arial" panose="020B0604020202020204" pitchFamily="34" charset="0"/>
                          <a:cs typeface="Arial" panose="020B0604020202020204" pitchFamily="34" charset="0"/>
                        </a:rPr>
                        <a:t> A mobile application for the whole supply chain such that at any point of the supply chain fake drugs can easily be identified via scanning QR codes.</a:t>
                      </a:r>
                      <a:endParaRPr lang="en-IN" altLang="en-US" dirty="0" smtClean="0">
                        <a:solidFill>
                          <a:srgbClr val="660033"/>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dirty="0" smtClean="0">
                          <a:solidFill>
                            <a:srgbClr val="660033"/>
                          </a:solidFill>
                          <a:latin typeface="Arial" panose="020B0604020202020204" pitchFamily="34" charset="0"/>
                          <a:cs typeface="Arial" panose="020B0604020202020204" pitchFamily="34" charset="0"/>
                        </a:rPr>
                        <a:t>Challenges</a:t>
                      </a:r>
                      <a:r>
                        <a:rPr lang="en-IN" altLang="en-US" b="1" dirty="0" smtClean="0">
                          <a:solidFill>
                            <a:srgbClr val="660033"/>
                          </a:solidFill>
                          <a:latin typeface="Arial" panose="020B0604020202020204" pitchFamily="34" charset="0"/>
                          <a:cs typeface="Arial" panose="020B0604020202020204" pitchFamily="34" charset="0"/>
                        </a:rPr>
                        <a:t>:-</a:t>
                      </a:r>
                      <a:r>
                        <a:rPr lang="en-IN" altLang="en-US" dirty="0" smtClean="0">
                          <a:solidFill>
                            <a:srgbClr val="660033"/>
                          </a:solidFill>
                          <a:latin typeface="Arial" panose="020B0604020202020204" pitchFamily="34" charset="0"/>
                          <a:cs typeface="Arial" panose="020B0604020202020204" pitchFamily="34" charset="0"/>
                        </a:rPr>
                        <a:t> Avoiding duplicate or fake drugs created by fake manufacturers is a big challenge in the centralized network, which has been overcome by using blockchain technology, a decentralised network.</a:t>
                      </a:r>
                      <a:endParaRPr lang="en-IN" altLang="en-US" dirty="0" smtClean="0">
                        <a:solidFill>
                          <a:srgbClr val="660033"/>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36142" y="332777"/>
            <a:ext cx="4319965" cy="523220"/>
          </a:xfrm>
          <a:prstGeom prst="rect">
            <a:avLst/>
          </a:prstGeom>
          <a:noFill/>
        </p:spPr>
        <p:txBody>
          <a:bodyPr wrap="none" rtlCol="0">
            <a:spAutoFit/>
          </a:bodyPr>
          <a:lstStyle/>
          <a:p>
            <a:r>
              <a:rPr lang="en-US" sz="2800" b="1" dirty="0" smtClean="0">
                <a:solidFill>
                  <a:srgbClr val="660033"/>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PROBLEM STATEMENT </a:t>
            </a:r>
            <a:endParaRPr lang="en-US" sz="2800" b="1" dirty="0">
              <a:solidFill>
                <a:srgbClr val="660033"/>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 name="Date Placeholder 3"/>
          <p:cNvSpPr txBox="1"/>
          <p:nvPr/>
        </p:nvSpPr>
        <p:spPr>
          <a:xfrm>
            <a:off x="595184" y="6543654"/>
            <a:ext cx="1422400" cy="222204"/>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US" sz="1000" b="1" smtClean="0">
                <a:solidFill>
                  <a:srgbClr val="660033"/>
                </a:solidFill>
                <a:latin typeface="Arial" panose="020B0604020202020204" pitchFamily="34" charset="0"/>
                <a:cs typeface="Arial" panose="020B0604020202020204" pitchFamily="34" charset="0"/>
              </a:rPr>
              <a:t>7 February 2022</a:t>
            </a:r>
            <a:endParaRPr lang="en-IN" altLang="en-US" sz="1000" b="1" dirty="0" smtClean="0">
              <a:solidFill>
                <a:srgbClr val="660033"/>
              </a:solidFill>
              <a:latin typeface="Arial" panose="020B0604020202020204" pitchFamily="34" charset="0"/>
              <a:cs typeface="Arial" panose="020B0604020202020204" pitchFamily="34" charset="0"/>
            </a:endParaRPr>
          </a:p>
        </p:txBody>
      </p:sp>
      <p:sp>
        <p:nvSpPr>
          <p:cNvPr id="4" name="Slide Number Placeholder 3"/>
          <p:cNvSpPr txBox="1"/>
          <p:nvPr/>
        </p:nvSpPr>
        <p:spPr>
          <a:xfrm>
            <a:off x="11787715" y="6459494"/>
            <a:ext cx="438150" cy="3905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8327C5-B821-4FE9-A59A-A60D9EB59A9A}" type="slidenum">
              <a:rPr lang="en-US" sz="1000" b="1" smtClean="0">
                <a:solidFill>
                  <a:srgbClr val="660033"/>
                </a:solidFill>
                <a:latin typeface="Arial" panose="020B0604020202020204" pitchFamily="34" charset="0"/>
                <a:cs typeface="Arial" panose="020B0604020202020204" pitchFamily="34" charset="0"/>
              </a:rPr>
            </a:fld>
            <a:endParaRPr lang="en-US" sz="1000" b="1" dirty="0">
              <a:solidFill>
                <a:srgbClr val="660033"/>
              </a:solidFill>
              <a:latin typeface="Arial" panose="020B0604020202020204" pitchFamily="34" charset="0"/>
              <a:cs typeface="Arial" panose="020B0604020202020204" pitchFamily="34" charset="0"/>
            </a:endParaRPr>
          </a:p>
        </p:txBody>
      </p:sp>
      <p:sp>
        <p:nvSpPr>
          <p:cNvPr id="5" name="TextBox 4"/>
          <p:cNvSpPr txBox="1"/>
          <p:nvPr/>
        </p:nvSpPr>
        <p:spPr>
          <a:xfrm>
            <a:off x="5042622" y="6525344"/>
            <a:ext cx="2263761" cy="246221"/>
          </a:xfrm>
          <a:prstGeom prst="rect">
            <a:avLst/>
          </a:prstGeom>
          <a:noFill/>
        </p:spPr>
        <p:txBody>
          <a:bodyPr wrap="none" rtlCol="0">
            <a:spAutoFit/>
          </a:bodyPr>
          <a:lstStyle/>
          <a:p>
            <a:r>
              <a:rPr lang="en-US" sz="1000" b="1" dirty="0" smtClean="0">
                <a:solidFill>
                  <a:srgbClr val="660033"/>
                </a:solidFill>
                <a:latin typeface="Arial" panose="020B0604020202020204" pitchFamily="34" charset="0"/>
                <a:cs typeface="Arial" panose="020B0604020202020204" pitchFamily="34" charset="0"/>
              </a:rPr>
              <a:t>INT 300 Internship II : First Review</a:t>
            </a:r>
            <a:endParaRPr lang="en-US" sz="1000" b="1" dirty="0">
              <a:solidFill>
                <a:srgbClr val="660033"/>
              </a:solidFill>
              <a:latin typeface="Arial" panose="020B0604020202020204" pitchFamily="34" charset="0"/>
              <a:cs typeface="Arial" panose="020B0604020202020204" pitchFamily="34" charset="0"/>
            </a:endParaRPr>
          </a:p>
        </p:txBody>
      </p:sp>
      <p:graphicFrame>
        <p:nvGraphicFramePr>
          <p:cNvPr id="11" name="Table 10"/>
          <p:cNvGraphicFramePr>
            <a:graphicFrameLocks noGrp="1"/>
          </p:cNvGraphicFramePr>
          <p:nvPr/>
        </p:nvGraphicFramePr>
        <p:xfrm>
          <a:off x="566539" y="1988572"/>
          <a:ext cx="11060430" cy="4302760"/>
        </p:xfrm>
        <a:graphic>
          <a:graphicData uri="http://schemas.openxmlformats.org/drawingml/2006/table">
            <a:tbl>
              <a:tblPr firstRow="1" bandRow="1">
                <a:tableStyleId>{5C22544A-7EE6-4342-B048-85BDC9FD1C3A}</a:tableStyleId>
              </a:tblPr>
              <a:tblGrid>
                <a:gridCol w="5186651"/>
                <a:gridCol w="5873750"/>
              </a:tblGrid>
              <a:tr h="375920">
                <a:tc gridSpan="2">
                  <a:txBody>
                    <a:bodyPr/>
                    <a:lstStyle/>
                    <a:p>
                      <a:pPr algn="ctr"/>
                      <a:r>
                        <a:rPr lang="en-US" sz="2000" dirty="0" smtClean="0">
                          <a:solidFill>
                            <a:srgbClr val="000066"/>
                          </a:solidFill>
                          <a:latin typeface="Arial" panose="020B0604020202020204" pitchFamily="34" charset="0"/>
                          <a:cs typeface="Arial" panose="020B0604020202020204" pitchFamily="34" charset="0"/>
                        </a:rPr>
                        <a:t>Objective</a:t>
                      </a:r>
                      <a:endParaRPr lang="en-US" sz="2000" dirty="0" smtClean="0">
                        <a:solidFill>
                          <a:srgbClr val="000066"/>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cPr/>
                </a:tc>
              </a:tr>
              <a:tr h="1066800">
                <a:tc>
                  <a:txBody>
                    <a:bodyPr/>
                    <a:lstStyle/>
                    <a:p>
                      <a:pPr marL="0" indent="0">
                        <a:buNone/>
                      </a:pPr>
                      <a:r>
                        <a:rPr lang="en-US" sz="1600" dirty="0" smtClean="0">
                          <a:solidFill>
                            <a:srgbClr val="000066"/>
                          </a:solidFill>
                          <a:latin typeface="Arial" panose="020B0604020202020204" pitchFamily="34" charset="0"/>
                          <a:cs typeface="Arial" panose="020B0604020202020204" pitchFamily="34" charset="0"/>
                        </a:rPr>
                        <a:t>1.</a:t>
                      </a:r>
                      <a:r>
                        <a:rPr lang="en-IN" altLang="en-US" sz="1600" dirty="0" smtClean="0">
                          <a:solidFill>
                            <a:srgbClr val="000066"/>
                          </a:solidFill>
                          <a:latin typeface="Arial" panose="020B0604020202020204" pitchFamily="34" charset="0"/>
                          <a:cs typeface="Arial" panose="020B0604020202020204" pitchFamily="34" charset="0"/>
                        </a:rPr>
                        <a:t> Data collection exploratory data analysis statistical inference</a:t>
                      </a:r>
                      <a:endParaRPr lang="en-IN" altLang="en-US" sz="1600" dirty="0" smtClean="0">
                        <a:solidFill>
                          <a:srgbClr val="000066"/>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buNone/>
                      </a:pPr>
                      <a:r>
                        <a:rPr lang="en-US" sz="1600" dirty="0" smtClean="0">
                          <a:solidFill>
                            <a:srgbClr val="000066"/>
                          </a:solidFill>
                          <a:latin typeface="Arial" panose="020B0604020202020204" pitchFamily="34" charset="0"/>
                          <a:cs typeface="Arial" panose="020B0604020202020204" pitchFamily="34" charset="0"/>
                        </a:rPr>
                        <a:t>Methodology-1: </a:t>
                      </a:r>
                      <a:r>
                        <a:rPr lang="en-IN" altLang="en-US" sz="1600" dirty="0" smtClean="0">
                          <a:solidFill>
                            <a:srgbClr val="000066"/>
                          </a:solidFill>
                          <a:latin typeface="Arial" panose="020B0604020202020204" pitchFamily="34" charset="0"/>
                          <a:cs typeface="Arial" panose="020B0604020202020204" pitchFamily="34" charset="0"/>
                        </a:rPr>
                        <a:t>Searching for various datasets, cleaning, statistical analysis on the different columns to understand the dataset and doing visualisations to have a better understanding.</a:t>
                      </a:r>
                      <a:endParaRPr lang="en-IN" altLang="en-US" sz="1600" dirty="0" smtClean="0">
                        <a:solidFill>
                          <a:srgbClr val="000066"/>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64008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600" dirty="0" smtClean="0">
                          <a:solidFill>
                            <a:srgbClr val="000066"/>
                          </a:solidFill>
                          <a:latin typeface="Arial" panose="020B0604020202020204" pitchFamily="34" charset="0"/>
                          <a:cs typeface="Arial" panose="020B0604020202020204" pitchFamily="34" charset="0"/>
                        </a:rPr>
                        <a:t>2.</a:t>
                      </a:r>
                      <a:r>
                        <a:rPr lang="en-IN" altLang="en-US" sz="1600" dirty="0" smtClean="0">
                          <a:solidFill>
                            <a:srgbClr val="000066"/>
                          </a:solidFill>
                          <a:latin typeface="Arial" panose="020B0604020202020204" pitchFamily="34" charset="0"/>
                          <a:cs typeface="Arial" panose="020B0604020202020204" pitchFamily="34" charset="0"/>
                        </a:rPr>
                        <a:t> To analyse machine learning work flow for drug recommendation</a:t>
                      </a:r>
                      <a:endParaRPr lang="en-IN" altLang="en-US" sz="1600" dirty="0" smtClean="0">
                        <a:solidFill>
                          <a:srgbClr val="000066"/>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600" dirty="0" smtClean="0">
                          <a:solidFill>
                            <a:srgbClr val="000066"/>
                          </a:solidFill>
                          <a:latin typeface="Arial" panose="020B0604020202020204" pitchFamily="34" charset="0"/>
                          <a:cs typeface="Arial" panose="020B0604020202020204" pitchFamily="34" charset="0"/>
                        </a:rPr>
                        <a:t>Methodology-2: </a:t>
                      </a:r>
                      <a:r>
                        <a:rPr lang="en-IN" altLang="en-US" sz="1600" dirty="0" smtClean="0">
                          <a:solidFill>
                            <a:srgbClr val="000066"/>
                          </a:solidFill>
                          <a:latin typeface="Arial" panose="020B0604020202020204" pitchFamily="34" charset="0"/>
                          <a:cs typeface="Arial" panose="020B0604020202020204" pitchFamily="34" charset="0"/>
                        </a:rPr>
                        <a:t>Search and find the correct ML model to be used for the chosen dataset, split the data into test and train, fit the train data to model and predict for test data and check acuracy for the model.</a:t>
                      </a:r>
                      <a:endParaRPr lang="en-IN" altLang="en-US" sz="1600" dirty="0" smtClean="0">
                        <a:solidFill>
                          <a:srgbClr val="000066"/>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600" dirty="0" smtClean="0">
                          <a:solidFill>
                            <a:srgbClr val="000066"/>
                          </a:solidFill>
                          <a:latin typeface="Arial" panose="020B0604020202020204" pitchFamily="34" charset="0"/>
                          <a:cs typeface="Arial" panose="020B0604020202020204" pitchFamily="34" charset="0"/>
                        </a:rPr>
                        <a:t>3.</a:t>
                      </a:r>
                      <a:r>
                        <a:rPr lang="en-IN" altLang="en-US" sz="1600" dirty="0" smtClean="0">
                          <a:solidFill>
                            <a:srgbClr val="000066"/>
                          </a:solidFill>
                          <a:latin typeface="Arial" panose="020B0604020202020204" pitchFamily="34" charset="0"/>
                          <a:cs typeface="Arial" panose="020B0604020202020204" pitchFamily="34" charset="0"/>
                        </a:rPr>
                        <a:t> Database schema development </a:t>
                      </a:r>
                      <a:endParaRPr lang="en-IN" altLang="en-US" sz="1600" dirty="0" smtClean="0">
                        <a:solidFill>
                          <a:srgbClr val="000066"/>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600" dirty="0" smtClean="0">
                          <a:solidFill>
                            <a:srgbClr val="000066"/>
                          </a:solidFill>
                          <a:latin typeface="Arial" panose="020B0604020202020204" pitchFamily="34" charset="0"/>
                          <a:cs typeface="Arial" panose="020B0604020202020204" pitchFamily="34" charset="0"/>
                        </a:rPr>
                        <a:t>Methodology-3: </a:t>
                      </a:r>
                      <a:r>
                        <a:rPr lang="en-IN" altLang="en-US" sz="1600" dirty="0" smtClean="0">
                          <a:solidFill>
                            <a:srgbClr val="000066"/>
                          </a:solidFill>
                          <a:latin typeface="Arial" panose="020B0604020202020204" pitchFamily="34" charset="0"/>
                          <a:cs typeface="Arial" panose="020B0604020202020204" pitchFamily="34" charset="0"/>
                        </a:rPr>
                        <a:t>Deciding what and all columns required to be stored, normalising the data.</a:t>
                      </a:r>
                      <a:endParaRPr lang="en-IN" altLang="en-US" sz="1600" dirty="0" smtClean="0">
                        <a:solidFill>
                          <a:srgbClr val="000066"/>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sz="1600" dirty="0" smtClean="0">
                          <a:solidFill>
                            <a:srgbClr val="000066"/>
                          </a:solidFill>
                          <a:latin typeface="Arial" panose="020B0604020202020204" pitchFamily="34" charset="0"/>
                          <a:cs typeface="Arial" panose="020B0604020202020204" pitchFamily="34" charset="0"/>
                        </a:rPr>
                        <a:t>4.</a:t>
                      </a:r>
                      <a:r>
                        <a:rPr lang="en-IN" altLang="en-US" sz="1600" dirty="0" smtClean="0">
                          <a:solidFill>
                            <a:srgbClr val="000066"/>
                          </a:solidFill>
                          <a:latin typeface="Arial" panose="020B0604020202020204" pitchFamily="34" charset="0"/>
                          <a:cs typeface="Arial" panose="020B0604020202020204" pitchFamily="34" charset="0"/>
                        </a:rPr>
                        <a:t> Query Processing </a:t>
                      </a:r>
                      <a:endParaRPr lang="en-IN" altLang="en-US" sz="1600" dirty="0" smtClean="0">
                        <a:solidFill>
                          <a:srgbClr val="000066"/>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600" dirty="0" smtClean="0">
                          <a:solidFill>
                            <a:srgbClr val="000066"/>
                          </a:solidFill>
                          <a:latin typeface="Arial" panose="020B0604020202020204" pitchFamily="34" charset="0"/>
                          <a:cs typeface="Arial" panose="020B0604020202020204" pitchFamily="34" charset="0"/>
                        </a:rPr>
                        <a:t>Methodology-4: </a:t>
                      </a:r>
                      <a:r>
                        <a:rPr lang="en-IN" altLang="en-US" sz="1600" dirty="0" smtClean="0">
                          <a:solidFill>
                            <a:srgbClr val="000066"/>
                          </a:solidFill>
                          <a:latin typeface="Arial" panose="020B0604020202020204" pitchFamily="34" charset="0"/>
                          <a:cs typeface="Arial" panose="020B0604020202020204" pitchFamily="34" charset="0"/>
                        </a:rPr>
                        <a:t>D</a:t>
                      </a:r>
                      <a:r>
                        <a:rPr lang="en-IN" altLang="en-US" sz="1600" dirty="0" smtClean="0">
                          <a:solidFill>
                            <a:srgbClr val="000066"/>
                          </a:solidFill>
                          <a:latin typeface="Arial" panose="020B0604020202020204" pitchFamily="34" charset="0"/>
                          <a:cs typeface="Arial" panose="020B0604020202020204" pitchFamily="34" charset="0"/>
                          <a:sym typeface="+mn-ea"/>
                        </a:rPr>
                        <a:t>eciding on which frameworks to work with, connecting database with an API.</a:t>
                      </a:r>
                      <a:endParaRPr lang="en-US" sz="1600" dirty="0" smtClean="0">
                        <a:solidFill>
                          <a:srgbClr val="000066"/>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sz="1600" dirty="0" smtClean="0">
                          <a:solidFill>
                            <a:srgbClr val="000066"/>
                          </a:solidFill>
                          <a:latin typeface="Arial" panose="020B0604020202020204" pitchFamily="34" charset="0"/>
                          <a:cs typeface="Arial" panose="020B0604020202020204" pitchFamily="34" charset="0"/>
                        </a:rPr>
                        <a:t>5.</a:t>
                      </a:r>
                      <a:r>
                        <a:rPr lang="en-IN" altLang="en-US" sz="1600" dirty="0" smtClean="0">
                          <a:solidFill>
                            <a:srgbClr val="000066"/>
                          </a:solidFill>
                          <a:latin typeface="Arial" panose="020B0604020202020204" pitchFamily="34" charset="0"/>
                          <a:cs typeface="Arial" panose="020B0604020202020204" pitchFamily="34" charset="0"/>
                        </a:rPr>
                        <a:t> </a:t>
                      </a:r>
                      <a:r>
                        <a:rPr lang="en-US" sz="1600" dirty="0" smtClean="0">
                          <a:solidFill>
                            <a:srgbClr val="000066"/>
                          </a:solidFill>
                          <a:latin typeface="Arial" panose="020B0604020202020204" pitchFamily="34" charset="0"/>
                          <a:cs typeface="Arial" panose="020B0604020202020204" pitchFamily="34" charset="0"/>
                        </a:rPr>
                        <a:t>Authenticating Drug Usage with Blockchain validation</a:t>
                      </a:r>
                      <a:endParaRPr lang="en-US" sz="1600" dirty="0" smtClean="0">
                        <a:solidFill>
                          <a:srgbClr val="000066"/>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600" dirty="0" smtClean="0">
                          <a:solidFill>
                            <a:srgbClr val="000066"/>
                          </a:solidFill>
                          <a:latin typeface="Arial" panose="020B0604020202020204" pitchFamily="34" charset="0"/>
                          <a:cs typeface="Arial" panose="020B0604020202020204" pitchFamily="34" charset="0"/>
                        </a:rPr>
                        <a:t>Methodology-5: </a:t>
                      </a:r>
                      <a:r>
                        <a:rPr lang="en-IN" altLang="en-US" sz="1600" dirty="0" smtClean="0">
                          <a:solidFill>
                            <a:srgbClr val="000066"/>
                          </a:solidFill>
                          <a:latin typeface="Arial" panose="020B0604020202020204" pitchFamily="34" charset="0"/>
                          <a:cs typeface="Arial" panose="020B0604020202020204" pitchFamily="34" charset="0"/>
                        </a:rPr>
                        <a:t>Creating an application which does the authentification using blockchain technology.</a:t>
                      </a:r>
                      <a:endParaRPr lang="en-IN" altLang="en-US" sz="1600" dirty="0" smtClean="0">
                        <a:solidFill>
                          <a:srgbClr val="000066"/>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12" name="TextBox 11"/>
          <p:cNvSpPr txBox="1"/>
          <p:nvPr/>
        </p:nvSpPr>
        <p:spPr>
          <a:xfrm>
            <a:off x="566609" y="1052673"/>
            <a:ext cx="1663065" cy="398780"/>
          </a:xfrm>
          <a:prstGeom prst="rect">
            <a:avLst/>
          </a:prstGeom>
          <a:noFill/>
        </p:spPr>
        <p:txBody>
          <a:bodyPr wrap="none" rtlCol="0">
            <a:spAutoFit/>
          </a:bodyPr>
          <a:lstStyle/>
          <a:p>
            <a:r>
              <a:rPr lang="en-US" sz="2000" b="1" dirty="0" smtClean="0">
                <a:solidFill>
                  <a:srgbClr val="660033"/>
                </a:solidFill>
                <a:latin typeface="Arial" panose="020B0604020202020204" pitchFamily="34" charset="0"/>
                <a:cs typeface="Arial" panose="020B0604020202020204" pitchFamily="34" charset="0"/>
              </a:rPr>
              <a:t>Description</a:t>
            </a:r>
            <a:r>
              <a:rPr lang="en-US" sz="2000" b="1" dirty="0" smtClean="0">
                <a:solidFill>
                  <a:srgbClr val="660033"/>
                </a:solidFill>
                <a:latin typeface="Arial" panose="020B0604020202020204" pitchFamily="34" charset="0"/>
                <a:cs typeface="Arial" panose="020B0604020202020204" pitchFamily="34" charset="0"/>
              </a:rPr>
              <a:t>:</a:t>
            </a:r>
            <a:endParaRPr lang="en-US" sz="2000" b="1" dirty="0" smtClean="0">
              <a:solidFill>
                <a:srgbClr val="660033"/>
              </a:solidFill>
              <a:latin typeface="Arial" panose="020B0604020202020204" pitchFamily="34" charset="0"/>
              <a:cs typeface="Arial" panose="020B0604020202020204" pitchFamily="34" charset="0"/>
            </a:endParaRPr>
          </a:p>
        </p:txBody>
      </p:sp>
      <p:sp>
        <p:nvSpPr>
          <p:cNvPr id="7" name="Text Box 6"/>
          <p:cNvSpPr txBox="1"/>
          <p:nvPr/>
        </p:nvSpPr>
        <p:spPr>
          <a:xfrm>
            <a:off x="623570" y="1410970"/>
            <a:ext cx="10382250" cy="368300"/>
          </a:xfrm>
          <a:prstGeom prst="rect">
            <a:avLst/>
          </a:prstGeom>
          <a:noFill/>
        </p:spPr>
        <p:txBody>
          <a:bodyPr wrap="square" rtlCol="0">
            <a:spAutoFit/>
          </a:bodyPr>
          <a:p>
            <a:r>
              <a:rPr lang="en-IN" altLang="en-US">
                <a:solidFill>
                  <a:schemeClr val="bg2">
                    <a:lumMod val="25000"/>
                  </a:schemeClr>
                </a:solidFill>
              </a:rPr>
              <a:t>To develop an application for recommendation and authentic usage of drug using block chain validation.</a:t>
            </a:r>
            <a:endParaRPr lang="en-IN" altLang="en-US">
              <a:solidFill>
                <a:schemeClr val="bg2">
                  <a:lumMod val="25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21089" y="476922"/>
            <a:ext cx="3549306" cy="523220"/>
          </a:xfrm>
          <a:prstGeom prst="rect">
            <a:avLst/>
          </a:prstGeom>
          <a:noFill/>
        </p:spPr>
        <p:txBody>
          <a:bodyPr wrap="none" rtlCol="0">
            <a:spAutoFit/>
          </a:bodyPr>
          <a:lstStyle/>
          <a:p>
            <a:pPr algn="ctr"/>
            <a:r>
              <a:rPr lang="en-US" sz="2800" b="1" dirty="0">
                <a:solidFill>
                  <a:srgbClr val="660033"/>
                </a:solidFill>
                <a:latin typeface="Arial" panose="020B0604020202020204" pitchFamily="34" charset="0"/>
                <a:cs typeface="Arial" panose="020B0604020202020204" pitchFamily="34" charset="0"/>
              </a:rPr>
              <a:t>METHODOLOGY - 1</a:t>
            </a:r>
            <a:endParaRPr lang="en-US" sz="2800" b="1" dirty="0">
              <a:solidFill>
                <a:srgbClr val="660033"/>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 name="Date Placeholder 3"/>
          <p:cNvSpPr txBox="1"/>
          <p:nvPr/>
        </p:nvSpPr>
        <p:spPr>
          <a:xfrm>
            <a:off x="595184" y="6543654"/>
            <a:ext cx="1422400" cy="222204"/>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US" sz="1000" b="1" smtClean="0">
                <a:solidFill>
                  <a:srgbClr val="660033"/>
                </a:solidFill>
                <a:latin typeface="Arial" panose="020B0604020202020204" pitchFamily="34" charset="0"/>
                <a:cs typeface="Arial" panose="020B0604020202020204" pitchFamily="34" charset="0"/>
              </a:rPr>
              <a:t>7 February 2022</a:t>
            </a:r>
            <a:endParaRPr lang="en-IN" altLang="en-US" sz="1000" b="1" dirty="0" smtClean="0">
              <a:solidFill>
                <a:srgbClr val="660033"/>
              </a:solidFill>
              <a:latin typeface="Arial" panose="020B0604020202020204" pitchFamily="34" charset="0"/>
              <a:cs typeface="Arial" panose="020B0604020202020204" pitchFamily="34" charset="0"/>
            </a:endParaRPr>
          </a:p>
        </p:txBody>
      </p:sp>
      <p:sp>
        <p:nvSpPr>
          <p:cNvPr id="4" name="Slide Number Placeholder 3"/>
          <p:cNvSpPr txBox="1"/>
          <p:nvPr/>
        </p:nvSpPr>
        <p:spPr>
          <a:xfrm>
            <a:off x="11787715" y="6459494"/>
            <a:ext cx="438150" cy="3905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8327C5-B821-4FE9-A59A-A60D9EB59A9A}" type="slidenum">
              <a:rPr lang="en-US" sz="1000" b="1" smtClean="0">
                <a:solidFill>
                  <a:srgbClr val="660033"/>
                </a:solidFill>
                <a:latin typeface="Arial" panose="020B0604020202020204" pitchFamily="34" charset="0"/>
                <a:cs typeface="Arial" panose="020B0604020202020204" pitchFamily="34" charset="0"/>
              </a:rPr>
            </a:fld>
            <a:endParaRPr lang="en-US" sz="1000" b="1" dirty="0">
              <a:solidFill>
                <a:srgbClr val="660033"/>
              </a:solidFill>
              <a:latin typeface="Arial" panose="020B0604020202020204" pitchFamily="34" charset="0"/>
              <a:cs typeface="Arial" panose="020B0604020202020204" pitchFamily="34" charset="0"/>
            </a:endParaRPr>
          </a:p>
        </p:txBody>
      </p:sp>
      <p:sp>
        <p:nvSpPr>
          <p:cNvPr id="5" name="TextBox 4"/>
          <p:cNvSpPr txBox="1"/>
          <p:nvPr/>
        </p:nvSpPr>
        <p:spPr>
          <a:xfrm>
            <a:off x="5042622" y="6525344"/>
            <a:ext cx="2263761" cy="246221"/>
          </a:xfrm>
          <a:prstGeom prst="rect">
            <a:avLst/>
          </a:prstGeom>
          <a:noFill/>
        </p:spPr>
        <p:txBody>
          <a:bodyPr wrap="none" rtlCol="0">
            <a:spAutoFit/>
          </a:bodyPr>
          <a:lstStyle/>
          <a:p>
            <a:r>
              <a:rPr lang="en-US" sz="1000" b="1" dirty="0" smtClean="0">
                <a:solidFill>
                  <a:srgbClr val="660033"/>
                </a:solidFill>
                <a:latin typeface="Arial" panose="020B0604020202020204" pitchFamily="34" charset="0"/>
                <a:cs typeface="Arial" panose="020B0604020202020204" pitchFamily="34" charset="0"/>
              </a:rPr>
              <a:t>INT 300 Internship II : First Review</a:t>
            </a:r>
            <a:endParaRPr lang="en-US" sz="1000" b="1" dirty="0">
              <a:solidFill>
                <a:srgbClr val="660033"/>
              </a:solidFill>
              <a:latin typeface="Arial" panose="020B0604020202020204" pitchFamily="34" charset="0"/>
              <a:cs typeface="Arial" panose="020B0604020202020204" pitchFamily="34" charset="0"/>
            </a:endParaRPr>
          </a:p>
        </p:txBody>
      </p:sp>
      <p:sp>
        <p:nvSpPr>
          <p:cNvPr id="12" name="TextBox 11"/>
          <p:cNvSpPr txBox="1"/>
          <p:nvPr/>
        </p:nvSpPr>
        <p:spPr>
          <a:xfrm>
            <a:off x="877570" y="1268730"/>
            <a:ext cx="10436860" cy="1137285"/>
          </a:xfrm>
          <a:prstGeom prst="rect">
            <a:avLst/>
          </a:prstGeom>
          <a:noFill/>
        </p:spPr>
        <p:txBody>
          <a:bodyPr wrap="square" rtlCol="0">
            <a:spAutoFit/>
          </a:bodyPr>
          <a:lstStyle/>
          <a:p>
            <a:pPr algn="l"/>
            <a:r>
              <a:rPr lang="en-US" sz="2000" b="1" dirty="0" smtClean="0">
                <a:solidFill>
                  <a:srgbClr val="660033"/>
                </a:solidFill>
                <a:latin typeface="Arial" panose="020B0604020202020204" pitchFamily="34" charset="0"/>
                <a:cs typeface="Arial" panose="020B0604020202020204" pitchFamily="34" charset="0"/>
              </a:rPr>
              <a:t>Description:</a:t>
            </a:r>
            <a:endParaRPr lang="en-US" sz="2000" b="1" dirty="0" smtClean="0">
              <a:solidFill>
                <a:srgbClr val="660033"/>
              </a:solidFill>
              <a:latin typeface="Arial" panose="020B0604020202020204" pitchFamily="34" charset="0"/>
              <a:cs typeface="Arial" panose="020B0604020202020204" pitchFamily="34" charset="0"/>
            </a:endParaRPr>
          </a:p>
          <a:p>
            <a:pPr algn="l">
              <a:lnSpc>
                <a:spcPct val="60000"/>
              </a:lnSpc>
            </a:pPr>
            <a:endParaRPr lang="en-US" sz="2000" b="1" dirty="0" smtClean="0">
              <a:solidFill>
                <a:srgbClr val="660033"/>
              </a:solidFill>
              <a:latin typeface="Arial" panose="020B0604020202020204" pitchFamily="34" charset="0"/>
              <a:cs typeface="Arial" panose="020B0604020202020204" pitchFamily="34" charset="0"/>
            </a:endParaRPr>
          </a:p>
          <a:p>
            <a:pPr algn="l"/>
            <a:r>
              <a:rPr lang="en-IN" altLang="en-US" dirty="0" smtClean="0">
                <a:solidFill>
                  <a:srgbClr val="000066"/>
                </a:solidFill>
                <a:latin typeface="Arial" panose="020B0604020202020204" pitchFamily="34" charset="0"/>
                <a:cs typeface="Arial" panose="020B0604020202020204" pitchFamily="34" charset="0"/>
                <a:sym typeface="+mn-ea"/>
              </a:rPr>
              <a:t>Searching for various datasets, cleaning, statistical analysis on the different columns to understand the dataset and doing visualisations to have a better understanding.</a:t>
            </a:r>
            <a:endParaRPr lang="en-US" b="1" dirty="0">
              <a:solidFill>
                <a:srgbClr val="660033"/>
              </a:solidFill>
              <a:latin typeface="Arial" panose="020B0604020202020204" pitchFamily="34" charset="0"/>
              <a:cs typeface="Arial" panose="020B0604020202020204" pitchFamily="34" charset="0"/>
            </a:endParaRPr>
          </a:p>
        </p:txBody>
      </p:sp>
      <p:sp>
        <p:nvSpPr>
          <p:cNvPr id="6" name="TextBox 5"/>
          <p:cNvSpPr txBox="1"/>
          <p:nvPr/>
        </p:nvSpPr>
        <p:spPr>
          <a:xfrm>
            <a:off x="877759" y="2997463"/>
            <a:ext cx="2491105" cy="398780"/>
          </a:xfrm>
          <a:prstGeom prst="rect">
            <a:avLst/>
          </a:prstGeom>
          <a:noFill/>
        </p:spPr>
        <p:txBody>
          <a:bodyPr wrap="none" rtlCol="0">
            <a:spAutoFit/>
          </a:bodyPr>
          <a:lstStyle/>
          <a:p>
            <a:r>
              <a:rPr lang="en-US" sz="2000" b="1" dirty="0" smtClean="0">
                <a:solidFill>
                  <a:srgbClr val="660033"/>
                </a:solidFill>
                <a:latin typeface="Arial" panose="020B0604020202020204" pitchFamily="34" charset="0"/>
                <a:cs typeface="Arial" panose="020B0604020202020204" pitchFamily="34" charset="0"/>
              </a:rPr>
              <a:t>Workflow Diagram:</a:t>
            </a:r>
            <a:endParaRPr lang="en-US" sz="2000" b="1" dirty="0" smtClean="0">
              <a:solidFill>
                <a:srgbClr val="660033"/>
              </a:solidFill>
              <a:latin typeface="Arial" panose="020B0604020202020204" pitchFamily="34" charset="0"/>
              <a:cs typeface="Arial" panose="020B0604020202020204" pitchFamily="34" charset="0"/>
            </a:endParaRPr>
          </a:p>
        </p:txBody>
      </p:sp>
      <p:sp>
        <p:nvSpPr>
          <p:cNvPr id="7" name="Rectangle 6"/>
          <p:cNvSpPr/>
          <p:nvPr/>
        </p:nvSpPr>
        <p:spPr>
          <a:xfrm>
            <a:off x="1919883" y="3717032"/>
            <a:ext cx="1334661" cy="1008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a:t>Collecting Dataset</a:t>
            </a:r>
            <a:endParaRPr lang="en-IN" altLang="en-US"/>
          </a:p>
        </p:txBody>
      </p:sp>
      <p:sp>
        <p:nvSpPr>
          <p:cNvPr id="9" name="Rectangle 8"/>
          <p:cNvSpPr/>
          <p:nvPr/>
        </p:nvSpPr>
        <p:spPr>
          <a:xfrm>
            <a:off x="4511447" y="3711952"/>
            <a:ext cx="1334661" cy="1008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a:t>Cleaning the Dataset</a:t>
            </a:r>
            <a:endParaRPr lang="en-IN" altLang="en-US"/>
          </a:p>
        </p:txBody>
      </p:sp>
      <p:sp>
        <p:nvSpPr>
          <p:cNvPr id="10" name="Rectangle 9"/>
          <p:cNvSpPr/>
          <p:nvPr/>
        </p:nvSpPr>
        <p:spPr>
          <a:xfrm>
            <a:off x="6923772" y="3711849"/>
            <a:ext cx="1334661" cy="1008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a:t>Statistical Analysis of the Data</a:t>
            </a:r>
            <a:endParaRPr lang="en-IN" altLang="en-US"/>
          </a:p>
        </p:txBody>
      </p:sp>
      <p:sp>
        <p:nvSpPr>
          <p:cNvPr id="11" name="Rectangle 10"/>
          <p:cNvSpPr/>
          <p:nvPr/>
        </p:nvSpPr>
        <p:spPr>
          <a:xfrm>
            <a:off x="9264015" y="3712210"/>
            <a:ext cx="1449705" cy="10083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a:t>Visualization of the Data</a:t>
            </a:r>
            <a:endParaRPr lang="en-IN" altLang="en-US"/>
          </a:p>
        </p:txBody>
      </p:sp>
      <p:cxnSp>
        <p:nvCxnSpPr>
          <p:cNvPr id="8" name="Straight Arrow Connector 7"/>
          <p:cNvCxnSpPr>
            <a:stCxn id="7" idx="3"/>
            <a:endCxn id="9" idx="1"/>
          </p:cNvCxnSpPr>
          <p:nvPr/>
        </p:nvCxnSpPr>
        <p:spPr>
          <a:xfrm flipV="1">
            <a:off x="3254375" y="4216400"/>
            <a:ext cx="1257300" cy="50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9" idx="3"/>
            <a:endCxn id="10" idx="1"/>
          </p:cNvCxnSpPr>
          <p:nvPr/>
        </p:nvCxnSpPr>
        <p:spPr>
          <a:xfrm flipV="1">
            <a:off x="5846445" y="4215765"/>
            <a:ext cx="1077595" cy="6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10" idx="3"/>
            <a:endCxn id="11" idx="1"/>
          </p:cNvCxnSpPr>
          <p:nvPr/>
        </p:nvCxnSpPr>
        <p:spPr>
          <a:xfrm>
            <a:off x="8258810" y="4215765"/>
            <a:ext cx="1005205" cy="6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38062" y="476922"/>
            <a:ext cx="3515360" cy="521970"/>
          </a:xfrm>
          <a:prstGeom prst="rect">
            <a:avLst/>
          </a:prstGeom>
          <a:noFill/>
        </p:spPr>
        <p:txBody>
          <a:bodyPr wrap="none" rtlCol="0">
            <a:spAutoFit/>
          </a:bodyPr>
          <a:lstStyle/>
          <a:p>
            <a:pPr algn="ctr"/>
            <a:r>
              <a:rPr lang="en-US" sz="2800" b="1" dirty="0">
                <a:solidFill>
                  <a:srgbClr val="660033"/>
                </a:solidFill>
                <a:latin typeface="Arial" panose="020B0604020202020204" pitchFamily="34" charset="0"/>
                <a:cs typeface="Arial" panose="020B0604020202020204" pitchFamily="34" charset="0"/>
              </a:rPr>
              <a:t>METHODOLOGY - </a:t>
            </a:r>
            <a:r>
              <a:rPr lang="en-IN" altLang="en-US" sz="2800" b="1" dirty="0">
                <a:solidFill>
                  <a:srgbClr val="660033"/>
                </a:solidFill>
                <a:latin typeface="Arial" panose="020B0604020202020204" pitchFamily="34" charset="0"/>
                <a:cs typeface="Arial" panose="020B0604020202020204" pitchFamily="34" charset="0"/>
              </a:rPr>
              <a:t>2</a:t>
            </a:r>
            <a:endParaRPr lang="en-IN" altLang="en-US" sz="2800" b="1" dirty="0">
              <a:solidFill>
                <a:srgbClr val="660033"/>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 name="Date Placeholder 3"/>
          <p:cNvSpPr txBox="1"/>
          <p:nvPr/>
        </p:nvSpPr>
        <p:spPr>
          <a:xfrm>
            <a:off x="595184" y="6543654"/>
            <a:ext cx="1422400" cy="222204"/>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US" sz="1000" b="1" smtClean="0">
                <a:solidFill>
                  <a:srgbClr val="660033"/>
                </a:solidFill>
                <a:latin typeface="Arial" panose="020B0604020202020204" pitchFamily="34" charset="0"/>
                <a:cs typeface="Arial" panose="020B0604020202020204" pitchFamily="34" charset="0"/>
              </a:rPr>
              <a:t>7 February 2022</a:t>
            </a:r>
            <a:endParaRPr lang="en-IN" altLang="en-US" sz="1000" b="1" dirty="0" smtClean="0">
              <a:solidFill>
                <a:srgbClr val="660033"/>
              </a:solidFill>
              <a:latin typeface="Arial" panose="020B0604020202020204" pitchFamily="34" charset="0"/>
              <a:cs typeface="Arial" panose="020B0604020202020204" pitchFamily="34" charset="0"/>
            </a:endParaRPr>
          </a:p>
        </p:txBody>
      </p:sp>
      <p:sp>
        <p:nvSpPr>
          <p:cNvPr id="4" name="Slide Number Placeholder 3"/>
          <p:cNvSpPr txBox="1"/>
          <p:nvPr/>
        </p:nvSpPr>
        <p:spPr>
          <a:xfrm>
            <a:off x="11787715" y="6459494"/>
            <a:ext cx="438150" cy="3905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8327C5-B821-4FE9-A59A-A60D9EB59A9A}" type="slidenum">
              <a:rPr lang="en-US" sz="1000" b="1" smtClean="0">
                <a:solidFill>
                  <a:srgbClr val="660033"/>
                </a:solidFill>
                <a:latin typeface="Arial" panose="020B0604020202020204" pitchFamily="34" charset="0"/>
                <a:cs typeface="Arial" panose="020B0604020202020204" pitchFamily="34" charset="0"/>
              </a:rPr>
            </a:fld>
            <a:endParaRPr lang="en-US" sz="1000" b="1" dirty="0">
              <a:solidFill>
                <a:srgbClr val="660033"/>
              </a:solidFill>
              <a:latin typeface="Arial" panose="020B0604020202020204" pitchFamily="34" charset="0"/>
              <a:cs typeface="Arial" panose="020B0604020202020204" pitchFamily="34" charset="0"/>
            </a:endParaRPr>
          </a:p>
        </p:txBody>
      </p:sp>
      <p:sp>
        <p:nvSpPr>
          <p:cNvPr id="5" name="TextBox 4"/>
          <p:cNvSpPr txBox="1"/>
          <p:nvPr/>
        </p:nvSpPr>
        <p:spPr>
          <a:xfrm>
            <a:off x="5042622" y="6525344"/>
            <a:ext cx="2263761" cy="246221"/>
          </a:xfrm>
          <a:prstGeom prst="rect">
            <a:avLst/>
          </a:prstGeom>
          <a:noFill/>
        </p:spPr>
        <p:txBody>
          <a:bodyPr wrap="none" rtlCol="0">
            <a:spAutoFit/>
          </a:bodyPr>
          <a:lstStyle/>
          <a:p>
            <a:r>
              <a:rPr lang="en-US" sz="1000" b="1" dirty="0" smtClean="0">
                <a:solidFill>
                  <a:srgbClr val="660033"/>
                </a:solidFill>
                <a:latin typeface="Arial" panose="020B0604020202020204" pitchFamily="34" charset="0"/>
                <a:cs typeface="Arial" panose="020B0604020202020204" pitchFamily="34" charset="0"/>
              </a:rPr>
              <a:t>INT 300 Internship II : First Review</a:t>
            </a:r>
            <a:endParaRPr lang="en-US" sz="1000" b="1" dirty="0">
              <a:solidFill>
                <a:srgbClr val="660033"/>
              </a:solidFill>
              <a:latin typeface="Arial" panose="020B0604020202020204" pitchFamily="34" charset="0"/>
              <a:cs typeface="Arial" panose="020B0604020202020204" pitchFamily="34" charset="0"/>
            </a:endParaRPr>
          </a:p>
        </p:txBody>
      </p:sp>
      <p:sp>
        <p:nvSpPr>
          <p:cNvPr id="12" name="TextBox 11"/>
          <p:cNvSpPr txBox="1"/>
          <p:nvPr/>
        </p:nvSpPr>
        <p:spPr>
          <a:xfrm>
            <a:off x="850265" y="1268730"/>
            <a:ext cx="10491470" cy="1118870"/>
          </a:xfrm>
          <a:prstGeom prst="rect">
            <a:avLst/>
          </a:prstGeom>
          <a:noFill/>
        </p:spPr>
        <p:txBody>
          <a:bodyPr wrap="square" rtlCol="0">
            <a:spAutoFit/>
          </a:bodyPr>
          <a:lstStyle/>
          <a:p>
            <a:pPr algn="l"/>
            <a:r>
              <a:rPr lang="en-US" sz="2000" b="1" dirty="0" smtClean="0">
                <a:solidFill>
                  <a:srgbClr val="660033"/>
                </a:solidFill>
                <a:latin typeface="Arial" panose="020B0604020202020204" pitchFamily="34" charset="0"/>
                <a:cs typeface="Arial" panose="020B0604020202020204" pitchFamily="34" charset="0"/>
              </a:rPr>
              <a:t>Description:</a:t>
            </a:r>
            <a:endParaRPr lang="en-US" sz="2000" b="1" dirty="0" smtClean="0">
              <a:solidFill>
                <a:srgbClr val="660033"/>
              </a:solidFill>
              <a:latin typeface="Arial" panose="020B0604020202020204" pitchFamily="34" charset="0"/>
              <a:cs typeface="Arial" panose="020B0604020202020204" pitchFamily="34" charset="0"/>
            </a:endParaRPr>
          </a:p>
          <a:p>
            <a:pPr algn="l">
              <a:lnSpc>
                <a:spcPct val="60000"/>
              </a:lnSpc>
            </a:pPr>
            <a:endParaRPr lang="en-IN" altLang="en-US" dirty="0" smtClean="0">
              <a:solidFill>
                <a:srgbClr val="000066"/>
              </a:solidFill>
              <a:latin typeface="Arial" panose="020B0604020202020204" pitchFamily="34" charset="0"/>
              <a:cs typeface="Arial" panose="020B0604020202020204" pitchFamily="34" charset="0"/>
              <a:sym typeface="+mn-ea"/>
            </a:endParaRPr>
          </a:p>
          <a:p>
            <a:pPr algn="l"/>
            <a:r>
              <a:rPr lang="en-IN" altLang="en-US" dirty="0" smtClean="0">
                <a:solidFill>
                  <a:srgbClr val="000066"/>
                </a:solidFill>
                <a:latin typeface="Arial" panose="020B0604020202020204" pitchFamily="34" charset="0"/>
                <a:cs typeface="Arial" panose="020B0604020202020204" pitchFamily="34" charset="0"/>
                <a:sym typeface="+mn-ea"/>
              </a:rPr>
              <a:t>Search and find the correct ML model to be used for the chosen dataset, split the data into test and train, fit the train data to model and predict for test data and check acuracy for the model.</a:t>
            </a:r>
            <a:endParaRPr lang="en-US" b="1" dirty="0">
              <a:solidFill>
                <a:srgbClr val="660033"/>
              </a:solidFill>
              <a:latin typeface="Arial" panose="020B0604020202020204" pitchFamily="34" charset="0"/>
              <a:cs typeface="Arial" panose="020B0604020202020204" pitchFamily="34" charset="0"/>
            </a:endParaRPr>
          </a:p>
        </p:txBody>
      </p:sp>
      <p:sp>
        <p:nvSpPr>
          <p:cNvPr id="6" name="TextBox 5"/>
          <p:cNvSpPr txBox="1"/>
          <p:nvPr/>
        </p:nvSpPr>
        <p:spPr>
          <a:xfrm>
            <a:off x="850454" y="2997463"/>
            <a:ext cx="2491105" cy="398780"/>
          </a:xfrm>
          <a:prstGeom prst="rect">
            <a:avLst/>
          </a:prstGeom>
          <a:noFill/>
        </p:spPr>
        <p:txBody>
          <a:bodyPr wrap="none" rtlCol="0">
            <a:spAutoFit/>
          </a:bodyPr>
          <a:lstStyle/>
          <a:p>
            <a:r>
              <a:rPr lang="en-US" sz="2000" b="1" dirty="0" smtClean="0">
                <a:solidFill>
                  <a:srgbClr val="660033"/>
                </a:solidFill>
                <a:latin typeface="Arial" panose="020B0604020202020204" pitchFamily="34" charset="0"/>
                <a:cs typeface="Arial" panose="020B0604020202020204" pitchFamily="34" charset="0"/>
              </a:rPr>
              <a:t>Workflow Diagram:</a:t>
            </a:r>
            <a:endParaRPr lang="en-US" sz="2000" b="1" dirty="0" smtClean="0">
              <a:solidFill>
                <a:srgbClr val="660033"/>
              </a:solidFill>
              <a:latin typeface="Arial" panose="020B0604020202020204" pitchFamily="34" charset="0"/>
              <a:cs typeface="Arial" panose="020B0604020202020204" pitchFamily="34" charset="0"/>
            </a:endParaRPr>
          </a:p>
        </p:txBody>
      </p:sp>
      <p:sp>
        <p:nvSpPr>
          <p:cNvPr id="8" name="Rectangle 6"/>
          <p:cNvSpPr/>
          <p:nvPr/>
        </p:nvSpPr>
        <p:spPr>
          <a:xfrm>
            <a:off x="1919883" y="3717032"/>
            <a:ext cx="1334661" cy="1008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IN" altLang="en-US">
                <a:sym typeface="+mn-ea"/>
              </a:rPr>
              <a:t>Choosing the correct ML model</a:t>
            </a:r>
            <a:endParaRPr lang="en-IN" altLang="en-US"/>
          </a:p>
        </p:txBody>
      </p:sp>
      <p:sp>
        <p:nvSpPr>
          <p:cNvPr id="13" name="Rectangle 8"/>
          <p:cNvSpPr/>
          <p:nvPr/>
        </p:nvSpPr>
        <p:spPr>
          <a:xfrm>
            <a:off x="4224020" y="3712210"/>
            <a:ext cx="1517650" cy="10083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IN" altLang="en-US">
                <a:sym typeface="+mn-ea"/>
              </a:rPr>
              <a:t>Splitting data into train and test</a:t>
            </a:r>
            <a:endParaRPr lang="en-IN" altLang="en-US"/>
          </a:p>
        </p:txBody>
      </p:sp>
      <p:sp>
        <p:nvSpPr>
          <p:cNvPr id="14" name="Rectangle 9"/>
          <p:cNvSpPr/>
          <p:nvPr/>
        </p:nvSpPr>
        <p:spPr>
          <a:xfrm>
            <a:off x="6835507" y="3717564"/>
            <a:ext cx="1334661" cy="1008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IN" altLang="en-US">
                <a:sym typeface="+mn-ea"/>
              </a:rPr>
              <a:t>Fitting Data into the model</a:t>
            </a:r>
            <a:endParaRPr lang="en-IN" altLang="en-US"/>
          </a:p>
        </p:txBody>
      </p:sp>
      <p:sp>
        <p:nvSpPr>
          <p:cNvPr id="15" name="Rectangle 10"/>
          <p:cNvSpPr/>
          <p:nvPr/>
        </p:nvSpPr>
        <p:spPr>
          <a:xfrm>
            <a:off x="9192260" y="3712210"/>
            <a:ext cx="1449705" cy="10083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IN" altLang="en-US"/>
              <a:t>Predicting and checking accuracy</a:t>
            </a:r>
            <a:endParaRPr lang="en-IN" altLang="en-US"/>
          </a:p>
        </p:txBody>
      </p:sp>
      <p:cxnSp>
        <p:nvCxnSpPr>
          <p:cNvPr id="16" name="Straight Arrow Connector 15"/>
          <p:cNvCxnSpPr>
            <a:stCxn id="8" idx="3"/>
            <a:endCxn id="13" idx="1"/>
          </p:cNvCxnSpPr>
          <p:nvPr/>
        </p:nvCxnSpPr>
        <p:spPr>
          <a:xfrm flipV="1">
            <a:off x="3254375" y="4216400"/>
            <a:ext cx="969645" cy="50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3" idx="3"/>
            <a:endCxn id="14" idx="1"/>
          </p:cNvCxnSpPr>
          <p:nvPr/>
        </p:nvCxnSpPr>
        <p:spPr>
          <a:xfrm>
            <a:off x="5741670" y="4216400"/>
            <a:ext cx="1094105" cy="50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4" idx="3"/>
            <a:endCxn id="15" idx="1"/>
          </p:cNvCxnSpPr>
          <p:nvPr/>
        </p:nvCxnSpPr>
        <p:spPr>
          <a:xfrm flipV="1">
            <a:off x="8170545" y="4216400"/>
            <a:ext cx="1021715" cy="50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26029" y="405167"/>
            <a:ext cx="3139440" cy="521970"/>
          </a:xfrm>
          <a:prstGeom prst="rect">
            <a:avLst/>
          </a:prstGeom>
          <a:noFill/>
        </p:spPr>
        <p:txBody>
          <a:bodyPr wrap="none" rtlCol="0">
            <a:spAutoFit/>
          </a:bodyPr>
          <a:lstStyle/>
          <a:p>
            <a:pPr algn="ctr"/>
            <a:r>
              <a:rPr lang="en-US" sz="2800" b="1" dirty="0" smtClean="0">
                <a:solidFill>
                  <a:srgbClr val="660033"/>
                </a:solidFill>
                <a:latin typeface="Arial" panose="020B0604020202020204" pitchFamily="34" charset="0"/>
                <a:cs typeface="Arial" panose="020B0604020202020204" pitchFamily="34" charset="0"/>
                <a:sym typeface="+mn-ea"/>
              </a:rPr>
              <a:t>Progress of Work</a:t>
            </a:r>
            <a:endParaRPr lang="en-US" sz="2800" b="1" dirty="0">
              <a:solidFill>
                <a:srgbClr val="660033"/>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 name="Date Placeholder 3"/>
          <p:cNvSpPr txBox="1"/>
          <p:nvPr/>
        </p:nvSpPr>
        <p:spPr>
          <a:xfrm>
            <a:off x="595184" y="6543654"/>
            <a:ext cx="1422400" cy="222204"/>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US" sz="1000" b="1" smtClean="0">
                <a:solidFill>
                  <a:srgbClr val="660033"/>
                </a:solidFill>
                <a:latin typeface="Arial" panose="020B0604020202020204" pitchFamily="34" charset="0"/>
                <a:cs typeface="Arial" panose="020B0604020202020204" pitchFamily="34" charset="0"/>
              </a:rPr>
              <a:t>7 February 2022</a:t>
            </a:r>
            <a:endParaRPr lang="en-IN" altLang="en-US" sz="1000" b="1" dirty="0" smtClean="0">
              <a:solidFill>
                <a:srgbClr val="660033"/>
              </a:solidFill>
              <a:latin typeface="Arial" panose="020B0604020202020204" pitchFamily="34" charset="0"/>
              <a:cs typeface="Arial" panose="020B0604020202020204" pitchFamily="34" charset="0"/>
            </a:endParaRPr>
          </a:p>
        </p:txBody>
      </p:sp>
      <p:sp>
        <p:nvSpPr>
          <p:cNvPr id="4" name="Slide Number Placeholder 3"/>
          <p:cNvSpPr txBox="1"/>
          <p:nvPr/>
        </p:nvSpPr>
        <p:spPr>
          <a:xfrm>
            <a:off x="11784330" y="6517640"/>
            <a:ext cx="259715" cy="27495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8327C5-B821-4FE9-A59A-A60D9EB59A9A}" type="slidenum">
              <a:rPr lang="en-US" sz="1000" b="1" smtClean="0">
                <a:solidFill>
                  <a:srgbClr val="660033"/>
                </a:solidFill>
                <a:latin typeface="Arial" panose="020B0604020202020204" pitchFamily="34" charset="0"/>
                <a:cs typeface="Arial" panose="020B0604020202020204" pitchFamily="34" charset="0"/>
              </a:rPr>
            </a:fld>
            <a:endParaRPr lang="en-US" sz="1000" b="1" dirty="0">
              <a:solidFill>
                <a:srgbClr val="660033"/>
              </a:solidFill>
              <a:latin typeface="Arial" panose="020B0604020202020204" pitchFamily="34" charset="0"/>
              <a:cs typeface="Arial" panose="020B0604020202020204" pitchFamily="34" charset="0"/>
            </a:endParaRPr>
          </a:p>
        </p:txBody>
      </p:sp>
      <p:sp>
        <p:nvSpPr>
          <p:cNvPr id="5" name="TextBox 4"/>
          <p:cNvSpPr txBox="1"/>
          <p:nvPr/>
        </p:nvSpPr>
        <p:spPr>
          <a:xfrm>
            <a:off x="5160097" y="6531694"/>
            <a:ext cx="2263761" cy="246221"/>
          </a:xfrm>
          <a:prstGeom prst="rect">
            <a:avLst/>
          </a:prstGeom>
          <a:noFill/>
        </p:spPr>
        <p:txBody>
          <a:bodyPr wrap="none" rtlCol="0">
            <a:spAutoFit/>
          </a:bodyPr>
          <a:lstStyle/>
          <a:p>
            <a:r>
              <a:rPr lang="en-US" sz="1000" b="1" dirty="0" smtClean="0">
                <a:solidFill>
                  <a:srgbClr val="660033"/>
                </a:solidFill>
                <a:latin typeface="Arial" panose="020B0604020202020204" pitchFamily="34" charset="0"/>
                <a:cs typeface="Arial" panose="020B0604020202020204" pitchFamily="34" charset="0"/>
              </a:rPr>
              <a:t>INT 300 Internship II : First Review</a:t>
            </a:r>
            <a:endParaRPr lang="en-US" sz="1000" b="1" dirty="0">
              <a:solidFill>
                <a:srgbClr val="660033"/>
              </a:solidFill>
              <a:latin typeface="Arial" panose="020B0604020202020204" pitchFamily="34" charset="0"/>
              <a:cs typeface="Arial" panose="020B0604020202020204" pitchFamily="34" charset="0"/>
            </a:endParaRPr>
          </a:p>
        </p:txBody>
      </p:sp>
      <p:sp>
        <p:nvSpPr>
          <p:cNvPr id="12" name="TextBox 11"/>
          <p:cNvSpPr txBox="1"/>
          <p:nvPr/>
        </p:nvSpPr>
        <p:spPr>
          <a:xfrm>
            <a:off x="1127314" y="1268573"/>
            <a:ext cx="2070735" cy="368300"/>
          </a:xfrm>
          <a:prstGeom prst="rect">
            <a:avLst/>
          </a:prstGeom>
          <a:noFill/>
        </p:spPr>
        <p:txBody>
          <a:bodyPr wrap="none" rtlCol="0">
            <a:spAutoFit/>
          </a:bodyPr>
          <a:lstStyle/>
          <a:p>
            <a:r>
              <a:rPr lang="en-US" b="1" dirty="0" smtClean="0">
                <a:solidFill>
                  <a:srgbClr val="660033"/>
                </a:solidFill>
                <a:latin typeface="Arial" panose="020B0604020202020204" pitchFamily="34" charset="0"/>
                <a:cs typeface="Arial" panose="020B0604020202020204" pitchFamily="34" charset="0"/>
              </a:rPr>
              <a:t>Task Completed:</a:t>
            </a:r>
            <a:r>
              <a:rPr lang="en-IN" altLang="en-US" dirty="0">
                <a:solidFill>
                  <a:srgbClr val="660033"/>
                </a:solidFill>
                <a:latin typeface="Arial" panose="020B0604020202020204" pitchFamily="34" charset="0"/>
                <a:cs typeface="Arial" panose="020B0604020202020204" pitchFamily="34" charset="0"/>
              </a:rPr>
              <a:t> </a:t>
            </a:r>
            <a:endParaRPr lang="en-IN" altLang="en-US" dirty="0">
              <a:solidFill>
                <a:srgbClr val="660033"/>
              </a:solidFill>
              <a:latin typeface="Arial" panose="020B0604020202020204" pitchFamily="34" charset="0"/>
              <a:cs typeface="Arial" panose="020B0604020202020204" pitchFamily="34" charset="0"/>
            </a:endParaRPr>
          </a:p>
        </p:txBody>
      </p:sp>
      <p:sp>
        <p:nvSpPr>
          <p:cNvPr id="6" name="TextBox 5"/>
          <p:cNvSpPr txBox="1"/>
          <p:nvPr/>
        </p:nvSpPr>
        <p:spPr>
          <a:xfrm>
            <a:off x="1127314" y="3428747"/>
            <a:ext cx="1511935" cy="368300"/>
          </a:xfrm>
          <a:prstGeom prst="rect">
            <a:avLst/>
          </a:prstGeom>
          <a:noFill/>
        </p:spPr>
        <p:txBody>
          <a:bodyPr wrap="none" rtlCol="0">
            <a:spAutoFit/>
          </a:bodyPr>
          <a:lstStyle/>
          <a:p>
            <a:r>
              <a:rPr lang="en-IN" altLang="en-US" b="1" dirty="0" smtClean="0">
                <a:solidFill>
                  <a:srgbClr val="660033"/>
                </a:solidFill>
                <a:latin typeface="Arial" panose="020B0604020202020204" pitchFamily="34" charset="0"/>
                <a:cs typeface="Arial" panose="020B0604020202020204" pitchFamily="34" charset="0"/>
              </a:rPr>
              <a:t>Yet To Start</a:t>
            </a:r>
            <a:r>
              <a:rPr lang="en-US" b="1" dirty="0" smtClean="0">
                <a:solidFill>
                  <a:srgbClr val="660033"/>
                </a:solidFill>
                <a:latin typeface="Arial" panose="020B0604020202020204" pitchFamily="34" charset="0"/>
                <a:cs typeface="Arial" panose="020B0604020202020204" pitchFamily="34" charset="0"/>
              </a:rPr>
              <a:t>:</a:t>
            </a:r>
            <a:endParaRPr lang="en-US" b="1" dirty="0">
              <a:solidFill>
                <a:srgbClr val="660033"/>
              </a:solidFill>
              <a:latin typeface="Arial" panose="020B0604020202020204" pitchFamily="34" charset="0"/>
              <a:cs typeface="Arial" panose="020B0604020202020204" pitchFamily="34" charset="0"/>
            </a:endParaRPr>
          </a:p>
        </p:txBody>
      </p:sp>
      <p:sp>
        <p:nvSpPr>
          <p:cNvPr id="7" name="Text Box 6"/>
          <p:cNvSpPr txBox="1"/>
          <p:nvPr/>
        </p:nvSpPr>
        <p:spPr>
          <a:xfrm>
            <a:off x="1343660" y="1772920"/>
            <a:ext cx="4929505" cy="1297305"/>
          </a:xfrm>
          <a:prstGeom prst="rect">
            <a:avLst/>
          </a:prstGeom>
          <a:noFill/>
        </p:spPr>
        <p:txBody>
          <a:bodyPr wrap="square" rtlCol="0">
            <a:spAutoFit/>
          </a:bodyPr>
          <a:p>
            <a:pPr marL="0" indent="0">
              <a:buNone/>
            </a:pPr>
            <a:r>
              <a:rPr lang="en-US" sz="1600" dirty="0" smtClean="0">
                <a:solidFill>
                  <a:srgbClr val="000066"/>
                </a:solidFill>
                <a:latin typeface="Arial" panose="020B0604020202020204" pitchFamily="34" charset="0"/>
                <a:cs typeface="Arial" panose="020B0604020202020204" pitchFamily="34" charset="0"/>
                <a:sym typeface="+mn-ea"/>
              </a:rPr>
              <a:t>1.</a:t>
            </a:r>
            <a:r>
              <a:rPr lang="en-IN" altLang="en-US" sz="1600" dirty="0" smtClean="0">
                <a:solidFill>
                  <a:srgbClr val="000066"/>
                </a:solidFill>
                <a:latin typeface="Arial" panose="020B0604020202020204" pitchFamily="34" charset="0"/>
                <a:cs typeface="Arial" panose="020B0604020202020204" pitchFamily="34" charset="0"/>
                <a:sym typeface="+mn-ea"/>
              </a:rPr>
              <a:t> Data collection exploratory data analysis statistical inference</a:t>
            </a:r>
            <a:endParaRPr lang="en-IN" altLang="en-US" sz="1600" b="0" dirty="0" smtClean="0">
              <a:solidFill>
                <a:srgbClr val="000066"/>
              </a:solidFill>
              <a:latin typeface="Arial" panose="020B0604020202020204" pitchFamily="34" charset="0"/>
              <a:cs typeface="Arial" panose="020B0604020202020204" pitchFamily="34" charset="0"/>
            </a:endParaRPr>
          </a:p>
          <a:p>
            <a:pPr marL="0" indent="0">
              <a:lnSpc>
                <a:spcPct val="90000"/>
              </a:lnSpc>
              <a:buNone/>
            </a:pPr>
            <a:endParaRPr lang="en-IN" altLang="en-US" sz="1600" b="0" dirty="0" smtClean="0">
              <a:solidFill>
                <a:srgbClr val="000066"/>
              </a:solidFill>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1600" dirty="0">
                <a:solidFill>
                  <a:srgbClr val="000066"/>
                </a:solidFill>
                <a:latin typeface="Arial" panose="020B0604020202020204" pitchFamily="34" charset="0"/>
                <a:sym typeface="+mn-ea"/>
              </a:rPr>
              <a:t>2.</a:t>
            </a:r>
            <a:r>
              <a:rPr lang="en-IN" altLang="en-US" sz="1600" dirty="0">
                <a:solidFill>
                  <a:srgbClr val="000066"/>
                </a:solidFill>
                <a:latin typeface="Arial" panose="020B0604020202020204" pitchFamily="34" charset="0"/>
                <a:sym typeface="+mn-ea"/>
              </a:rPr>
              <a:t> To analyse machine learning work flow for drug recommendation</a:t>
            </a:r>
            <a:endParaRPr lang="en-IN" altLang="en-US" sz="1600" dirty="0">
              <a:solidFill>
                <a:srgbClr val="000066"/>
              </a:solidFill>
              <a:latin typeface="Arial" panose="020B0604020202020204" pitchFamily="34" charset="0"/>
              <a:sym typeface="+mn-ea"/>
            </a:endParaRPr>
          </a:p>
        </p:txBody>
      </p:sp>
      <p:sp>
        <p:nvSpPr>
          <p:cNvPr id="8" name="Text Box 7"/>
          <p:cNvSpPr txBox="1"/>
          <p:nvPr/>
        </p:nvSpPr>
        <p:spPr>
          <a:xfrm>
            <a:off x="1343660" y="3916045"/>
            <a:ext cx="4930140" cy="1518285"/>
          </a:xfrm>
          <a:prstGeom prst="rect">
            <a:avLst/>
          </a:prstGeom>
          <a:noFill/>
        </p:spPr>
        <p:txBody>
          <a:bodyPr wrap="square" rtlCol="0">
            <a:spAutoFit/>
          </a:bodyPr>
          <a:p>
            <a:pPr marL="0" indent="0">
              <a:buNone/>
            </a:pPr>
            <a:r>
              <a:rPr lang="en-US" sz="1600" dirty="0" smtClean="0">
                <a:solidFill>
                  <a:srgbClr val="000066"/>
                </a:solidFill>
                <a:latin typeface="Arial" panose="020B0604020202020204" pitchFamily="34" charset="0"/>
                <a:cs typeface="Arial" panose="020B0604020202020204" pitchFamily="34" charset="0"/>
                <a:sym typeface="+mn-ea"/>
              </a:rPr>
              <a:t>1.</a:t>
            </a:r>
            <a:r>
              <a:rPr lang="en-IN" altLang="en-US" sz="1600" dirty="0" smtClean="0">
                <a:solidFill>
                  <a:srgbClr val="000066"/>
                </a:solidFill>
                <a:latin typeface="Arial" panose="020B0604020202020204" pitchFamily="34" charset="0"/>
                <a:cs typeface="Arial" panose="020B0604020202020204" pitchFamily="34" charset="0"/>
                <a:sym typeface="+mn-ea"/>
              </a:rPr>
              <a:t> </a:t>
            </a:r>
            <a:r>
              <a:rPr lang="en-IN" altLang="en-US" sz="1600" dirty="0" smtClean="0">
                <a:solidFill>
                  <a:srgbClr val="000066"/>
                </a:solidFill>
                <a:latin typeface="Arial" panose="020B0604020202020204" pitchFamily="34" charset="0"/>
                <a:cs typeface="Arial" panose="020B0604020202020204" pitchFamily="34" charset="0"/>
                <a:sym typeface="+mn-ea"/>
              </a:rPr>
              <a:t>Database schema development </a:t>
            </a:r>
            <a:endParaRPr lang="en-IN" altLang="en-US" sz="1600" b="0" dirty="0" smtClean="0">
              <a:solidFill>
                <a:srgbClr val="000066"/>
              </a:solidFill>
              <a:latin typeface="Arial" panose="020B0604020202020204" pitchFamily="34" charset="0"/>
              <a:cs typeface="Arial" panose="020B0604020202020204" pitchFamily="34" charset="0"/>
            </a:endParaRPr>
          </a:p>
          <a:p>
            <a:pPr marL="0" indent="0">
              <a:lnSpc>
                <a:spcPct val="90000"/>
              </a:lnSpc>
              <a:buNone/>
            </a:pPr>
            <a:endParaRPr lang="en-IN" altLang="en-US" sz="1600" b="0" dirty="0" smtClean="0">
              <a:solidFill>
                <a:srgbClr val="000066"/>
              </a:solidFill>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1600" dirty="0">
                <a:solidFill>
                  <a:srgbClr val="000066"/>
                </a:solidFill>
                <a:latin typeface="Arial" panose="020B0604020202020204" pitchFamily="34" charset="0"/>
                <a:sym typeface="+mn-ea"/>
              </a:rPr>
              <a:t>2.</a:t>
            </a:r>
            <a:r>
              <a:rPr lang="en-IN" altLang="en-US" sz="1600" dirty="0">
                <a:solidFill>
                  <a:srgbClr val="000066"/>
                </a:solidFill>
                <a:latin typeface="Arial" panose="020B0604020202020204" pitchFamily="34" charset="0"/>
                <a:sym typeface="+mn-ea"/>
              </a:rPr>
              <a:t> </a:t>
            </a:r>
            <a:r>
              <a:rPr lang="en-IN" altLang="en-US" sz="1600" dirty="0" smtClean="0">
                <a:solidFill>
                  <a:srgbClr val="000066"/>
                </a:solidFill>
                <a:latin typeface="Arial" panose="020B0604020202020204" pitchFamily="34" charset="0"/>
                <a:cs typeface="Arial" panose="020B0604020202020204" pitchFamily="34" charset="0"/>
                <a:sym typeface="+mn-ea"/>
              </a:rPr>
              <a:t>Query Processing</a:t>
            </a:r>
            <a:endParaRPr lang="en-IN" altLang="en-US" sz="1600" dirty="0" smtClean="0">
              <a:solidFill>
                <a:srgbClr val="000066"/>
              </a:solidFill>
              <a:latin typeface="Arial" panose="020B0604020202020204" pitchFamily="34" charset="0"/>
              <a:cs typeface="Arial" panose="020B0604020202020204" pitchFamily="34" charset="0"/>
              <a:sym typeface="+mn-ea"/>
            </a:endParaRPr>
          </a:p>
          <a:p>
            <a:pPr marL="0" marR="0" indent="0" algn="l" defTabSz="914400" rtl="0" eaLnBrk="1" fontAlgn="auto" latinLnBrk="0" hangingPunct="1">
              <a:lnSpc>
                <a:spcPct val="90000"/>
              </a:lnSpc>
              <a:spcBef>
                <a:spcPts val="0"/>
              </a:spcBef>
              <a:spcAft>
                <a:spcPts val="0"/>
              </a:spcAft>
              <a:buClrTx/>
              <a:buSzTx/>
              <a:buFontTx/>
              <a:buNone/>
              <a:defRPr/>
            </a:pPr>
            <a:endParaRPr lang="en-IN" altLang="en-US" sz="1600" dirty="0">
              <a:solidFill>
                <a:srgbClr val="000066"/>
              </a:solidFill>
              <a:latin typeface="Arial" panose="020B0604020202020204" pitchFamily="34" charset="0"/>
              <a:sym typeface="+mn-ea"/>
            </a:endParaRPr>
          </a:p>
          <a:p>
            <a:pPr marL="0" marR="0" indent="0" algn="l" defTabSz="914400" rtl="0" eaLnBrk="1" fontAlgn="auto" latinLnBrk="0" hangingPunct="1">
              <a:lnSpc>
                <a:spcPct val="100000"/>
              </a:lnSpc>
              <a:spcBef>
                <a:spcPts val="0"/>
              </a:spcBef>
              <a:spcAft>
                <a:spcPts val="0"/>
              </a:spcAft>
              <a:buClrTx/>
              <a:buSzTx/>
              <a:buFontTx/>
              <a:buNone/>
              <a:defRPr/>
            </a:pPr>
            <a:r>
              <a:rPr lang="en-IN" altLang="en-US" sz="1600" dirty="0">
                <a:solidFill>
                  <a:srgbClr val="000066"/>
                </a:solidFill>
                <a:latin typeface="Arial" panose="020B0604020202020204" pitchFamily="34" charset="0"/>
                <a:sym typeface="+mn-ea"/>
              </a:rPr>
              <a:t>3. </a:t>
            </a:r>
            <a:r>
              <a:rPr lang="en-US" sz="1600" dirty="0" smtClean="0">
                <a:solidFill>
                  <a:srgbClr val="000066"/>
                </a:solidFill>
                <a:latin typeface="Arial" panose="020B0604020202020204" pitchFamily="34" charset="0"/>
                <a:cs typeface="Arial" panose="020B0604020202020204" pitchFamily="34" charset="0"/>
                <a:sym typeface="+mn-ea"/>
              </a:rPr>
              <a:t>Authenticating Drug Usage with Blockchain validation</a:t>
            </a:r>
            <a:endParaRPr lang="en-IN" altLang="en-US" sz="1600" dirty="0">
              <a:solidFill>
                <a:srgbClr val="000066"/>
              </a:solidFill>
              <a:latin typeface="Arial" panose="020B0604020202020204" pitchFamily="34"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17085" y="764540"/>
            <a:ext cx="2957830" cy="583565"/>
          </a:xfrm>
          <a:prstGeom prst="rect">
            <a:avLst/>
          </a:prstGeom>
          <a:noFill/>
        </p:spPr>
        <p:txBody>
          <a:bodyPr wrap="square" rtlCol="0">
            <a:spAutoFit/>
          </a:bodyPr>
          <a:lstStyle/>
          <a:p>
            <a:pPr algn="ctr"/>
            <a:r>
              <a:rPr lang="en-US" sz="3200" b="1" dirty="0" smtClean="0">
                <a:solidFill>
                  <a:srgbClr val="660033"/>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TIMELINE</a:t>
            </a:r>
            <a:endParaRPr lang="en-US" sz="3200" b="1" dirty="0" smtClean="0">
              <a:solidFill>
                <a:srgbClr val="660033"/>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 name="Date Placeholder 3"/>
          <p:cNvSpPr txBox="1"/>
          <p:nvPr/>
        </p:nvSpPr>
        <p:spPr>
          <a:xfrm>
            <a:off x="595184" y="6543654"/>
            <a:ext cx="1422400" cy="222204"/>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FF9292E-FBD5-4364-9F85-3FD1AA5E5C3A}" type="datetime3">
              <a:rPr lang="en-IN" altLang="en-US" sz="1000" b="1" smtClean="0">
                <a:solidFill>
                  <a:srgbClr val="660033"/>
                </a:solidFill>
                <a:latin typeface="Arial" panose="020B0604020202020204" pitchFamily="34" charset="0"/>
                <a:cs typeface="Arial" panose="020B0604020202020204" pitchFamily="34" charset="0"/>
              </a:rPr>
            </a:fld>
            <a:r>
              <a:rPr lang="en-IN" altLang="en-US" sz="1000" b="1" smtClean="0">
                <a:solidFill>
                  <a:srgbClr val="660033"/>
                </a:solidFill>
                <a:latin typeface="Arial" panose="020B0604020202020204" pitchFamily="34" charset="0"/>
                <a:cs typeface="Arial" panose="020B0604020202020204" pitchFamily="34" charset="0"/>
              </a:rPr>
              <a:t> February 2022</a:t>
            </a:r>
            <a:endParaRPr lang="en-US" sz="1000" b="1" dirty="0">
              <a:solidFill>
                <a:srgbClr val="660033"/>
              </a:solidFill>
              <a:latin typeface="Arial" panose="020B0604020202020204" pitchFamily="34" charset="0"/>
              <a:cs typeface="Arial" panose="020B0604020202020204" pitchFamily="34" charset="0"/>
            </a:endParaRPr>
          </a:p>
        </p:txBody>
      </p:sp>
      <p:sp>
        <p:nvSpPr>
          <p:cNvPr id="4" name="Slide Number Placeholder 3"/>
          <p:cNvSpPr txBox="1"/>
          <p:nvPr/>
        </p:nvSpPr>
        <p:spPr>
          <a:xfrm>
            <a:off x="11787715" y="6459494"/>
            <a:ext cx="438150" cy="3905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8327C5-B821-4FE9-A59A-A60D9EB59A9A}" type="slidenum">
              <a:rPr lang="en-US" sz="1000" b="1" smtClean="0">
                <a:solidFill>
                  <a:srgbClr val="660033"/>
                </a:solidFill>
                <a:latin typeface="Arial" panose="020B0604020202020204" pitchFamily="34" charset="0"/>
                <a:cs typeface="Arial" panose="020B0604020202020204" pitchFamily="34" charset="0"/>
              </a:rPr>
            </a:fld>
            <a:endParaRPr lang="en-US" sz="1000" b="1" dirty="0">
              <a:solidFill>
                <a:srgbClr val="660033"/>
              </a:solidFill>
              <a:latin typeface="Arial" panose="020B0604020202020204" pitchFamily="34" charset="0"/>
              <a:cs typeface="Arial" panose="020B0604020202020204" pitchFamily="34" charset="0"/>
            </a:endParaRPr>
          </a:p>
        </p:txBody>
      </p:sp>
      <p:sp>
        <p:nvSpPr>
          <p:cNvPr id="5" name="TextBox 4"/>
          <p:cNvSpPr txBox="1"/>
          <p:nvPr/>
        </p:nvSpPr>
        <p:spPr>
          <a:xfrm>
            <a:off x="5042622" y="6525344"/>
            <a:ext cx="2263761" cy="246221"/>
          </a:xfrm>
          <a:prstGeom prst="rect">
            <a:avLst/>
          </a:prstGeom>
          <a:noFill/>
        </p:spPr>
        <p:txBody>
          <a:bodyPr wrap="none" rtlCol="0">
            <a:spAutoFit/>
          </a:bodyPr>
          <a:lstStyle/>
          <a:p>
            <a:r>
              <a:rPr lang="en-US" sz="1000" b="1" dirty="0" smtClean="0">
                <a:solidFill>
                  <a:srgbClr val="660033"/>
                </a:solidFill>
                <a:latin typeface="Arial" panose="020B0604020202020204" pitchFamily="34" charset="0"/>
                <a:cs typeface="Arial" panose="020B0604020202020204" pitchFamily="34" charset="0"/>
              </a:rPr>
              <a:t>INT 300 Internship II : First Review</a:t>
            </a:r>
            <a:endParaRPr lang="en-US" sz="1000" b="1" dirty="0">
              <a:solidFill>
                <a:srgbClr val="660033"/>
              </a:solidFill>
              <a:latin typeface="Arial" panose="020B0604020202020204" pitchFamily="34" charset="0"/>
              <a:cs typeface="Arial" panose="020B0604020202020204" pitchFamily="34" charset="0"/>
            </a:endParaRPr>
          </a:p>
        </p:txBody>
      </p:sp>
      <p:graphicFrame>
        <p:nvGraphicFramePr>
          <p:cNvPr id="7" name="Table 6"/>
          <p:cNvGraphicFramePr/>
          <p:nvPr/>
        </p:nvGraphicFramePr>
        <p:xfrm>
          <a:off x="1656080" y="1700530"/>
          <a:ext cx="8879840" cy="3632835"/>
        </p:xfrm>
        <a:graphic>
          <a:graphicData uri="http://schemas.openxmlformats.org/drawingml/2006/table">
            <a:tbl>
              <a:tblPr firstRow="1" bandRow="1">
                <a:tableStyleId>{5C22544A-7EE6-4342-B048-85BDC9FD1C3A}</a:tableStyleId>
              </a:tblPr>
              <a:tblGrid>
                <a:gridCol w="4266565"/>
                <a:gridCol w="4613275"/>
              </a:tblGrid>
              <a:tr h="850265">
                <a:tc>
                  <a:txBody>
                    <a:bodyPr/>
                    <a:p>
                      <a:pPr algn="ctr">
                        <a:buNone/>
                      </a:pPr>
                      <a:r>
                        <a:rPr lang="en-IN" altLang="en-US" sz="2400"/>
                        <a:t>Start Date (Time period)</a:t>
                      </a:r>
                      <a:endParaRPr lang="en-IN" altLang="en-US" sz="2400"/>
                    </a:p>
                  </a:txBody>
                  <a:tcPr anchor="ctr" anchorCtr="0"/>
                </a:tc>
                <a:tc>
                  <a:txBody>
                    <a:bodyPr/>
                    <a:p>
                      <a:pPr algn="ctr">
                        <a:buNone/>
                      </a:pPr>
                      <a:r>
                        <a:rPr lang="en-IN" altLang="en-US" sz="2400"/>
                        <a:t>Work Done</a:t>
                      </a:r>
                      <a:endParaRPr lang="en-IN" altLang="en-US" sz="2400"/>
                    </a:p>
                  </a:txBody>
                  <a:tcPr anchor="ctr" anchorCtr="0"/>
                </a:tc>
              </a:tr>
              <a:tr h="673100">
                <a:tc>
                  <a:txBody>
                    <a:bodyPr/>
                    <a:p>
                      <a:pPr>
                        <a:buNone/>
                      </a:pPr>
                      <a:r>
                        <a:rPr lang="en-IN" altLang="en-US" sz="2000" b="0">
                          <a:solidFill>
                            <a:schemeClr val="accent1">
                              <a:lumMod val="50000"/>
                            </a:schemeClr>
                          </a:solidFill>
                          <a:latin typeface="Bookman Old Style" panose="02050604050505020204" pitchFamily="18" charset="0"/>
                          <a:cs typeface="Bookman Old Style" panose="02050604050505020204" pitchFamily="18" charset="0"/>
                        </a:rPr>
                        <a:t>17th January, 2022 (5 days)</a:t>
                      </a:r>
                      <a:endParaRPr lang="en-IN" altLang="en-US" sz="2000" b="0">
                        <a:solidFill>
                          <a:schemeClr val="accent1">
                            <a:lumMod val="50000"/>
                          </a:schemeClr>
                        </a:solidFill>
                        <a:latin typeface="Bookman Old Style" panose="02050604050505020204" pitchFamily="18" charset="0"/>
                        <a:cs typeface="Bookman Old Style" panose="02050604050505020204" pitchFamily="18" charset="0"/>
                      </a:endParaRPr>
                    </a:p>
                  </a:txBody>
                  <a:tcPr anchor="ctr" anchorCtr="0"/>
                </a:tc>
                <a:tc>
                  <a:txBody>
                    <a:bodyPr/>
                    <a:p>
                      <a:pPr>
                        <a:buNone/>
                      </a:pPr>
                      <a:r>
                        <a:rPr lang="en-IN" altLang="en-US" sz="2000" b="0">
                          <a:solidFill>
                            <a:schemeClr val="accent1">
                              <a:lumMod val="50000"/>
                            </a:schemeClr>
                          </a:solidFill>
                          <a:latin typeface="Bookman Old Style" panose="02050604050505020204" pitchFamily="18" charset="0"/>
                          <a:cs typeface="Bookman Old Style" panose="02050604050505020204" pitchFamily="18" charset="0"/>
                        </a:rPr>
                        <a:t>Reading Research Papers</a:t>
                      </a:r>
                      <a:endParaRPr lang="en-IN" altLang="en-US" sz="2000" b="0">
                        <a:solidFill>
                          <a:schemeClr val="accent1">
                            <a:lumMod val="50000"/>
                          </a:schemeClr>
                        </a:solidFill>
                        <a:latin typeface="Bookman Old Style" panose="02050604050505020204" pitchFamily="18" charset="0"/>
                        <a:cs typeface="Bookman Old Style" panose="02050604050505020204" pitchFamily="18" charset="0"/>
                      </a:endParaRPr>
                    </a:p>
                  </a:txBody>
                  <a:tcPr anchor="ctr" anchorCtr="0"/>
                </a:tc>
              </a:tr>
              <a:tr h="793115">
                <a:tc>
                  <a:txBody>
                    <a:bodyPr/>
                    <a:p>
                      <a:pPr>
                        <a:buNone/>
                      </a:pPr>
                      <a:r>
                        <a:rPr lang="en-IN" altLang="en-US" sz="2000" b="0">
                          <a:solidFill>
                            <a:schemeClr val="accent1">
                              <a:lumMod val="50000"/>
                            </a:schemeClr>
                          </a:solidFill>
                          <a:latin typeface="Bookman Old Style" panose="02050604050505020204" pitchFamily="18" charset="0"/>
                          <a:cs typeface="Bookman Old Style" panose="02050604050505020204" pitchFamily="18" charset="0"/>
                        </a:rPr>
                        <a:t>24th </a:t>
                      </a:r>
                      <a:r>
                        <a:rPr lang="en-IN" altLang="en-US" sz="2000" b="0">
                          <a:solidFill>
                            <a:schemeClr val="accent1">
                              <a:lumMod val="50000"/>
                            </a:schemeClr>
                          </a:solidFill>
                          <a:latin typeface="Bookman Old Style" panose="02050604050505020204" pitchFamily="18" charset="0"/>
                          <a:cs typeface="Bookman Old Style" panose="02050604050505020204" pitchFamily="18" charset="0"/>
                          <a:sym typeface="+mn-ea"/>
                        </a:rPr>
                        <a:t>January, 2022  (2 days)</a:t>
                      </a:r>
                      <a:endParaRPr lang="en-IN" altLang="en-US" sz="2000" b="0">
                        <a:solidFill>
                          <a:schemeClr val="accent1">
                            <a:lumMod val="50000"/>
                          </a:schemeClr>
                        </a:solidFill>
                        <a:latin typeface="Bookman Old Style" panose="02050604050505020204" pitchFamily="18" charset="0"/>
                        <a:cs typeface="Bookman Old Style" panose="02050604050505020204" pitchFamily="18" charset="0"/>
                        <a:sym typeface="+mn-ea"/>
                      </a:endParaRPr>
                    </a:p>
                  </a:txBody>
                  <a:tcPr anchor="ctr" anchorCtr="0"/>
                </a:tc>
                <a:tc>
                  <a:txBody>
                    <a:bodyPr/>
                    <a:p>
                      <a:pPr>
                        <a:buNone/>
                      </a:pPr>
                      <a:r>
                        <a:rPr lang="en-IN" altLang="en-US" sz="2000" b="0">
                          <a:solidFill>
                            <a:schemeClr val="accent1">
                              <a:lumMod val="50000"/>
                            </a:schemeClr>
                          </a:solidFill>
                          <a:latin typeface="Bookman Old Style" panose="02050604050505020204" pitchFamily="18" charset="0"/>
                          <a:cs typeface="Bookman Old Style" panose="02050604050505020204" pitchFamily="18" charset="0"/>
                        </a:rPr>
                        <a:t>Learning Python and R modules related to Machine Learning  </a:t>
                      </a:r>
                      <a:endParaRPr lang="en-IN" altLang="en-US" sz="2000" b="0">
                        <a:solidFill>
                          <a:schemeClr val="accent1">
                            <a:lumMod val="50000"/>
                          </a:schemeClr>
                        </a:solidFill>
                        <a:latin typeface="Bookman Old Style" panose="02050604050505020204" pitchFamily="18" charset="0"/>
                        <a:cs typeface="Bookman Old Style" panose="02050604050505020204" pitchFamily="18" charset="0"/>
                      </a:endParaRPr>
                    </a:p>
                  </a:txBody>
                  <a:tcPr anchor="ctr" anchorCtr="0"/>
                </a:tc>
              </a:tr>
              <a:tr h="661670">
                <a:tc>
                  <a:txBody>
                    <a:bodyPr/>
                    <a:p>
                      <a:pPr>
                        <a:buNone/>
                      </a:pPr>
                      <a:r>
                        <a:rPr lang="en-IN" altLang="en-US" sz="2000" b="0">
                          <a:solidFill>
                            <a:schemeClr val="accent1">
                              <a:lumMod val="50000"/>
                            </a:schemeClr>
                          </a:solidFill>
                          <a:latin typeface="Bookman Old Style" panose="02050604050505020204" pitchFamily="18" charset="0"/>
                          <a:cs typeface="Bookman Old Style" panose="02050604050505020204" pitchFamily="18" charset="0"/>
                          <a:sym typeface="+mn-ea"/>
                        </a:rPr>
                        <a:t>26th </a:t>
                      </a:r>
                      <a:r>
                        <a:rPr lang="en-IN" altLang="en-US" sz="2000" b="0">
                          <a:solidFill>
                            <a:schemeClr val="accent1">
                              <a:lumMod val="50000"/>
                            </a:schemeClr>
                          </a:solidFill>
                          <a:latin typeface="Bookman Old Style" panose="02050604050505020204" pitchFamily="18" charset="0"/>
                          <a:cs typeface="Bookman Old Style" panose="02050604050505020204" pitchFamily="18" charset="0"/>
                          <a:sym typeface="+mn-ea"/>
                        </a:rPr>
                        <a:t>January, 2022  (4</a:t>
                      </a:r>
                      <a:r>
                        <a:rPr lang="en-IN" altLang="en-US" sz="2000" b="0">
                          <a:solidFill>
                            <a:schemeClr val="accent1">
                              <a:lumMod val="50000"/>
                            </a:schemeClr>
                          </a:solidFill>
                          <a:latin typeface="Bookman Old Style" panose="02050604050505020204" pitchFamily="18" charset="0"/>
                          <a:cs typeface="Bookman Old Style" panose="02050604050505020204" pitchFamily="18" charset="0"/>
                          <a:sym typeface="+mn-ea"/>
                        </a:rPr>
                        <a:t> days</a:t>
                      </a:r>
                      <a:r>
                        <a:rPr lang="en-IN" altLang="en-US" sz="2000" b="0">
                          <a:solidFill>
                            <a:schemeClr val="accent1">
                              <a:lumMod val="50000"/>
                            </a:schemeClr>
                          </a:solidFill>
                          <a:latin typeface="Bookman Old Style" panose="02050604050505020204" pitchFamily="18" charset="0"/>
                          <a:cs typeface="Bookman Old Style" panose="02050604050505020204" pitchFamily="18" charset="0"/>
                          <a:sym typeface="+mn-ea"/>
                        </a:rPr>
                        <a:t>)</a:t>
                      </a:r>
                      <a:endParaRPr lang="en-IN" altLang="en-US" sz="2000" b="0">
                        <a:solidFill>
                          <a:schemeClr val="accent1">
                            <a:lumMod val="50000"/>
                          </a:schemeClr>
                        </a:solidFill>
                        <a:latin typeface="Bookman Old Style" panose="02050604050505020204" pitchFamily="18" charset="0"/>
                        <a:cs typeface="Bookman Old Style" panose="02050604050505020204" pitchFamily="18" charset="0"/>
                        <a:sym typeface="+mn-ea"/>
                      </a:endParaRPr>
                    </a:p>
                  </a:txBody>
                  <a:tcPr anchor="ctr" anchorCtr="0"/>
                </a:tc>
                <a:tc>
                  <a:txBody>
                    <a:bodyPr/>
                    <a:p>
                      <a:pPr>
                        <a:buNone/>
                      </a:pPr>
                      <a:r>
                        <a:rPr lang="en-IN" altLang="en-US" sz="2000" b="0">
                          <a:solidFill>
                            <a:schemeClr val="accent1">
                              <a:lumMod val="50000"/>
                            </a:schemeClr>
                          </a:solidFill>
                          <a:latin typeface="Bookman Old Style" panose="02050604050505020204" pitchFamily="18" charset="0"/>
                          <a:cs typeface="Bookman Old Style" panose="02050604050505020204" pitchFamily="18" charset="0"/>
                        </a:rPr>
                        <a:t>Data Analysis on Drug Dataset - 1</a:t>
                      </a:r>
                      <a:endParaRPr lang="en-IN" altLang="en-US" sz="2000" b="0">
                        <a:solidFill>
                          <a:schemeClr val="accent1">
                            <a:lumMod val="50000"/>
                          </a:schemeClr>
                        </a:solidFill>
                        <a:latin typeface="Bookman Old Style" panose="02050604050505020204" pitchFamily="18" charset="0"/>
                        <a:cs typeface="Bookman Old Style" panose="02050604050505020204" pitchFamily="18" charset="0"/>
                      </a:endParaRPr>
                    </a:p>
                  </a:txBody>
                  <a:tcPr anchor="ctr" anchorCtr="0"/>
                </a:tc>
              </a:tr>
              <a:tr h="654685">
                <a:tc>
                  <a:txBody>
                    <a:bodyPr/>
                    <a:p>
                      <a:pPr>
                        <a:buNone/>
                      </a:pPr>
                      <a:r>
                        <a:rPr lang="en-IN" altLang="en-US" sz="2000" b="0">
                          <a:solidFill>
                            <a:schemeClr val="accent1">
                              <a:lumMod val="50000"/>
                            </a:schemeClr>
                          </a:solidFill>
                          <a:latin typeface="Bookman Old Style" panose="02050604050505020204" pitchFamily="18" charset="0"/>
                          <a:cs typeface="Bookman Old Style" panose="02050604050505020204" pitchFamily="18" charset="0"/>
                          <a:sym typeface="+mn-ea"/>
                        </a:rPr>
                        <a:t>1st February, 2022  (4 days)</a:t>
                      </a:r>
                      <a:endParaRPr lang="en-IN" altLang="en-US" sz="2000" b="0">
                        <a:solidFill>
                          <a:schemeClr val="accent1">
                            <a:lumMod val="50000"/>
                          </a:schemeClr>
                        </a:solidFill>
                        <a:latin typeface="Bookman Old Style" panose="02050604050505020204" pitchFamily="18" charset="0"/>
                        <a:cs typeface="Bookman Old Style" panose="02050604050505020204" pitchFamily="18" charset="0"/>
                        <a:sym typeface="+mn-ea"/>
                      </a:endParaRPr>
                    </a:p>
                  </a:txBody>
                  <a:tcPr anchor="ctr" anchorCtr="0"/>
                </a:tc>
                <a:tc>
                  <a:txBody>
                    <a:bodyPr/>
                    <a:p>
                      <a:pPr>
                        <a:buNone/>
                      </a:pPr>
                      <a:r>
                        <a:rPr lang="en-IN" altLang="en-US" sz="2000" b="0">
                          <a:solidFill>
                            <a:schemeClr val="accent1">
                              <a:lumMod val="50000"/>
                            </a:schemeClr>
                          </a:solidFill>
                          <a:latin typeface="Bookman Old Style" panose="02050604050505020204" pitchFamily="18" charset="0"/>
                          <a:cs typeface="Bookman Old Style" panose="02050604050505020204" pitchFamily="18" charset="0"/>
                        </a:rPr>
                        <a:t>Data Analysis on Drug Dataset - 2</a:t>
                      </a:r>
                      <a:endParaRPr lang="en-IN" altLang="en-US" sz="2000" b="0">
                        <a:solidFill>
                          <a:schemeClr val="accent1">
                            <a:lumMod val="50000"/>
                          </a:schemeClr>
                        </a:solidFill>
                        <a:latin typeface="Bookman Old Style" panose="02050604050505020204" pitchFamily="18" charset="0"/>
                        <a:cs typeface="Bookman Old Style" panose="02050604050505020204" pitchFamily="18" charset="0"/>
                      </a:endParaRPr>
                    </a:p>
                  </a:txBody>
                  <a:tcPr anchor="ctr" anchorCtr="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5835" y="1268730"/>
            <a:ext cx="10259695" cy="4831080"/>
          </a:xfrm>
          <a:prstGeom prst="rect">
            <a:avLst/>
          </a:prstGeom>
          <a:noFill/>
        </p:spPr>
        <p:txBody>
          <a:bodyPr wrap="square">
            <a:spAutoFit/>
          </a:bodyPr>
          <a:lstStyle/>
          <a:p>
            <a:pPr algn="just"/>
            <a:r>
              <a:rPr lang="en-US" sz="2000" dirty="0" smtClean="0">
                <a:solidFill>
                  <a:srgbClr val="660033"/>
                </a:solidFill>
                <a:latin typeface="Times New Roman" panose="02020603050405020304" pitchFamily="18" charset="0"/>
                <a:cs typeface="Times New Roman" panose="02020603050405020304" pitchFamily="18" charset="0"/>
              </a:rPr>
              <a:t>[</a:t>
            </a:r>
            <a:r>
              <a:rPr lang="en-US" sz="2000" dirty="0">
                <a:solidFill>
                  <a:srgbClr val="660033"/>
                </a:solidFill>
                <a:latin typeface="Times New Roman" panose="02020603050405020304" pitchFamily="18" charset="0"/>
                <a:cs typeface="Times New Roman" panose="02020603050405020304" pitchFamily="18" charset="0"/>
              </a:rPr>
              <a:t>1] 	https://online-journals.org/index.php/i-jim/article/view/16561/7999</a:t>
            </a:r>
            <a:endParaRPr lang="en-US" sz="2000" dirty="0">
              <a:solidFill>
                <a:srgbClr val="660033"/>
              </a:solidFill>
              <a:latin typeface="Times New Roman" panose="02020603050405020304" pitchFamily="18" charset="0"/>
              <a:cs typeface="Times New Roman" panose="02020603050405020304" pitchFamily="18" charset="0"/>
            </a:endParaRPr>
          </a:p>
          <a:p>
            <a:pPr algn="just"/>
            <a:endParaRPr lang="en-US" sz="2000" dirty="0">
              <a:solidFill>
                <a:srgbClr val="660033"/>
              </a:solidFill>
              <a:latin typeface="Times New Roman" panose="02020603050405020304" pitchFamily="18" charset="0"/>
              <a:cs typeface="Times New Roman" panose="02020603050405020304" pitchFamily="18" charset="0"/>
            </a:endParaRPr>
          </a:p>
          <a:p>
            <a:pPr algn="just"/>
            <a:r>
              <a:rPr lang="en-US" sz="2000" dirty="0">
                <a:solidFill>
                  <a:srgbClr val="660033"/>
                </a:solidFill>
                <a:latin typeface="Times New Roman" panose="02020603050405020304" pitchFamily="18" charset="0"/>
                <a:cs typeface="Times New Roman" panose="02020603050405020304" pitchFamily="18" charset="0"/>
              </a:rPr>
              <a:t>[2]	https://www.middleeastmedicalportal.com/a-blockchain-based-approach-for-drug-traceability-in-healthcare-supply-chain/</a:t>
            </a:r>
            <a:endParaRPr lang="en-US" sz="2000" dirty="0">
              <a:solidFill>
                <a:srgbClr val="660033"/>
              </a:solidFill>
              <a:latin typeface="Times New Roman" panose="02020603050405020304" pitchFamily="18" charset="0"/>
              <a:cs typeface="Times New Roman" panose="02020603050405020304" pitchFamily="18" charset="0"/>
            </a:endParaRPr>
          </a:p>
          <a:p>
            <a:pPr algn="just"/>
            <a:endParaRPr lang="en-US" sz="2000" dirty="0">
              <a:solidFill>
                <a:srgbClr val="660033"/>
              </a:solidFill>
              <a:latin typeface="Times New Roman" panose="02020603050405020304" pitchFamily="18" charset="0"/>
              <a:cs typeface="Times New Roman" panose="02020603050405020304" pitchFamily="18" charset="0"/>
            </a:endParaRPr>
          </a:p>
          <a:p>
            <a:pPr algn="just"/>
            <a:r>
              <a:rPr lang="en-US" sz="2000" dirty="0">
                <a:solidFill>
                  <a:srgbClr val="660033"/>
                </a:solidFill>
                <a:latin typeface="Times New Roman" panose="02020603050405020304" pitchFamily="18" charset="0"/>
                <a:cs typeface="Times New Roman" panose="02020603050405020304" pitchFamily="18" charset="0"/>
              </a:rPr>
              <a:t>[3]	https://www.velotio.com/engineering-blog/collaborative-recommendation-system-approaches-challenges-implementation</a:t>
            </a:r>
            <a:endParaRPr lang="en-US" sz="2000" dirty="0">
              <a:solidFill>
                <a:srgbClr val="660033"/>
              </a:solidFill>
              <a:latin typeface="Times New Roman" panose="02020603050405020304" pitchFamily="18" charset="0"/>
              <a:cs typeface="Times New Roman" panose="02020603050405020304" pitchFamily="18" charset="0"/>
            </a:endParaRPr>
          </a:p>
          <a:p>
            <a:pPr algn="just"/>
            <a:endParaRPr lang="en-US" sz="2000" dirty="0">
              <a:solidFill>
                <a:srgbClr val="660033"/>
              </a:solidFill>
              <a:latin typeface="Times New Roman" panose="02020603050405020304" pitchFamily="18" charset="0"/>
              <a:cs typeface="Times New Roman" panose="02020603050405020304" pitchFamily="18" charset="0"/>
            </a:endParaRPr>
          </a:p>
          <a:p>
            <a:pPr algn="just">
              <a:lnSpc>
                <a:spcPct val="150000"/>
              </a:lnSpc>
            </a:pPr>
            <a:r>
              <a:rPr lang="en-IN" altLang="en-US" sz="2000" dirty="0">
                <a:solidFill>
                  <a:srgbClr val="660033"/>
                </a:solidFill>
                <a:latin typeface="Times New Roman" panose="02020603050405020304" pitchFamily="18" charset="0"/>
                <a:cs typeface="Times New Roman" panose="02020603050405020304" pitchFamily="18" charset="0"/>
              </a:rPr>
              <a:t>Dataset Links:-</a:t>
            </a:r>
            <a:endParaRPr lang="en-IN" altLang="en-US" sz="2000" dirty="0">
              <a:solidFill>
                <a:srgbClr val="660033"/>
              </a:solidFill>
              <a:latin typeface="Times New Roman" panose="02020603050405020304" pitchFamily="18" charset="0"/>
              <a:cs typeface="Times New Roman" panose="02020603050405020304" pitchFamily="18" charset="0"/>
            </a:endParaRPr>
          </a:p>
          <a:p>
            <a:pPr algn="just">
              <a:lnSpc>
                <a:spcPct val="30000"/>
              </a:lnSpc>
            </a:pPr>
            <a:endParaRPr lang="en-IN" altLang="en-US" sz="2000" dirty="0">
              <a:solidFill>
                <a:srgbClr val="660033"/>
              </a:solidFill>
              <a:latin typeface="Times New Roman" panose="02020603050405020304" pitchFamily="18" charset="0"/>
              <a:cs typeface="Times New Roman" panose="02020603050405020304" pitchFamily="18" charset="0"/>
            </a:endParaRPr>
          </a:p>
          <a:p>
            <a:pPr algn="just">
              <a:lnSpc>
                <a:spcPct val="140000"/>
              </a:lnSpc>
            </a:pPr>
            <a:r>
              <a:rPr lang="en-IN" altLang="en-US" sz="2000" dirty="0">
                <a:solidFill>
                  <a:srgbClr val="660033"/>
                </a:solidFill>
                <a:latin typeface="Times New Roman" panose="02020603050405020304" pitchFamily="18" charset="0"/>
                <a:cs typeface="Times New Roman" panose="02020603050405020304" pitchFamily="18" charset="0"/>
              </a:rPr>
              <a:t>	1)   https://www.kaggle.com/mpwolke/medicine-recommendation</a:t>
            </a:r>
            <a:endParaRPr lang="en-IN" altLang="en-US" sz="2000" dirty="0">
              <a:solidFill>
                <a:srgbClr val="660033"/>
              </a:solidFill>
              <a:latin typeface="Times New Roman" panose="02020603050405020304" pitchFamily="18" charset="0"/>
              <a:cs typeface="Times New Roman" panose="02020603050405020304" pitchFamily="18" charset="0"/>
            </a:endParaRPr>
          </a:p>
          <a:p>
            <a:pPr algn="l">
              <a:lnSpc>
                <a:spcPct val="140000"/>
              </a:lnSpc>
            </a:pPr>
            <a:r>
              <a:rPr lang="en-IN" altLang="en-US" sz="2000" dirty="0">
                <a:solidFill>
                  <a:srgbClr val="660033"/>
                </a:solidFill>
                <a:latin typeface="Times New Roman" panose="02020603050405020304" pitchFamily="18" charset="0"/>
                <a:cs typeface="Times New Roman" panose="02020603050405020304" pitchFamily="18" charset="0"/>
              </a:rPr>
              <a:t>	2)   </a:t>
            </a:r>
            <a:r>
              <a:rPr lang="en-IN" altLang="en-US" sz="2000" dirty="0">
                <a:solidFill>
                  <a:srgbClr val="660033"/>
                </a:solidFill>
                <a:latin typeface="Times New Roman" panose="02020603050405020304" pitchFamily="18" charset="0"/>
                <a:cs typeface="Times New Roman" panose="02020603050405020304" pitchFamily="18" charset="0"/>
                <a:sym typeface="+mn-ea"/>
              </a:rPr>
              <a:t>https://archive.ics.uci.edu/ml/datasets/Drug+Review+Dataset+%28Drugs.com%29</a:t>
            </a:r>
            <a:endParaRPr lang="en-IN" altLang="en-US" sz="2000" dirty="0">
              <a:solidFill>
                <a:srgbClr val="660033"/>
              </a:solidFill>
              <a:latin typeface="Times New Roman" panose="02020603050405020304" pitchFamily="18" charset="0"/>
              <a:cs typeface="Times New Roman" panose="02020603050405020304" pitchFamily="18" charset="0"/>
              <a:sym typeface="+mn-ea"/>
            </a:endParaRPr>
          </a:p>
          <a:p>
            <a:pPr algn="l">
              <a:lnSpc>
                <a:spcPct val="140000"/>
              </a:lnSpc>
            </a:pPr>
            <a:r>
              <a:rPr lang="en-IN" altLang="en-US" sz="2000" dirty="0">
                <a:solidFill>
                  <a:srgbClr val="660033"/>
                </a:solidFill>
                <a:latin typeface="Times New Roman" panose="02020603050405020304" pitchFamily="18" charset="0"/>
                <a:cs typeface="Times New Roman" panose="02020603050405020304" pitchFamily="18" charset="0"/>
                <a:sym typeface="+mn-ea"/>
              </a:rPr>
              <a:t>GitHub Link:-</a:t>
            </a:r>
            <a:endParaRPr lang="en-IN" altLang="en-US" sz="2000" dirty="0">
              <a:solidFill>
                <a:srgbClr val="660033"/>
              </a:solidFill>
              <a:latin typeface="Times New Roman" panose="02020603050405020304" pitchFamily="18" charset="0"/>
              <a:cs typeface="Times New Roman" panose="02020603050405020304" pitchFamily="18" charset="0"/>
              <a:sym typeface="+mn-ea"/>
            </a:endParaRPr>
          </a:p>
          <a:p>
            <a:pPr algn="l">
              <a:lnSpc>
                <a:spcPct val="140000"/>
              </a:lnSpc>
            </a:pPr>
            <a:r>
              <a:rPr lang="en-US" sz="2000">
                <a:solidFill>
                  <a:schemeClr val="bg2">
                    <a:lumMod val="25000"/>
                  </a:schemeClr>
                </a:solidFill>
                <a:sym typeface="+mn-ea"/>
              </a:rPr>
              <a:t>https://github.com/jisong316/drug-recommendation</a:t>
            </a:r>
            <a:endParaRPr lang="en-IN" altLang="en-US" sz="2000" dirty="0">
              <a:solidFill>
                <a:srgbClr val="660033"/>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4738003" y="476885"/>
            <a:ext cx="2717411" cy="584775"/>
          </a:xfrm>
          <a:prstGeom prst="rect">
            <a:avLst/>
          </a:prstGeom>
          <a:noFill/>
        </p:spPr>
        <p:txBody>
          <a:bodyPr wrap="none" rtlCol="0">
            <a:spAutoFit/>
          </a:bodyPr>
          <a:lstStyle/>
          <a:p>
            <a:r>
              <a:rPr lang="en-US" sz="3200" b="1" dirty="0" smtClean="0">
                <a:solidFill>
                  <a:srgbClr val="660033"/>
                </a:solidFill>
                <a:latin typeface="Arial" panose="020B0604020202020204" pitchFamily="34" charset="0"/>
                <a:cs typeface="Arial" panose="020B0604020202020204" pitchFamily="34" charset="0"/>
              </a:rPr>
              <a:t>REFERENCE</a:t>
            </a:r>
            <a:endParaRPr lang="en-US" sz="3200" b="1" dirty="0">
              <a:solidFill>
                <a:srgbClr val="660033"/>
              </a:solidFill>
              <a:latin typeface="Arial" panose="020B0604020202020204" pitchFamily="34" charset="0"/>
              <a:cs typeface="Arial" panose="020B0604020202020204" pitchFamily="34" charset="0"/>
            </a:endParaRPr>
          </a:p>
        </p:txBody>
      </p:sp>
      <p:sp>
        <p:nvSpPr>
          <p:cNvPr id="4" name="Date Placeholder 3"/>
          <p:cNvSpPr txBox="1"/>
          <p:nvPr/>
        </p:nvSpPr>
        <p:spPr>
          <a:xfrm>
            <a:off x="595184" y="6543654"/>
            <a:ext cx="1422400" cy="222204"/>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US" sz="1000" b="1" smtClean="0">
                <a:solidFill>
                  <a:srgbClr val="660033"/>
                </a:solidFill>
                <a:latin typeface="Arial" panose="020B0604020202020204" pitchFamily="34" charset="0"/>
                <a:cs typeface="Arial" panose="020B0604020202020204" pitchFamily="34" charset="0"/>
              </a:rPr>
              <a:t>7 February 2022</a:t>
            </a:r>
            <a:endParaRPr lang="en-US" sz="1000" b="1" dirty="0">
              <a:solidFill>
                <a:srgbClr val="660033"/>
              </a:solidFill>
              <a:latin typeface="Arial" panose="020B0604020202020204" pitchFamily="34" charset="0"/>
              <a:cs typeface="Arial" panose="020B0604020202020204" pitchFamily="34" charset="0"/>
            </a:endParaRPr>
          </a:p>
        </p:txBody>
      </p:sp>
      <p:sp>
        <p:nvSpPr>
          <p:cNvPr id="5" name="Slide Number Placeholder 3"/>
          <p:cNvSpPr txBox="1"/>
          <p:nvPr/>
        </p:nvSpPr>
        <p:spPr>
          <a:xfrm>
            <a:off x="11787715" y="6459494"/>
            <a:ext cx="438150" cy="3905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8327C5-B821-4FE9-A59A-A60D9EB59A9A}" type="slidenum">
              <a:rPr lang="en-US" sz="1000" b="1" smtClean="0">
                <a:solidFill>
                  <a:srgbClr val="660033"/>
                </a:solidFill>
                <a:latin typeface="Arial" panose="020B0604020202020204" pitchFamily="34" charset="0"/>
                <a:cs typeface="Arial" panose="020B0604020202020204" pitchFamily="34" charset="0"/>
              </a:rPr>
            </a:fld>
            <a:endParaRPr lang="en-US" sz="1000" b="1" dirty="0">
              <a:solidFill>
                <a:srgbClr val="660033"/>
              </a:solidFill>
              <a:latin typeface="Arial" panose="020B0604020202020204" pitchFamily="34" charset="0"/>
              <a:cs typeface="Arial" panose="020B0604020202020204" pitchFamily="34" charset="0"/>
            </a:endParaRPr>
          </a:p>
        </p:txBody>
      </p:sp>
      <p:sp>
        <p:nvSpPr>
          <p:cNvPr id="8" name="TextBox 4"/>
          <p:cNvSpPr txBox="1"/>
          <p:nvPr/>
        </p:nvSpPr>
        <p:spPr>
          <a:xfrm>
            <a:off x="5042622" y="6525344"/>
            <a:ext cx="2263761" cy="246221"/>
          </a:xfrm>
          <a:prstGeom prst="rect">
            <a:avLst/>
          </a:prstGeom>
          <a:noFill/>
        </p:spPr>
        <p:txBody>
          <a:bodyPr wrap="none" rtlCol="0">
            <a:spAutoFit/>
          </a:bodyPr>
          <a:p>
            <a:r>
              <a:rPr lang="en-US" sz="1000" b="1" dirty="0" smtClean="0">
                <a:solidFill>
                  <a:srgbClr val="660033"/>
                </a:solidFill>
                <a:latin typeface="Arial" panose="020B0604020202020204" pitchFamily="34" charset="0"/>
                <a:cs typeface="Arial" panose="020B0604020202020204" pitchFamily="34" charset="0"/>
              </a:rPr>
              <a:t>INT 300 Internship II : First Review</a:t>
            </a:r>
            <a:endParaRPr lang="en-US" sz="1000" b="1" dirty="0">
              <a:solidFill>
                <a:srgbClr val="660033"/>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254319" y="268600"/>
            <a:ext cx="3398687" cy="461665"/>
          </a:xfrm>
          <a:prstGeom prst="rect">
            <a:avLst/>
          </a:prstGeom>
          <a:noFill/>
        </p:spPr>
        <p:txBody>
          <a:bodyPr wrap="none" rtlCol="0">
            <a:spAutoFit/>
          </a:bodyPr>
          <a:lstStyle/>
          <a:p>
            <a:pPr algn="ctr"/>
            <a:r>
              <a:rPr lang="en-US" sz="2400" b="1" dirty="0" smtClean="0">
                <a:solidFill>
                  <a:srgbClr val="660033"/>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REVIEW DISCUSSION</a:t>
            </a:r>
            <a:endParaRPr lang="en-US" sz="2000" dirty="0">
              <a:solidFill>
                <a:srgbClr val="660033"/>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graphicFrame>
        <p:nvGraphicFramePr>
          <p:cNvPr id="7" name="Table 6"/>
          <p:cNvGraphicFramePr>
            <a:graphicFrameLocks noGrp="1"/>
          </p:cNvGraphicFramePr>
          <p:nvPr/>
        </p:nvGraphicFramePr>
        <p:xfrm>
          <a:off x="1889662" y="3140968"/>
          <a:ext cx="8128000" cy="2773680"/>
        </p:xfrm>
        <a:graphic>
          <a:graphicData uri="http://schemas.openxmlformats.org/drawingml/2006/table">
            <a:tbl>
              <a:tblPr firstRow="1" bandRow="1">
                <a:tableStyleId>{5C22544A-7EE6-4342-B048-85BDC9FD1C3A}</a:tableStyleId>
              </a:tblPr>
              <a:tblGrid>
                <a:gridCol w="4064000"/>
                <a:gridCol w="4064000"/>
              </a:tblGrid>
              <a:tr h="370840">
                <a:tc gridSpan="2">
                  <a:txBody>
                    <a:bodyPr/>
                    <a:lstStyle/>
                    <a:p>
                      <a:pPr algn="ctr"/>
                      <a:r>
                        <a:rPr lang="en-US" sz="2800" b="0" dirty="0" smtClean="0">
                          <a:solidFill>
                            <a:srgbClr val="660033"/>
                          </a:solidFill>
                          <a:latin typeface="Arial" panose="020B0604020202020204" pitchFamily="34" charset="0"/>
                          <a:cs typeface="Arial" panose="020B0604020202020204" pitchFamily="34" charset="0"/>
                        </a:rPr>
                        <a:t>Record</a:t>
                      </a:r>
                      <a:r>
                        <a:rPr lang="en-US" sz="2800" b="0" baseline="0" dirty="0" smtClean="0">
                          <a:solidFill>
                            <a:srgbClr val="660033"/>
                          </a:solidFill>
                          <a:latin typeface="Arial" panose="020B0604020202020204" pitchFamily="34" charset="0"/>
                          <a:cs typeface="Arial" panose="020B0604020202020204" pitchFamily="34" charset="0"/>
                        </a:rPr>
                        <a:t> of comments from Panel Members</a:t>
                      </a:r>
                      <a:endParaRPr lang="en-US" sz="2800" b="0" dirty="0">
                        <a:solidFill>
                          <a:srgbClr val="660033"/>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sz="4000" b="1" dirty="0" smtClean="0">
                          <a:solidFill>
                            <a:srgbClr val="660033"/>
                          </a:solidFill>
                          <a:latin typeface="Arial" panose="020B0604020202020204" pitchFamily="34" charset="0"/>
                          <a:cs typeface="Arial" panose="020B0604020202020204" pitchFamily="34" charset="0"/>
                          <a:sym typeface="Wingdings" panose="05000000000000000000"/>
                        </a:rPr>
                        <a:t></a:t>
                      </a:r>
                      <a:endParaRPr lang="en-US" sz="4000" b="1" dirty="0">
                        <a:solidFill>
                          <a:srgbClr val="660033"/>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4000" b="1" dirty="0" smtClean="0">
                          <a:solidFill>
                            <a:srgbClr val="660033"/>
                          </a:solidFill>
                          <a:latin typeface="Arial" panose="020B0604020202020204" pitchFamily="34" charset="0"/>
                          <a:cs typeface="Arial" panose="020B0604020202020204" pitchFamily="34" charset="0"/>
                          <a:sym typeface="Symbol" panose="05050102010706020507"/>
                        </a:rPr>
                        <a:t></a:t>
                      </a:r>
                      <a:endParaRPr lang="en-US" sz="4000" b="1" dirty="0">
                        <a:solidFill>
                          <a:srgbClr val="660033"/>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l"/>
                      <a:r>
                        <a:rPr lang="en-US" sz="2800" b="0" dirty="0" smtClean="0">
                          <a:solidFill>
                            <a:srgbClr val="660033"/>
                          </a:solidFill>
                          <a:latin typeface="Arial" panose="020B0604020202020204" pitchFamily="34" charset="0"/>
                          <a:cs typeface="Arial" panose="020B0604020202020204" pitchFamily="34" charset="0"/>
                        </a:rPr>
                        <a:t>1.</a:t>
                      </a:r>
                      <a:r>
                        <a:rPr lang="en-IN" altLang="en-US" sz="2800" b="0" dirty="0" smtClean="0">
                          <a:solidFill>
                            <a:srgbClr val="660033"/>
                          </a:solidFill>
                          <a:latin typeface="Arial" panose="020B0604020202020204" pitchFamily="34" charset="0"/>
                          <a:cs typeface="Arial" panose="020B0604020202020204" pitchFamily="34" charset="0"/>
                        </a:rPr>
                        <a:t> </a:t>
                      </a:r>
                      <a:endParaRPr lang="en-IN" altLang="en-US" sz="2800" b="0" dirty="0" smtClean="0">
                        <a:solidFill>
                          <a:srgbClr val="660033"/>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800" b="0" dirty="0" smtClean="0">
                          <a:solidFill>
                            <a:srgbClr val="660033"/>
                          </a:solidFill>
                          <a:latin typeface="Arial" panose="020B0604020202020204" pitchFamily="34" charset="0"/>
                          <a:cs typeface="Arial" panose="020B0604020202020204" pitchFamily="34" charset="0"/>
                        </a:rPr>
                        <a:t>1.</a:t>
                      </a:r>
                      <a:endParaRPr lang="en-US" sz="2800" b="0" dirty="0">
                        <a:solidFill>
                          <a:srgbClr val="660033"/>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l"/>
                      <a:r>
                        <a:rPr lang="en-US" sz="2800" b="0" dirty="0" smtClean="0">
                          <a:solidFill>
                            <a:srgbClr val="660033"/>
                          </a:solidFill>
                          <a:latin typeface="Arial" panose="020B0604020202020204" pitchFamily="34" charset="0"/>
                          <a:cs typeface="Arial" panose="020B0604020202020204" pitchFamily="34" charset="0"/>
                        </a:rPr>
                        <a:t>2.</a:t>
                      </a:r>
                      <a:endParaRPr lang="en-US" sz="2800" b="0" dirty="0">
                        <a:solidFill>
                          <a:srgbClr val="660033"/>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800" b="0" dirty="0" smtClean="0">
                          <a:solidFill>
                            <a:srgbClr val="660033"/>
                          </a:solidFill>
                          <a:latin typeface="Arial" panose="020B0604020202020204" pitchFamily="34" charset="0"/>
                          <a:cs typeface="Arial" panose="020B0604020202020204" pitchFamily="34" charset="0"/>
                        </a:rPr>
                        <a:t>2.</a:t>
                      </a:r>
                      <a:endParaRPr lang="en-US" sz="2800" b="0" dirty="0">
                        <a:solidFill>
                          <a:srgbClr val="660033"/>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l"/>
                      <a:r>
                        <a:rPr lang="en-US" sz="2800" b="0" dirty="0" smtClean="0">
                          <a:solidFill>
                            <a:srgbClr val="660033"/>
                          </a:solidFill>
                          <a:latin typeface="Arial" panose="020B0604020202020204" pitchFamily="34" charset="0"/>
                          <a:cs typeface="Arial" panose="020B0604020202020204" pitchFamily="34" charset="0"/>
                        </a:rPr>
                        <a:t>3.</a:t>
                      </a:r>
                      <a:endParaRPr lang="en-US" sz="2800" b="0" dirty="0">
                        <a:solidFill>
                          <a:srgbClr val="660033"/>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800" b="0" dirty="0" smtClean="0">
                          <a:solidFill>
                            <a:srgbClr val="660033"/>
                          </a:solidFill>
                          <a:latin typeface="Arial" panose="020B0604020202020204" pitchFamily="34" charset="0"/>
                          <a:cs typeface="Arial" panose="020B0604020202020204" pitchFamily="34" charset="0"/>
                        </a:rPr>
                        <a:t>3.</a:t>
                      </a:r>
                      <a:endParaRPr lang="en-US" sz="2800" b="0" dirty="0">
                        <a:solidFill>
                          <a:srgbClr val="660033"/>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0" name="Oval 9"/>
          <p:cNvSpPr/>
          <p:nvPr/>
        </p:nvSpPr>
        <p:spPr>
          <a:xfrm>
            <a:off x="5197578" y="1052736"/>
            <a:ext cx="1512168" cy="144016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i="1" dirty="0" smtClean="0">
                <a:solidFill>
                  <a:srgbClr val="660033"/>
                </a:solidFill>
                <a:latin typeface="Bookman Old Style" panose="02050604050505020204" pitchFamily="18" charset="0"/>
                <a:cs typeface="Arial" panose="020B0604020202020204" pitchFamily="34" charset="0"/>
              </a:rPr>
              <a:t>Q &amp; A</a:t>
            </a:r>
            <a:endParaRPr lang="en-US" sz="2000" b="1" i="1" dirty="0">
              <a:latin typeface="Bookman Old Style" panose="02050604050505020204" pitchFamily="18" charset="0"/>
            </a:endParaRPr>
          </a:p>
        </p:txBody>
      </p:sp>
      <p:sp>
        <p:nvSpPr>
          <p:cNvPr id="4" name="Slide Number Placeholder 3"/>
          <p:cNvSpPr txBox="1"/>
          <p:nvPr/>
        </p:nvSpPr>
        <p:spPr>
          <a:xfrm>
            <a:off x="11787715" y="6459494"/>
            <a:ext cx="438150" cy="3905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8327C5-B821-4FE9-A59A-A60D9EB59A9A}" type="slidenum">
              <a:rPr lang="en-US" sz="1000" b="1" smtClean="0">
                <a:solidFill>
                  <a:srgbClr val="660033"/>
                </a:solidFill>
                <a:latin typeface="Arial" panose="020B0604020202020204" pitchFamily="34" charset="0"/>
                <a:cs typeface="Arial" panose="020B0604020202020204" pitchFamily="34" charset="0"/>
              </a:rPr>
            </a:fld>
            <a:endParaRPr lang="en-US" sz="1000" b="1" dirty="0">
              <a:solidFill>
                <a:srgbClr val="660033"/>
              </a:solidFill>
              <a:latin typeface="Arial" panose="020B0604020202020204" pitchFamily="34" charset="0"/>
              <a:cs typeface="Arial" panose="020B0604020202020204" pitchFamily="34" charset="0"/>
            </a:endParaRPr>
          </a:p>
        </p:txBody>
      </p:sp>
      <p:sp>
        <p:nvSpPr>
          <p:cNvPr id="8" name="TextBox 4"/>
          <p:cNvSpPr txBox="1"/>
          <p:nvPr/>
        </p:nvSpPr>
        <p:spPr>
          <a:xfrm>
            <a:off x="5042622" y="6525344"/>
            <a:ext cx="2263761" cy="246221"/>
          </a:xfrm>
          <a:prstGeom prst="rect">
            <a:avLst/>
          </a:prstGeom>
          <a:noFill/>
        </p:spPr>
        <p:txBody>
          <a:bodyPr wrap="none" rtlCol="0">
            <a:spAutoFit/>
          </a:bodyPr>
          <a:p>
            <a:r>
              <a:rPr lang="en-US" sz="1000" b="1" dirty="0" smtClean="0">
                <a:solidFill>
                  <a:srgbClr val="660033"/>
                </a:solidFill>
                <a:latin typeface="Arial" panose="020B0604020202020204" pitchFamily="34" charset="0"/>
                <a:cs typeface="Arial" panose="020B0604020202020204" pitchFamily="34" charset="0"/>
              </a:rPr>
              <a:t>INT 300 Internship II : First Review</a:t>
            </a:r>
            <a:endParaRPr lang="en-US" sz="1000" b="1" dirty="0">
              <a:solidFill>
                <a:srgbClr val="660033"/>
              </a:solidFill>
              <a:latin typeface="Arial" panose="020B0604020202020204" pitchFamily="34" charset="0"/>
              <a:cs typeface="Arial" panose="020B0604020202020204" pitchFamily="34" charset="0"/>
            </a:endParaRPr>
          </a:p>
        </p:txBody>
      </p:sp>
      <p:sp>
        <p:nvSpPr>
          <p:cNvPr id="3" name="Date Placeholder 3"/>
          <p:cNvSpPr txBox="1"/>
          <p:nvPr/>
        </p:nvSpPr>
        <p:spPr>
          <a:xfrm>
            <a:off x="595184" y="6543654"/>
            <a:ext cx="1422400" cy="222204"/>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US" sz="1000" b="1" dirty="0">
                <a:solidFill>
                  <a:srgbClr val="660033"/>
                </a:solidFill>
                <a:latin typeface="Arial" panose="020B0604020202020204" pitchFamily="34" charset="0"/>
                <a:cs typeface="Arial" panose="020B0604020202020204" pitchFamily="34" charset="0"/>
              </a:rPr>
              <a:t>7 February 2022</a:t>
            </a:r>
            <a:endParaRPr lang="en-IN" altLang="en-US" sz="1000" b="1" dirty="0">
              <a:solidFill>
                <a:srgbClr val="660033"/>
              </a:solidFill>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Blank">
  <a:themeElements>
    <a:clrScheme name="Custom 2">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ADB9CA"/>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howeet theme">
  <a:themeElements>
    <a:clrScheme name="6">
      <a:dk1>
        <a:srgbClr val="95A5A6"/>
      </a:dk1>
      <a:lt1>
        <a:sysClr val="window" lastClr="FFFFFF"/>
      </a:lt1>
      <a:dk2>
        <a:srgbClr val="2C3E50"/>
      </a:dk2>
      <a:lt2>
        <a:srgbClr val="F2F2F2"/>
      </a:lt2>
      <a:accent1>
        <a:srgbClr val="2980B9"/>
      </a:accent1>
      <a:accent2>
        <a:srgbClr val="16A085"/>
      </a:accent2>
      <a:accent3>
        <a:srgbClr val="9BBB59"/>
      </a:accent3>
      <a:accent4>
        <a:srgbClr val="F39C12"/>
      </a:accent4>
      <a:accent5>
        <a:srgbClr val="C0392B"/>
      </a:accent5>
      <a:accent6>
        <a:srgbClr val="4B2C5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Showeet theme">
  <a:themeElements>
    <a:clrScheme name="6">
      <a:dk1>
        <a:srgbClr val="95A5A6"/>
      </a:dk1>
      <a:lt1>
        <a:sysClr val="window" lastClr="FFFFFF"/>
      </a:lt1>
      <a:dk2>
        <a:srgbClr val="2C3E50"/>
      </a:dk2>
      <a:lt2>
        <a:srgbClr val="F2F2F2"/>
      </a:lt2>
      <a:accent1>
        <a:srgbClr val="2980B9"/>
      </a:accent1>
      <a:accent2>
        <a:srgbClr val="16A085"/>
      </a:accent2>
      <a:accent3>
        <a:srgbClr val="9BBB59"/>
      </a:accent3>
      <a:accent4>
        <a:srgbClr val="F39C12"/>
      </a:accent4>
      <a:accent5>
        <a:srgbClr val="C0392B"/>
      </a:accent5>
      <a:accent6>
        <a:srgbClr val="4B2C5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ITL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5881</Words>
  <Application>WPS Presentation</Application>
  <PresentationFormat>Custom</PresentationFormat>
  <Paragraphs>259</Paragraphs>
  <Slides>11</Slides>
  <Notes>0</Notes>
  <HiddenSlides>0</HiddenSlides>
  <MMClips>0</MMClips>
  <ScaleCrop>false</ScaleCrop>
  <HeadingPairs>
    <vt:vector size="6" baseType="variant">
      <vt:variant>
        <vt:lpstr>已用的字体</vt:lpstr>
      </vt:variant>
      <vt:variant>
        <vt:i4>15</vt:i4>
      </vt:variant>
      <vt:variant>
        <vt:lpstr>主题</vt:lpstr>
      </vt:variant>
      <vt:variant>
        <vt:i4>4</vt:i4>
      </vt:variant>
      <vt:variant>
        <vt:lpstr>幻灯片标题</vt:lpstr>
      </vt:variant>
      <vt:variant>
        <vt:i4>11</vt:i4>
      </vt:variant>
    </vt:vector>
  </HeadingPairs>
  <TitlesOfParts>
    <vt:vector size="30" baseType="lpstr">
      <vt:lpstr>Arial</vt:lpstr>
      <vt:lpstr>SimSun</vt:lpstr>
      <vt:lpstr>Wingdings</vt:lpstr>
      <vt:lpstr>Calibri Light</vt:lpstr>
      <vt:lpstr>Open Sans</vt:lpstr>
      <vt:lpstr>Segoe Print</vt:lpstr>
      <vt:lpstr>GeosansLight</vt:lpstr>
      <vt:lpstr>Wingdings</vt:lpstr>
      <vt:lpstr>Bookman Old Style</vt:lpstr>
      <vt:lpstr>Times New Roman</vt:lpstr>
      <vt:lpstr>Wingdings</vt:lpstr>
      <vt:lpstr>Symbol</vt:lpstr>
      <vt:lpstr>Calibri</vt:lpstr>
      <vt:lpstr>Microsoft YaHei</vt:lpstr>
      <vt:lpstr>Arial Unicode MS</vt:lpstr>
      <vt:lpstr>Blank</vt:lpstr>
      <vt:lpstr>Showeet theme</vt:lpstr>
      <vt:lpstr>1_Showeet theme</vt:lpstr>
      <vt:lpstr>TITLES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 of Contents / Agenda Templates</dc:title>
  <dc:creator>showeet.com</dc:creator>
  <dc:description>© Copyright Showeet.com</dc:description>
  <cp:category>Charts &amp; Diagrams</cp:category>
  <cp:lastModifiedBy>S I Nivi</cp:lastModifiedBy>
  <cp:revision>597</cp:revision>
  <dcterms:created xsi:type="dcterms:W3CDTF">2011-05-09T14:18:00Z</dcterms:created>
  <dcterms:modified xsi:type="dcterms:W3CDTF">2022-02-07T05:00:40Z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AE831D3B6D524D3A8A8688144DB98E76</vt:lpwstr>
  </property>
  <property fmtid="{D5CDD505-2E9C-101B-9397-08002B2CF9AE}" pid="3" name="KSOProductBuildVer">
    <vt:lpwstr>1033-11.2.0.10311</vt:lpwstr>
  </property>
</Properties>
</file>